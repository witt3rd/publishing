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agenda, statement, diagram, cards, story, mapping table, contrast, two columns, section, quote and closing. The tool shed is made up, and so is every number in it.</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a grid of numbered cards, one per part, each with a heading and a line of words. Say the order the deck will follow; it is invented, like everything in this example.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jobs in a grid of two rows. The registrar writes ledger lines. The checker decides what is fit to hang. The host opens the shed. The mender fixes what the checker sets aside, and the stocker fills the gaps. The last card is grey: a place for helpers who have not taken a job yet.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heat-map shades each cell by its value and outlines the best one in its row. The figures are invented; read across a row to see the habit settle in.</a:t>
            </a:r>
          </a:p>
          <a:p/>
          <a:p>
            <a:r>
              <a:t>Source: Invented example; the figures are made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028825"/>
            <a:ext cx="9810750" cy="514350"/>
          </a:xfrm>
        </p:spPr>
        <p:txBody>
          <a:bodyPr wrap="square" lIns="0" rIns="0" tIns="0" bIns="0" anchor="t">
            <a:noAutofit/>
          </a:bodyPr>
          <a:lstStyle/>
          <a:p>
            <a:pPr algn="l">
              <a:lnSpc>
                <a:spcPts val="4050"/>
              </a:lnSpc>
              <a:spcBef>
                <a:spcPts val="0"/>
              </a:spcBef>
              <a:spcAft>
                <a:spcPts val="0"/>
              </a:spcAft>
            </a:pPr>
            <a:r>
              <a:rPr sz="3750" b="1" i="0" spc="-75">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2797175"/>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12422"/>
            <a:ext cx="1680908" cy="294056"/>
          </a:xfrm>
          <a:prstGeom prst="rect">
            <a:avLst/>
          </a:prstGeom>
          <a:noFill/>
        </p:spPr>
        <p:txBody>
          <a:bodyPr wrap="square" lIns="0" rIns="0" tIns="0" bIns="0" anchor="t">
            <a:noAutofit/>
          </a:bodyPr>
          <a:lstStyle/>
          <a:p>
            <a:pPr algn="l">
              <a:lnSpc>
                <a:spcPts val="2315"/>
              </a:lnSpc>
              <a:spcBef>
                <a:spcPts val="0"/>
              </a:spcBef>
              <a:spcAft>
                <a:spcPts val="0"/>
              </a:spcAft>
            </a:pPr>
            <a:r>
              <a:rPr sz="17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8F93AD"/>
                </a:solidFill>
                <a:latin typeface="Noto Sans"/>
              </a:rPr>
              <a:t>Source:</a:t>
            </a:r>
            <a:r>
              <a:rPr sz="850" b="0" i="0">
                <a:solidFill>
                  <a:srgbClr val="8F93AD"/>
                </a:solidFill>
                <a:latin typeface="Noto Sans"/>
              </a:rPr>
              <a:t> Invented example; no real shed</a:t>
            </a:r>
          </a:p>
        </p:txBody>
      </p:sp>
      <p:sp>
        <p:nvSpPr>
          <p:cNvPr id="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borrowing a drill to running the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NINE PARTS</a:t>
            </a:r>
          </a:p>
        </p:txBody>
      </p:sp>
      <p:sp>
        <p:nvSpPr>
          <p:cNvPr id="4" name="Box"/>
          <p:cNvSpPr/>
          <p:nvPr/>
        </p:nvSpPr>
        <p:spPr>
          <a:xfrm>
            <a:off x="762000"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39800"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1</a:t>
            </a:r>
          </a:p>
        </p:txBody>
      </p:sp>
      <p:sp>
        <p:nvSpPr>
          <p:cNvPr id="6" name="Text"/>
          <p:cNvSpPr txBox="1"/>
          <p:nvPr/>
        </p:nvSpPr>
        <p:spPr>
          <a:xfrm>
            <a:off x="939800"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idea</a:t>
            </a:r>
          </a:p>
        </p:txBody>
      </p:sp>
      <p:sp>
        <p:nvSpPr>
          <p:cNvPr id="7" name="Text"/>
          <p:cNvSpPr txBox="1"/>
          <p:nvPr/>
        </p:nvSpPr>
        <p:spPr>
          <a:xfrm>
            <a:off x="939800"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shed lends tools and expects them back.</a:t>
            </a:r>
          </a:p>
        </p:txBody>
      </p:sp>
      <p:sp>
        <p:nvSpPr>
          <p:cNvPr id="8" name="Box"/>
          <p:cNvSpPr/>
          <p:nvPr/>
        </p:nvSpPr>
        <p:spPr>
          <a:xfrm>
            <a:off x="4364534"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42334"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2</a:t>
            </a:r>
          </a:p>
        </p:txBody>
      </p:sp>
      <p:sp>
        <p:nvSpPr>
          <p:cNvPr id="10" name="Text"/>
          <p:cNvSpPr txBox="1"/>
          <p:nvPr/>
        </p:nvSpPr>
        <p:spPr>
          <a:xfrm>
            <a:off x="4542334"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loop</a:t>
            </a:r>
          </a:p>
        </p:txBody>
      </p:sp>
      <p:sp>
        <p:nvSpPr>
          <p:cNvPr id="11" name="Text"/>
          <p:cNvSpPr txBox="1"/>
          <p:nvPr/>
        </p:nvSpPr>
        <p:spPr>
          <a:xfrm>
            <a:off x="4542334"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Out on Saturday, back by Friday.</a:t>
            </a:r>
          </a:p>
        </p:txBody>
      </p:sp>
      <p:sp>
        <p:nvSpPr>
          <p:cNvPr id="12" name="Box"/>
          <p:cNvSpPr/>
          <p:nvPr/>
        </p:nvSpPr>
        <p:spPr>
          <a:xfrm>
            <a:off x="7967067"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3" name="Text"/>
          <p:cNvSpPr txBox="1"/>
          <p:nvPr/>
        </p:nvSpPr>
        <p:spPr>
          <a:xfrm>
            <a:off x="8144867"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3</a:t>
            </a:r>
          </a:p>
        </p:txBody>
      </p:sp>
      <p:sp>
        <p:nvSpPr>
          <p:cNvPr id="14" name="Text"/>
          <p:cNvSpPr txBox="1"/>
          <p:nvPr/>
        </p:nvSpPr>
        <p:spPr>
          <a:xfrm>
            <a:off x="8144867"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jobs</a:t>
            </a:r>
          </a:p>
        </p:txBody>
      </p:sp>
      <p:sp>
        <p:nvSpPr>
          <p:cNvPr id="15" name="Text"/>
          <p:cNvSpPr txBox="1"/>
          <p:nvPr/>
        </p:nvSpPr>
        <p:spPr>
          <a:xfrm>
            <a:off x="8144867"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Registrar, checker and host.</a:t>
            </a:r>
          </a:p>
        </p:txBody>
      </p:sp>
      <p:sp>
        <p:nvSpPr>
          <p:cNvPr id="16" name="Box"/>
          <p:cNvSpPr/>
          <p:nvPr/>
        </p:nvSpPr>
        <p:spPr>
          <a:xfrm>
            <a:off x="762000"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7" name="Text"/>
          <p:cNvSpPr txBox="1"/>
          <p:nvPr/>
        </p:nvSpPr>
        <p:spPr>
          <a:xfrm>
            <a:off x="939800"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4</a:t>
            </a:r>
          </a:p>
        </p:txBody>
      </p:sp>
      <p:sp>
        <p:nvSpPr>
          <p:cNvPr id="18" name="Text"/>
          <p:cNvSpPr txBox="1"/>
          <p:nvPr/>
        </p:nvSpPr>
        <p:spPr>
          <a:xfrm>
            <a:off x="939800"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A lesson</a:t>
            </a:r>
          </a:p>
        </p:txBody>
      </p:sp>
      <p:sp>
        <p:nvSpPr>
          <p:cNvPr id="19" name="Text"/>
          <p:cNvSpPr txBox="1"/>
          <p:nvPr/>
        </p:nvSpPr>
        <p:spPr>
          <a:xfrm>
            <a:off x="939800"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One loose handle, one new rule.</a:t>
            </a:r>
          </a:p>
        </p:txBody>
      </p:sp>
      <p:sp>
        <p:nvSpPr>
          <p:cNvPr id="20" name="Box"/>
          <p:cNvSpPr/>
          <p:nvPr/>
        </p:nvSpPr>
        <p:spPr>
          <a:xfrm>
            <a:off x="4364534"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1" name="Text"/>
          <p:cNvSpPr txBox="1"/>
          <p:nvPr/>
        </p:nvSpPr>
        <p:spPr>
          <a:xfrm>
            <a:off x="4542334"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5</a:t>
            </a:r>
          </a:p>
        </p:txBody>
      </p:sp>
      <p:sp>
        <p:nvSpPr>
          <p:cNvPr id="22" name="Text"/>
          <p:cNvSpPr txBox="1"/>
          <p:nvPr/>
        </p:nvSpPr>
        <p:spPr>
          <a:xfrm>
            <a:off x="4542334"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mapping</a:t>
            </a:r>
          </a:p>
        </p:txBody>
      </p:sp>
      <p:sp>
        <p:nvSpPr>
          <p:cNvPr id="23" name="Text"/>
          <p:cNvSpPr txBox="1"/>
          <p:nvPr/>
        </p:nvSpPr>
        <p:spPr>
          <a:xfrm>
            <a:off x="4542334"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What a tool shed borrows from a library.</a:t>
            </a:r>
          </a:p>
        </p:txBody>
      </p:sp>
      <p:sp>
        <p:nvSpPr>
          <p:cNvPr id="24" name="Box"/>
          <p:cNvSpPr/>
          <p:nvPr/>
        </p:nvSpPr>
        <p:spPr>
          <a:xfrm>
            <a:off x="7967067"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5" name="Text"/>
          <p:cNvSpPr txBox="1"/>
          <p:nvPr/>
        </p:nvSpPr>
        <p:spPr>
          <a:xfrm>
            <a:off x="8144867"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6</a:t>
            </a:r>
          </a:p>
        </p:txBody>
      </p:sp>
      <p:sp>
        <p:nvSpPr>
          <p:cNvPr id="26" name="Text"/>
          <p:cNvSpPr txBox="1"/>
          <p:nvPr/>
        </p:nvSpPr>
        <p:spPr>
          <a:xfrm>
            <a:off x="8144867"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Before and after</a:t>
            </a:r>
          </a:p>
        </p:txBody>
      </p:sp>
      <p:sp>
        <p:nvSpPr>
          <p:cNvPr id="27" name="Text"/>
          <p:cNvSpPr txBox="1"/>
          <p:nvPr/>
        </p:nvSpPr>
        <p:spPr>
          <a:xfrm>
            <a:off x="8144867"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From a garage to a shed.</a:t>
            </a:r>
          </a:p>
        </p:txBody>
      </p:sp>
      <p:sp>
        <p:nvSpPr>
          <p:cNvPr id="28" name="Box"/>
          <p:cNvSpPr/>
          <p:nvPr/>
        </p:nvSpPr>
        <p:spPr>
          <a:xfrm>
            <a:off x="762000"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9" name="Text"/>
          <p:cNvSpPr txBox="1"/>
          <p:nvPr/>
        </p:nvSpPr>
        <p:spPr>
          <a:xfrm>
            <a:off x="939800"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7</a:t>
            </a:r>
          </a:p>
        </p:txBody>
      </p:sp>
      <p:sp>
        <p:nvSpPr>
          <p:cNvPr id="30" name="Text"/>
          <p:cNvSpPr txBox="1"/>
          <p:nvPr/>
        </p:nvSpPr>
        <p:spPr>
          <a:xfrm>
            <a:off x="939800"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What works</a:t>
            </a:r>
          </a:p>
        </p:txBody>
      </p:sp>
      <p:sp>
        <p:nvSpPr>
          <p:cNvPr id="31" name="Text"/>
          <p:cNvSpPr txBox="1"/>
          <p:nvPr/>
        </p:nvSpPr>
        <p:spPr>
          <a:xfrm>
            <a:off x="939800"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Few rules, labelled hooks.</a:t>
            </a:r>
          </a:p>
        </p:txBody>
      </p:sp>
      <p:sp>
        <p:nvSpPr>
          <p:cNvPr id="32" name="Box"/>
          <p:cNvSpPr/>
          <p:nvPr/>
        </p:nvSpPr>
        <p:spPr>
          <a:xfrm>
            <a:off x="4364534"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3" name="Text"/>
          <p:cNvSpPr txBox="1"/>
          <p:nvPr/>
        </p:nvSpPr>
        <p:spPr>
          <a:xfrm>
            <a:off x="4542334"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8</a:t>
            </a:r>
          </a:p>
        </p:txBody>
      </p:sp>
      <p:sp>
        <p:nvSpPr>
          <p:cNvPr id="34" name="Text"/>
          <p:cNvSpPr txBox="1"/>
          <p:nvPr/>
        </p:nvSpPr>
        <p:spPr>
          <a:xfrm>
            <a:off x="4542334"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Starting out</a:t>
            </a:r>
          </a:p>
        </p:txBody>
      </p:sp>
      <p:sp>
        <p:nvSpPr>
          <p:cNvPr id="35" name="Text"/>
          <p:cNvSpPr txBox="1"/>
          <p:nvPr/>
        </p:nvSpPr>
        <p:spPr>
          <a:xfrm>
            <a:off x="4542334"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Three weeks from an empty garage.</a:t>
            </a:r>
          </a:p>
        </p:txBody>
      </p:sp>
      <p:sp>
        <p:nvSpPr>
          <p:cNvPr id="36" name="Box"/>
          <p:cNvSpPr/>
          <p:nvPr/>
        </p:nvSpPr>
        <p:spPr>
          <a:xfrm>
            <a:off x="7967067"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7" name="Text"/>
          <p:cNvSpPr txBox="1"/>
          <p:nvPr/>
        </p:nvSpPr>
        <p:spPr>
          <a:xfrm>
            <a:off x="8144867"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9</a:t>
            </a:r>
          </a:p>
        </p:txBody>
      </p:sp>
      <p:sp>
        <p:nvSpPr>
          <p:cNvPr id="38" name="Text"/>
          <p:cNvSpPr txBox="1"/>
          <p:nvPr/>
        </p:nvSpPr>
        <p:spPr>
          <a:xfrm>
            <a:off x="8144867"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numbers</a:t>
            </a:r>
          </a:p>
        </p:txBody>
      </p:sp>
      <p:sp>
        <p:nvSpPr>
          <p:cNvPr id="39" name="Text"/>
          <p:cNvSpPr txBox="1"/>
          <p:nvPr/>
        </p:nvSpPr>
        <p:spPr>
          <a:xfrm>
            <a:off x="8144867"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first year, in three figures.</a:t>
            </a:r>
          </a:p>
        </p:txBody>
      </p:sp>
      <p:sp>
        <p:nvSpPr>
          <p:cNvPr id="4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4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4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Four ideas carry the whole deck.</a:t>
            </a:r>
          </a:p>
        </p:txBody>
      </p:sp>
      <p:sp>
        <p:nvSpPr>
          <p:cNvPr id="5" name="Box"/>
          <p:cNvSpPr/>
          <p:nvPr/>
        </p:nvSpPr>
        <p:spPr>
          <a:xfrm>
            <a:off x="787400" y="2203450"/>
            <a:ext cx="101600" cy="101600"/>
          </a:xfrm>
          <a:prstGeom prst="roundRect">
            <a:avLst>
              <a:gd name="adj" fmla="val 25000"/>
            </a:avLst>
          </a:prstGeom>
          <a:solidFill>
            <a:srgbClr val="5B4BD6"/>
          </a:solidFill>
          <a:ln>
            <a:noFill/>
          </a:ln>
          <a:effectLst/>
        </p:spPr>
        <p:txBody>
          <a:bodyPr rtlCol="0" anchor="ctr"/>
          <a:lstStyle/>
          <a:p>
            <a:pPr algn="ctr"/>
          </a:p>
        </p:txBody>
      </p:sp>
      <p:sp>
        <p:nvSpPr>
          <p:cNvPr id="6" name="Text"/>
          <p:cNvSpPr txBox="1"/>
          <p:nvPr/>
        </p:nvSpPr>
        <p:spPr>
          <a:xfrm>
            <a:off x="1054100" y="20913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7" name="Box"/>
          <p:cNvSpPr/>
          <p:nvPr/>
        </p:nvSpPr>
        <p:spPr>
          <a:xfrm>
            <a:off x="787400" y="2694285"/>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054100" y="25822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9" name="Box"/>
          <p:cNvSpPr/>
          <p:nvPr/>
        </p:nvSpPr>
        <p:spPr>
          <a:xfrm>
            <a:off x="787400" y="3185120"/>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054100" y="30730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1" name="Box"/>
          <p:cNvSpPr/>
          <p:nvPr/>
        </p:nvSpPr>
        <p:spPr>
          <a:xfrm>
            <a:off x="787400" y="3675955"/>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054100" y="35638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3" name="Box"/>
          <p:cNvSpPr/>
          <p:nvPr/>
        </p:nvSpPr>
        <p:spPr>
          <a:xfrm>
            <a:off x="787400" y="4166791"/>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054100" y="40547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5"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6"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508000" y="1587500"/>
            <a:ext cx="11176000" cy="3276600"/>
          </a:xfrm>
          <a:prstGeom prst="rect">
            <a:avLst/>
          </a:prstGeom>
        </p:spPr>
      </p:pic>
      <p:sp>
        <p:nvSpPr>
          <p:cNvPr id="5" name="Text"/>
          <p:cNvSpPr txBox="1"/>
          <p:nvPr/>
        </p:nvSpPr>
        <p:spPr>
          <a:xfrm>
            <a:off x="1631950" y="356235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670050" y="386715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289425" y="356235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254500" y="386715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969125" y="356235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435725" y="386715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512300" y="356235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232900" y="386715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752975" y="259080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5054600"/>
            <a:ext cx="10668000" cy="279400"/>
          </a:xfrm>
          <a:prstGeom prst="roundRect">
            <a:avLst>
              <a:gd name="adj" fmla="val 27272"/>
            </a:avLst>
          </a:prstGeom>
          <a:solidFill>
            <a:srgbClr val="ECE9FB"/>
          </a:solidFill>
          <a:ln>
            <a:noFill/>
          </a:ln>
          <a:effectLst/>
        </p:spPr>
        <p:txBody>
          <a:bodyPr rtlCol="0" anchor="ctr"/>
          <a:lstStyle/>
          <a:p>
            <a:pPr algn="ctr"/>
          </a:p>
        </p:txBody>
      </p:sp>
      <p:sp>
        <p:nvSpPr>
          <p:cNvPr id="15" name="Text"/>
          <p:cNvSpPr txBox="1"/>
          <p:nvPr/>
        </p:nvSpPr>
        <p:spPr>
          <a:xfrm>
            <a:off x="914400" y="5054600"/>
            <a:ext cx="10363200" cy="279400"/>
          </a:xfrm>
          <a:prstGeom prst="rect">
            <a:avLst/>
          </a:prstGeom>
          <a:noFill/>
        </p:spPr>
        <p:txBody>
          <a:bodyPr wrap="none" lIns="0" rIns="0" tIns="0" bIns="0" anchor="t">
            <a:noAutofit/>
          </a:bodyPr>
          <a:lstStyle/>
          <a:p>
            <a:pPr algn="l">
              <a:lnSpc>
                <a:spcPts val="2200"/>
              </a:lnSpc>
              <a:spcBef>
                <a:spcPts val="0"/>
              </a:spcBef>
              <a:spcAft>
                <a:spcPts val="0"/>
              </a:spcAft>
            </a:pPr>
            <a:r>
              <a:rPr sz="1400" b="1" i="0">
                <a:solidFill>
                  <a:srgbClr val="5B4BD6"/>
                </a:solidFill>
                <a:latin typeface="Noto Sans"/>
              </a:rPr>
              <a:t>Return: hang it back clean, and write the date in the ledger.</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680541"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IN SHORT</a:t>
            </a:r>
          </a:p>
        </p:txBody>
      </p:sp>
      <p:sp>
        <p:nvSpPr>
          <p:cNvPr id="18" name="Text"/>
          <p:cNvSpPr txBox="1"/>
          <p:nvPr/>
        </p:nvSpPr>
        <p:spPr>
          <a:xfrm>
            <a:off x="1848941" y="5648770"/>
            <a:ext cx="5906072"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A tool that comes back clean is why the hooks never stay empty.</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Six jobs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SIX JOBS</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Each job is small and has one test.</a:t>
            </a:r>
          </a:p>
        </p:txBody>
      </p:sp>
      <p:sp>
        <p:nvSpPr>
          <p:cNvPr id="5" name="Box"/>
          <p:cNvSpPr/>
          <p:nvPr/>
        </p:nvSpPr>
        <p:spPr>
          <a:xfrm>
            <a:off x="762000" y="2159000"/>
            <a:ext cx="3437434" cy="2126952"/>
          </a:xfrm>
          <a:prstGeom prst="roundRect">
            <a:avLst>
              <a:gd name="adj" fmla="val 4776"/>
            </a:avLst>
          </a:prstGeom>
          <a:solidFill>
            <a:srgbClr val="5B4BD6"/>
          </a:solidFill>
          <a:ln>
            <a:noFill/>
          </a:ln>
          <a:effectLst/>
        </p:spPr>
        <p:txBody>
          <a:bodyPr rtlCol="0" anchor="ctr"/>
          <a:lstStyle/>
          <a:p>
            <a:pPr algn="ctr"/>
          </a:p>
        </p:txBody>
      </p:sp>
      <p:sp>
        <p:nvSpPr>
          <p:cNvPr id="6" name="Box"/>
          <p:cNvSpPr/>
          <p:nvPr/>
        </p:nvSpPr>
        <p:spPr>
          <a:xfrm>
            <a:off x="762000" y="2222500"/>
            <a:ext cx="3437434" cy="2063452"/>
          </a:xfrm>
          <a:prstGeom prst="roundRect">
            <a:avLst>
              <a:gd name="adj" fmla="val 1846"/>
            </a:avLst>
          </a:prstGeom>
          <a:solidFill>
            <a:srgbClr val="FFFFFF"/>
          </a:solidFill>
          <a:ln>
            <a:noFill/>
          </a:ln>
          <a:effectLst/>
        </p:spPr>
        <p:txBody>
          <a:bodyPr rtlCol="0" anchor="ctr"/>
          <a:lstStyle/>
          <a:p>
            <a:pPr algn="ctr"/>
          </a:p>
        </p:txBody>
      </p:sp>
      <p:sp>
        <p:nvSpPr>
          <p:cNvPr id="7" name="Text"/>
          <p:cNvSpPr txBox="1"/>
          <p:nvPr/>
        </p:nvSpPr>
        <p:spPr>
          <a:xfrm>
            <a:off x="965200" y="2412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8" name="Text"/>
          <p:cNvSpPr txBox="1"/>
          <p:nvPr/>
        </p:nvSpPr>
        <p:spPr>
          <a:xfrm>
            <a:off x="965200" y="2780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9" name="Box"/>
          <p:cNvSpPr/>
          <p:nvPr/>
        </p:nvSpPr>
        <p:spPr>
          <a:xfrm>
            <a:off x="4377234" y="2159000"/>
            <a:ext cx="3437434" cy="2126952"/>
          </a:xfrm>
          <a:prstGeom prst="roundRect">
            <a:avLst>
              <a:gd name="adj" fmla="val 4776"/>
            </a:avLst>
          </a:prstGeom>
          <a:solidFill>
            <a:srgbClr val="3F9FA6"/>
          </a:solidFill>
          <a:ln>
            <a:noFill/>
          </a:ln>
          <a:effectLst/>
        </p:spPr>
        <p:txBody>
          <a:bodyPr rtlCol="0" anchor="ctr"/>
          <a:lstStyle/>
          <a:p>
            <a:pPr algn="ctr"/>
          </a:p>
        </p:txBody>
      </p:sp>
      <p:sp>
        <p:nvSpPr>
          <p:cNvPr id="10" name="Box"/>
          <p:cNvSpPr/>
          <p:nvPr/>
        </p:nvSpPr>
        <p:spPr>
          <a:xfrm>
            <a:off x="4377234" y="2222500"/>
            <a:ext cx="3437434" cy="2063452"/>
          </a:xfrm>
          <a:prstGeom prst="roundRect">
            <a:avLst>
              <a:gd name="adj" fmla="val 1846"/>
            </a:avLst>
          </a:prstGeom>
          <a:solidFill>
            <a:srgbClr val="FFFFFF"/>
          </a:solidFill>
          <a:ln>
            <a:noFill/>
          </a:ln>
          <a:effectLst/>
        </p:spPr>
        <p:txBody>
          <a:bodyPr rtlCol="0" anchor="ctr"/>
          <a:lstStyle/>
          <a:p>
            <a:pPr algn="ctr"/>
          </a:p>
        </p:txBody>
      </p:sp>
      <p:sp>
        <p:nvSpPr>
          <p:cNvPr id="11" name="Text"/>
          <p:cNvSpPr txBox="1"/>
          <p:nvPr/>
        </p:nvSpPr>
        <p:spPr>
          <a:xfrm>
            <a:off x="4580434" y="2412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2" name="Text"/>
          <p:cNvSpPr txBox="1"/>
          <p:nvPr/>
        </p:nvSpPr>
        <p:spPr>
          <a:xfrm>
            <a:off x="4580434" y="2780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3" name="Box"/>
          <p:cNvSpPr/>
          <p:nvPr/>
        </p:nvSpPr>
        <p:spPr>
          <a:xfrm>
            <a:off x="7992467" y="2159000"/>
            <a:ext cx="3437434" cy="2126952"/>
          </a:xfrm>
          <a:prstGeom prst="roundRect">
            <a:avLst>
              <a:gd name="adj" fmla="val 4776"/>
            </a:avLst>
          </a:prstGeom>
          <a:solidFill>
            <a:srgbClr val="2E9E6B"/>
          </a:solidFill>
          <a:ln>
            <a:noFill/>
          </a:ln>
          <a:effectLst/>
        </p:spPr>
        <p:txBody>
          <a:bodyPr rtlCol="0" anchor="ctr"/>
          <a:lstStyle/>
          <a:p>
            <a:pPr algn="ctr"/>
          </a:p>
        </p:txBody>
      </p:sp>
      <p:sp>
        <p:nvSpPr>
          <p:cNvPr id="14" name="Box"/>
          <p:cNvSpPr/>
          <p:nvPr/>
        </p:nvSpPr>
        <p:spPr>
          <a:xfrm>
            <a:off x="7992467" y="2222500"/>
            <a:ext cx="3437434" cy="2063452"/>
          </a:xfrm>
          <a:prstGeom prst="roundRect">
            <a:avLst>
              <a:gd name="adj" fmla="val 1846"/>
            </a:avLst>
          </a:prstGeom>
          <a:solidFill>
            <a:srgbClr val="FFFFFF"/>
          </a:solidFill>
          <a:ln>
            <a:noFill/>
          </a:ln>
          <a:effectLst/>
        </p:spPr>
        <p:txBody>
          <a:bodyPr rtlCol="0" anchor="ctr"/>
          <a:lstStyle/>
          <a:p>
            <a:pPr algn="ctr"/>
          </a:p>
        </p:txBody>
      </p:sp>
      <p:sp>
        <p:nvSpPr>
          <p:cNvPr id="15" name="Text"/>
          <p:cNvSpPr txBox="1"/>
          <p:nvPr/>
        </p:nvSpPr>
        <p:spPr>
          <a:xfrm>
            <a:off x="8195667" y="2412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6" name="Text"/>
          <p:cNvSpPr txBox="1"/>
          <p:nvPr/>
        </p:nvSpPr>
        <p:spPr>
          <a:xfrm>
            <a:off x="8195667" y="2780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7" name="Box"/>
          <p:cNvSpPr/>
          <p:nvPr/>
        </p:nvSpPr>
        <p:spPr>
          <a:xfrm>
            <a:off x="762000" y="4463752"/>
            <a:ext cx="3437434" cy="1601291"/>
          </a:xfrm>
          <a:prstGeom prst="roundRect">
            <a:avLst>
              <a:gd name="adj" fmla="val 6344"/>
            </a:avLst>
          </a:prstGeom>
          <a:solidFill>
            <a:srgbClr val="1D2433"/>
          </a:solidFill>
          <a:ln>
            <a:noFill/>
          </a:ln>
          <a:effectLst/>
        </p:spPr>
        <p:txBody>
          <a:bodyPr rtlCol="0" anchor="ctr"/>
          <a:lstStyle/>
          <a:p>
            <a:pPr algn="ctr"/>
          </a:p>
        </p:txBody>
      </p:sp>
      <p:sp>
        <p:nvSpPr>
          <p:cNvPr id="18" name="Box"/>
          <p:cNvSpPr/>
          <p:nvPr/>
        </p:nvSpPr>
        <p:spPr>
          <a:xfrm>
            <a:off x="762000" y="4527252"/>
            <a:ext cx="3437434" cy="1537791"/>
          </a:xfrm>
          <a:prstGeom prst="roundRect">
            <a:avLst>
              <a:gd name="adj" fmla="val 2477"/>
            </a:avLst>
          </a:prstGeom>
          <a:solidFill>
            <a:srgbClr val="FFFFFF"/>
          </a:solidFill>
          <a:ln>
            <a:noFill/>
          </a:ln>
          <a:effectLst/>
        </p:spPr>
        <p:txBody>
          <a:bodyPr rtlCol="0" anchor="ctr"/>
          <a:lstStyle/>
          <a:p>
            <a:pPr algn="ctr"/>
          </a:p>
        </p:txBody>
      </p:sp>
      <p:sp>
        <p:nvSpPr>
          <p:cNvPr id="19" name="Text"/>
          <p:cNvSpPr txBox="1"/>
          <p:nvPr/>
        </p:nvSpPr>
        <p:spPr>
          <a:xfrm>
            <a:off x="965200" y="4716774"/>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1D2433"/>
                </a:solidFill>
                <a:latin typeface="Noto Sans"/>
              </a:rPr>
              <a:t>The mender</a:t>
            </a:r>
          </a:p>
        </p:txBody>
      </p:sp>
      <p:sp>
        <p:nvSpPr>
          <p:cNvPr id="20" name="Text"/>
          <p:cNvSpPr txBox="1"/>
          <p:nvPr/>
        </p:nvSpPr>
        <p:spPr>
          <a:xfrm>
            <a:off x="965200" y="5084782"/>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Sharpens, oils and fixes at the repair bench, and signs the ledger line when a tool is fit.</a:t>
            </a:r>
          </a:p>
        </p:txBody>
      </p:sp>
      <p:sp>
        <p:nvSpPr>
          <p:cNvPr id="21" name="Box"/>
          <p:cNvSpPr/>
          <p:nvPr/>
        </p:nvSpPr>
        <p:spPr>
          <a:xfrm>
            <a:off x="4377234" y="4463752"/>
            <a:ext cx="3437434" cy="1601291"/>
          </a:xfrm>
          <a:prstGeom prst="roundRect">
            <a:avLst>
              <a:gd name="adj" fmla="val 6344"/>
            </a:avLst>
          </a:prstGeom>
          <a:solidFill>
            <a:srgbClr val="E3A33B"/>
          </a:solidFill>
          <a:ln>
            <a:noFill/>
          </a:ln>
          <a:effectLst/>
        </p:spPr>
        <p:txBody>
          <a:bodyPr rtlCol="0" anchor="ctr"/>
          <a:lstStyle/>
          <a:p>
            <a:pPr algn="ctr"/>
          </a:p>
        </p:txBody>
      </p:sp>
      <p:sp>
        <p:nvSpPr>
          <p:cNvPr id="22" name="Box"/>
          <p:cNvSpPr/>
          <p:nvPr/>
        </p:nvSpPr>
        <p:spPr>
          <a:xfrm>
            <a:off x="4377234" y="4527252"/>
            <a:ext cx="3437434" cy="1537791"/>
          </a:xfrm>
          <a:prstGeom prst="roundRect">
            <a:avLst>
              <a:gd name="adj" fmla="val 2477"/>
            </a:avLst>
          </a:prstGeom>
          <a:solidFill>
            <a:srgbClr val="FFFFFF"/>
          </a:solidFill>
          <a:ln>
            <a:noFill/>
          </a:ln>
          <a:effectLst/>
        </p:spPr>
        <p:txBody>
          <a:bodyPr rtlCol="0" anchor="ctr"/>
          <a:lstStyle/>
          <a:p>
            <a:pPr algn="ctr"/>
          </a:p>
        </p:txBody>
      </p:sp>
      <p:sp>
        <p:nvSpPr>
          <p:cNvPr id="23" name="Text"/>
          <p:cNvSpPr txBox="1"/>
          <p:nvPr/>
        </p:nvSpPr>
        <p:spPr>
          <a:xfrm>
            <a:off x="4580434" y="4716774"/>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E3A33B"/>
                </a:solidFill>
                <a:latin typeface="Noto Sans"/>
              </a:rPr>
              <a:t>The stocker</a:t>
            </a:r>
          </a:p>
        </p:txBody>
      </p:sp>
      <p:sp>
        <p:nvSpPr>
          <p:cNvPr id="24" name="Text"/>
          <p:cNvSpPr txBox="1"/>
          <p:nvPr/>
        </p:nvSpPr>
        <p:spPr>
          <a:xfrm>
            <a:off x="4580434" y="5084782"/>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Watches the gaps on the hooks and asks neighbours for the tools the shed is missing.</a:t>
            </a:r>
          </a:p>
        </p:txBody>
      </p:sp>
      <p:sp>
        <p:nvSpPr>
          <p:cNvPr id="25" name="Box"/>
          <p:cNvSpPr/>
          <p:nvPr/>
        </p:nvSpPr>
        <p:spPr>
          <a:xfrm>
            <a:off x="7992467" y="4463752"/>
            <a:ext cx="3437434" cy="1601291"/>
          </a:xfrm>
          <a:prstGeom prst="roundRect">
            <a:avLst>
              <a:gd name="adj" fmla="val 6344"/>
            </a:avLst>
          </a:prstGeom>
          <a:solidFill>
            <a:srgbClr val="B9BEC8"/>
          </a:solidFill>
          <a:ln>
            <a:noFill/>
          </a:ln>
          <a:effectLst/>
        </p:spPr>
        <p:txBody>
          <a:bodyPr rtlCol="0" anchor="ctr"/>
          <a:lstStyle/>
          <a:p>
            <a:pPr algn="ctr"/>
          </a:p>
        </p:txBody>
      </p:sp>
      <p:sp>
        <p:nvSpPr>
          <p:cNvPr id="26" name="Box"/>
          <p:cNvSpPr/>
          <p:nvPr/>
        </p:nvSpPr>
        <p:spPr>
          <a:xfrm>
            <a:off x="7992467" y="4527252"/>
            <a:ext cx="3437434" cy="1537791"/>
          </a:xfrm>
          <a:prstGeom prst="roundRect">
            <a:avLst>
              <a:gd name="adj" fmla="val 2477"/>
            </a:avLst>
          </a:prstGeom>
          <a:solidFill>
            <a:srgbClr val="FFFFFF"/>
          </a:solidFill>
          <a:ln>
            <a:noFill/>
          </a:ln>
          <a:effectLst/>
        </p:spPr>
        <p:txBody>
          <a:bodyPr rtlCol="0" anchor="ctr"/>
          <a:lstStyle/>
          <a:p>
            <a:pPr algn="ctr"/>
          </a:p>
        </p:txBody>
      </p:sp>
      <p:sp>
        <p:nvSpPr>
          <p:cNvPr id="27" name="Text"/>
          <p:cNvSpPr txBox="1"/>
          <p:nvPr/>
        </p:nvSpPr>
        <p:spPr>
          <a:xfrm>
            <a:off x="8195667" y="4716774"/>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B9BEC8"/>
                </a:solidFill>
                <a:latin typeface="Noto Sans"/>
              </a:rPr>
              <a:t>The spare hands</a:t>
            </a:r>
          </a:p>
        </p:txBody>
      </p:sp>
      <p:sp>
        <p:nvSpPr>
          <p:cNvPr id="28" name="Text"/>
          <p:cNvSpPr txBox="1"/>
          <p:nvPr/>
        </p:nvSpPr>
        <p:spPr>
          <a:xfrm>
            <a:off x="8195667" y="5084782"/>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Not a job yet: anyone who helps on a Saturday and may take a job later.</a:t>
            </a:r>
          </a:p>
        </p:txBody>
      </p:sp>
      <p:sp>
        <p:nvSpPr>
          <p:cNvPr id="2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3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3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1627981"/>
          </a:xfrm>
          <a:prstGeom prst="roundRect">
            <a:avLst>
              <a:gd name="adj" fmla="val 624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Most tools come back, and on time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NUMBERS</a:t>
            </a:r>
          </a:p>
        </p:txBody>
      </p:sp>
      <p:sp>
        <p:nvSpPr>
          <p:cNvPr id="4" name="Text"/>
          <p:cNvSpPr txBox="1"/>
          <p:nvPr/>
        </p:nvSpPr>
        <p:spPr>
          <a:xfrm>
            <a:off x="2930018" y="1974361"/>
            <a:ext cx="2869031" cy="147028"/>
          </a:xfrm>
          <a:prstGeom prst="rect">
            <a:avLst/>
          </a:prstGeom>
          <a:noFill/>
        </p:spPr>
        <p:txBody>
          <a:bodyPr wrap="square" lIns="0" rIns="0" tIns="0" bIns="0" anchor="t">
            <a:noAutofit/>
          </a:bodyPr>
          <a:lstStyle/>
          <a:p>
            <a:pPr algn="ctr">
              <a:lnSpc>
                <a:spcPts val="1157"/>
              </a:lnSpc>
              <a:spcBef>
                <a:spcPts val="0"/>
              </a:spcBef>
              <a:spcAft>
                <a:spcPts val="0"/>
              </a:spcAft>
            </a:pPr>
            <a:r>
              <a:rPr sz="850" b="1" i="0" spc="102">
                <a:solidFill>
                  <a:srgbClr val="8A8F9C"/>
                </a:solidFill>
                <a:latin typeface="Noto Sans"/>
              </a:rPr>
              <a:t>WEEK 1</a:t>
            </a:r>
          </a:p>
        </p:txBody>
      </p:sp>
      <p:sp>
        <p:nvSpPr>
          <p:cNvPr id="5" name="Text"/>
          <p:cNvSpPr txBox="1"/>
          <p:nvPr/>
        </p:nvSpPr>
        <p:spPr>
          <a:xfrm>
            <a:off x="5766284" y="1974361"/>
            <a:ext cx="2869133" cy="147028"/>
          </a:xfrm>
          <a:prstGeom prst="rect">
            <a:avLst/>
          </a:prstGeom>
          <a:noFill/>
        </p:spPr>
        <p:txBody>
          <a:bodyPr wrap="square" lIns="0" rIns="0" tIns="0" bIns="0" anchor="t">
            <a:noAutofit/>
          </a:bodyPr>
          <a:lstStyle/>
          <a:p>
            <a:pPr algn="ctr">
              <a:lnSpc>
                <a:spcPts val="1157"/>
              </a:lnSpc>
              <a:spcBef>
                <a:spcPts val="0"/>
              </a:spcBef>
              <a:spcAft>
                <a:spcPts val="0"/>
              </a:spcAft>
            </a:pPr>
            <a:r>
              <a:rPr sz="850" b="1" i="0" spc="102">
                <a:solidFill>
                  <a:srgbClr val="8A8F9C"/>
                </a:solidFill>
                <a:latin typeface="Noto Sans"/>
              </a:rPr>
              <a:t>WEEK 4</a:t>
            </a:r>
          </a:p>
        </p:txBody>
      </p:sp>
      <p:sp>
        <p:nvSpPr>
          <p:cNvPr id="6" name="Text"/>
          <p:cNvSpPr txBox="1"/>
          <p:nvPr/>
        </p:nvSpPr>
        <p:spPr>
          <a:xfrm>
            <a:off x="8602652" y="1974361"/>
            <a:ext cx="2869031" cy="147028"/>
          </a:xfrm>
          <a:prstGeom prst="rect">
            <a:avLst/>
          </a:prstGeom>
          <a:noFill/>
        </p:spPr>
        <p:txBody>
          <a:bodyPr wrap="square" lIns="0" rIns="0" tIns="0" bIns="0" anchor="t">
            <a:noAutofit/>
          </a:bodyPr>
          <a:lstStyle/>
          <a:p>
            <a:pPr algn="ctr">
              <a:lnSpc>
                <a:spcPts val="1157"/>
              </a:lnSpc>
              <a:spcBef>
                <a:spcPts val="0"/>
              </a:spcBef>
              <a:spcAft>
                <a:spcPts val="0"/>
              </a:spcAft>
            </a:pPr>
            <a:r>
              <a:rPr sz="850" b="1" i="0" spc="102">
                <a:solidFill>
                  <a:srgbClr val="5B4BD6"/>
                </a:solidFill>
                <a:latin typeface="Noto Sans"/>
              </a:rPr>
              <a:t>WEEK 12</a:t>
            </a:r>
          </a:p>
        </p:txBody>
      </p:sp>
      <p:sp>
        <p:nvSpPr>
          <p:cNvPr id="7" name="Text"/>
          <p:cNvSpPr txBox="1"/>
          <p:nvPr/>
        </p:nvSpPr>
        <p:spPr>
          <a:xfrm>
            <a:off x="762000" y="2239050"/>
            <a:ext cx="2119122" cy="181610"/>
          </a:xfrm>
          <a:prstGeom prst="rect">
            <a:avLst/>
          </a:prstGeom>
          <a:noFill/>
        </p:spPr>
        <p:txBody>
          <a:bodyPr wrap="square" lIns="0" rIns="0" tIns="0" bIns="0" anchor="t">
            <a:noAutofit/>
          </a:bodyPr>
          <a:lstStyle/>
          <a:p>
            <a:pPr algn="l">
              <a:lnSpc>
                <a:spcPts val="1430"/>
              </a:lnSpc>
              <a:spcBef>
                <a:spcPts val="0"/>
              </a:spcBef>
              <a:spcAft>
                <a:spcPts val="0"/>
              </a:spcAft>
            </a:pPr>
            <a:r>
              <a:rPr sz="1300" b="1" i="0">
                <a:solidFill>
                  <a:srgbClr val="1D2433"/>
                </a:solidFill>
                <a:latin typeface="Noto Sans"/>
              </a:rPr>
              <a:t>Returned</a:t>
            </a:r>
          </a:p>
        </p:txBody>
      </p:sp>
      <p:sp>
        <p:nvSpPr>
          <p:cNvPr id="8" name="Text"/>
          <p:cNvSpPr txBox="1"/>
          <p:nvPr/>
        </p:nvSpPr>
        <p:spPr>
          <a:xfrm>
            <a:off x="762000" y="2417445"/>
            <a:ext cx="2119122" cy="137160"/>
          </a:xfrm>
          <a:prstGeom prst="rect">
            <a:avLst/>
          </a:prstGeom>
          <a:noFill/>
        </p:spPr>
        <p:txBody>
          <a:bodyPr wrap="square" lIns="0" rIns="0" tIns="0" bIns="0" anchor="t">
            <a:noAutofit/>
          </a:bodyPr>
          <a:lstStyle/>
          <a:p>
            <a:pPr algn="l">
              <a:lnSpc>
                <a:spcPts val="1080"/>
              </a:lnSpc>
              <a:spcBef>
                <a:spcPts val="0"/>
              </a:spcBef>
              <a:spcAft>
                <a:spcPts val="0"/>
              </a:spcAft>
            </a:pPr>
            <a:r>
              <a:rPr sz="900" b="0" i="0">
                <a:solidFill>
                  <a:srgbClr val="8A8F9C"/>
                </a:solidFill>
                <a:latin typeface="Noto Sans"/>
              </a:rPr>
              <a:t>share of tools out</a:t>
            </a:r>
          </a:p>
        </p:txBody>
      </p:sp>
      <p:sp>
        <p:nvSpPr>
          <p:cNvPr id="9" name="Box"/>
          <p:cNvSpPr/>
          <p:nvPr/>
        </p:nvSpPr>
        <p:spPr>
          <a:xfrm>
            <a:off x="2971800" y="2209800"/>
            <a:ext cx="2785467" cy="381000"/>
          </a:xfrm>
          <a:prstGeom prst="roundRect">
            <a:avLst>
              <a:gd name="adj" fmla="val 16666"/>
            </a:avLst>
          </a:prstGeom>
          <a:solidFill>
            <a:srgbClr val="74BE9C"/>
          </a:solidFill>
          <a:ln w="19050">
            <a:solidFill>
              <a:srgbClr val="000000">
                <a:alpha val="0"/>
              </a:srgbClr>
            </a:solidFill>
          </a:ln>
          <a:effectLst/>
        </p:spPr>
        <p:txBody>
          <a:bodyPr rtlCol="0" anchor="ctr"/>
          <a:lstStyle/>
          <a:p>
            <a:pPr algn="ctr"/>
          </a:p>
        </p:txBody>
      </p:sp>
      <p:sp>
        <p:nvSpPr>
          <p:cNvPr id="10" name="Text"/>
          <p:cNvSpPr txBox="1"/>
          <p:nvPr/>
        </p:nvSpPr>
        <p:spPr>
          <a:xfrm>
            <a:off x="4196259" y="2287867"/>
            <a:ext cx="346646"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62%</a:t>
            </a:r>
          </a:p>
        </p:txBody>
      </p:sp>
      <p:sp>
        <p:nvSpPr>
          <p:cNvPr id="11" name="Box"/>
          <p:cNvSpPr/>
          <p:nvPr/>
        </p:nvSpPr>
        <p:spPr>
          <a:xfrm>
            <a:off x="5808067" y="2209800"/>
            <a:ext cx="2785566" cy="381000"/>
          </a:xfrm>
          <a:prstGeom prst="roundRect">
            <a:avLst>
              <a:gd name="adj" fmla="val 16666"/>
            </a:avLst>
          </a:prstGeom>
          <a:solidFill>
            <a:srgbClr val="51AE84"/>
          </a:solidFill>
          <a:ln w="19050">
            <a:solidFill>
              <a:srgbClr val="000000">
                <a:alpha val="0"/>
              </a:srgbClr>
            </a:solidFill>
          </a:ln>
          <a:effectLst/>
        </p:spPr>
        <p:txBody>
          <a:bodyPr rtlCol="0" anchor="ctr"/>
          <a:lstStyle/>
          <a:p>
            <a:pPr algn="ctr"/>
          </a:p>
        </p:txBody>
      </p:sp>
      <p:sp>
        <p:nvSpPr>
          <p:cNvPr id="12" name="Text"/>
          <p:cNvSpPr txBox="1"/>
          <p:nvPr/>
        </p:nvSpPr>
        <p:spPr>
          <a:xfrm>
            <a:off x="7032526" y="2287867"/>
            <a:ext cx="346646"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81%</a:t>
            </a:r>
          </a:p>
        </p:txBody>
      </p:sp>
      <p:sp>
        <p:nvSpPr>
          <p:cNvPr id="13" name="Box"/>
          <p:cNvSpPr/>
          <p:nvPr/>
        </p:nvSpPr>
        <p:spPr>
          <a:xfrm>
            <a:off x="8644434" y="2209800"/>
            <a:ext cx="2785467" cy="381000"/>
          </a:xfrm>
          <a:prstGeom prst="roundRect">
            <a:avLst>
              <a:gd name="adj" fmla="val 16666"/>
            </a:avLst>
          </a:prstGeom>
          <a:solidFill>
            <a:srgbClr val="39A373"/>
          </a:solidFill>
          <a:ln w="19050">
            <a:solidFill>
              <a:srgbClr val="1D2433"/>
            </a:solidFill>
          </a:ln>
          <a:effectLst/>
        </p:spPr>
        <p:txBody>
          <a:bodyPr rtlCol="0" anchor="ctr"/>
          <a:lstStyle/>
          <a:p>
            <a:pPr algn="ctr"/>
          </a:p>
        </p:txBody>
      </p:sp>
      <p:sp>
        <p:nvSpPr>
          <p:cNvPr id="14" name="Text"/>
          <p:cNvSpPr txBox="1"/>
          <p:nvPr/>
        </p:nvSpPr>
        <p:spPr>
          <a:xfrm>
            <a:off x="9865717" y="2287867"/>
            <a:ext cx="353187"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94%</a:t>
            </a:r>
          </a:p>
        </p:txBody>
      </p:sp>
      <p:sp>
        <p:nvSpPr>
          <p:cNvPr id="15" name="Text"/>
          <p:cNvSpPr txBox="1"/>
          <p:nvPr/>
        </p:nvSpPr>
        <p:spPr>
          <a:xfrm>
            <a:off x="762000" y="2670850"/>
            <a:ext cx="2119122" cy="181610"/>
          </a:xfrm>
          <a:prstGeom prst="rect">
            <a:avLst/>
          </a:prstGeom>
          <a:noFill/>
        </p:spPr>
        <p:txBody>
          <a:bodyPr wrap="square" lIns="0" rIns="0" tIns="0" bIns="0" anchor="t">
            <a:noAutofit/>
          </a:bodyPr>
          <a:lstStyle/>
          <a:p>
            <a:pPr algn="l">
              <a:lnSpc>
                <a:spcPts val="1430"/>
              </a:lnSpc>
              <a:spcBef>
                <a:spcPts val="0"/>
              </a:spcBef>
              <a:spcAft>
                <a:spcPts val="0"/>
              </a:spcAft>
            </a:pPr>
            <a:r>
              <a:rPr sz="1300" b="1" i="0">
                <a:solidFill>
                  <a:srgbClr val="1D2433"/>
                </a:solidFill>
                <a:latin typeface="Noto Sans"/>
              </a:rPr>
              <a:t>On time</a:t>
            </a:r>
          </a:p>
        </p:txBody>
      </p:sp>
      <p:sp>
        <p:nvSpPr>
          <p:cNvPr id="16" name="Text"/>
          <p:cNvSpPr txBox="1"/>
          <p:nvPr/>
        </p:nvSpPr>
        <p:spPr>
          <a:xfrm>
            <a:off x="762000" y="2849245"/>
            <a:ext cx="2119122" cy="137160"/>
          </a:xfrm>
          <a:prstGeom prst="rect">
            <a:avLst/>
          </a:prstGeom>
          <a:noFill/>
        </p:spPr>
        <p:txBody>
          <a:bodyPr wrap="square" lIns="0" rIns="0" tIns="0" bIns="0" anchor="t">
            <a:noAutofit/>
          </a:bodyPr>
          <a:lstStyle/>
          <a:p>
            <a:pPr algn="l">
              <a:lnSpc>
                <a:spcPts val="1080"/>
              </a:lnSpc>
              <a:spcBef>
                <a:spcPts val="0"/>
              </a:spcBef>
              <a:spcAft>
                <a:spcPts val="0"/>
              </a:spcAft>
            </a:pPr>
            <a:r>
              <a:rPr sz="900" b="0" i="0">
                <a:solidFill>
                  <a:srgbClr val="8A8F9C"/>
                </a:solidFill>
                <a:latin typeface="Noto Sans"/>
              </a:rPr>
              <a:t>by the Friday deadline</a:t>
            </a:r>
          </a:p>
        </p:txBody>
      </p:sp>
      <p:sp>
        <p:nvSpPr>
          <p:cNvPr id="17" name="Box"/>
          <p:cNvSpPr/>
          <p:nvPr/>
        </p:nvSpPr>
        <p:spPr>
          <a:xfrm>
            <a:off x="2971800" y="2641600"/>
            <a:ext cx="2785467" cy="381000"/>
          </a:xfrm>
          <a:prstGeom prst="roundRect">
            <a:avLst>
              <a:gd name="adj" fmla="val 16666"/>
            </a:avLst>
          </a:prstGeom>
          <a:solidFill>
            <a:srgbClr val="8ECAAF"/>
          </a:solidFill>
          <a:ln w="19050">
            <a:solidFill>
              <a:srgbClr val="000000">
                <a:alpha val="0"/>
              </a:srgbClr>
            </a:solidFill>
          </a:ln>
          <a:effectLst/>
        </p:spPr>
        <p:txBody>
          <a:bodyPr rtlCol="0" anchor="ctr"/>
          <a:lstStyle/>
          <a:p>
            <a:pPr algn="ctr"/>
          </a:p>
        </p:txBody>
      </p:sp>
      <p:sp>
        <p:nvSpPr>
          <p:cNvPr id="18" name="Text"/>
          <p:cNvSpPr txBox="1"/>
          <p:nvPr/>
        </p:nvSpPr>
        <p:spPr>
          <a:xfrm>
            <a:off x="4196259" y="2719667"/>
            <a:ext cx="346646"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1D2433"/>
                </a:solidFill>
                <a:latin typeface="Noto Sans"/>
              </a:rPr>
              <a:t>48%</a:t>
            </a:r>
          </a:p>
        </p:txBody>
      </p:sp>
      <p:sp>
        <p:nvSpPr>
          <p:cNvPr id="19" name="Box"/>
          <p:cNvSpPr/>
          <p:nvPr/>
        </p:nvSpPr>
        <p:spPr>
          <a:xfrm>
            <a:off x="5808067" y="2641600"/>
            <a:ext cx="2785566" cy="381000"/>
          </a:xfrm>
          <a:prstGeom prst="roundRect">
            <a:avLst>
              <a:gd name="adj" fmla="val 16666"/>
            </a:avLst>
          </a:prstGeom>
          <a:solidFill>
            <a:srgbClr val="65B892"/>
          </a:solidFill>
          <a:ln w="19050">
            <a:solidFill>
              <a:srgbClr val="000000">
                <a:alpha val="0"/>
              </a:srgbClr>
            </a:solidFill>
          </a:ln>
          <a:effectLst/>
        </p:spPr>
        <p:txBody>
          <a:bodyPr rtlCol="0" anchor="ctr"/>
          <a:lstStyle/>
          <a:p>
            <a:pPr algn="ctr"/>
          </a:p>
        </p:txBody>
      </p:sp>
      <p:sp>
        <p:nvSpPr>
          <p:cNvPr id="20" name="Text"/>
          <p:cNvSpPr txBox="1"/>
          <p:nvPr/>
        </p:nvSpPr>
        <p:spPr>
          <a:xfrm>
            <a:off x="7032526" y="2719667"/>
            <a:ext cx="346646"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70%</a:t>
            </a:r>
          </a:p>
        </p:txBody>
      </p:sp>
      <p:sp>
        <p:nvSpPr>
          <p:cNvPr id="21" name="Box"/>
          <p:cNvSpPr/>
          <p:nvPr/>
        </p:nvSpPr>
        <p:spPr>
          <a:xfrm>
            <a:off x="8644434" y="2641600"/>
            <a:ext cx="2785467" cy="381000"/>
          </a:xfrm>
          <a:prstGeom prst="roundRect">
            <a:avLst>
              <a:gd name="adj" fmla="val 16666"/>
            </a:avLst>
          </a:prstGeom>
          <a:solidFill>
            <a:srgbClr val="42A779"/>
          </a:solidFill>
          <a:ln w="19050">
            <a:solidFill>
              <a:srgbClr val="1D2433"/>
            </a:solidFill>
          </a:ln>
          <a:effectLst/>
        </p:spPr>
        <p:txBody>
          <a:bodyPr rtlCol="0" anchor="ctr"/>
          <a:lstStyle/>
          <a:p>
            <a:pPr algn="ctr"/>
          </a:p>
        </p:txBody>
      </p:sp>
      <p:sp>
        <p:nvSpPr>
          <p:cNvPr id="22" name="Text"/>
          <p:cNvSpPr txBox="1"/>
          <p:nvPr/>
        </p:nvSpPr>
        <p:spPr>
          <a:xfrm>
            <a:off x="9865717" y="2719667"/>
            <a:ext cx="353187"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89%</a:t>
            </a:r>
          </a:p>
        </p:txBody>
      </p:sp>
      <p:sp>
        <p:nvSpPr>
          <p:cNvPr id="23" name="Text"/>
          <p:cNvSpPr txBox="1"/>
          <p:nvPr/>
        </p:nvSpPr>
        <p:spPr>
          <a:xfrm>
            <a:off x="762000" y="3102650"/>
            <a:ext cx="2119122" cy="181610"/>
          </a:xfrm>
          <a:prstGeom prst="rect">
            <a:avLst/>
          </a:prstGeom>
          <a:noFill/>
        </p:spPr>
        <p:txBody>
          <a:bodyPr wrap="square" lIns="0" rIns="0" tIns="0" bIns="0" anchor="t">
            <a:noAutofit/>
          </a:bodyPr>
          <a:lstStyle/>
          <a:p>
            <a:pPr algn="l">
              <a:lnSpc>
                <a:spcPts val="1430"/>
              </a:lnSpc>
              <a:spcBef>
                <a:spcPts val="0"/>
              </a:spcBef>
              <a:spcAft>
                <a:spcPts val="0"/>
              </a:spcAft>
            </a:pPr>
            <a:r>
              <a:rPr sz="1300" b="1" i="0">
                <a:solidFill>
                  <a:srgbClr val="1D2433"/>
                </a:solidFill>
                <a:latin typeface="Noto Sans"/>
              </a:rPr>
              <a:t>Clean</a:t>
            </a:r>
          </a:p>
        </p:txBody>
      </p:sp>
      <p:sp>
        <p:nvSpPr>
          <p:cNvPr id="24" name="Text"/>
          <p:cNvSpPr txBox="1"/>
          <p:nvPr/>
        </p:nvSpPr>
        <p:spPr>
          <a:xfrm>
            <a:off x="762000" y="3281045"/>
            <a:ext cx="2119122" cy="137160"/>
          </a:xfrm>
          <a:prstGeom prst="rect">
            <a:avLst/>
          </a:prstGeom>
          <a:noFill/>
        </p:spPr>
        <p:txBody>
          <a:bodyPr wrap="square" lIns="0" rIns="0" tIns="0" bIns="0" anchor="t">
            <a:noAutofit/>
          </a:bodyPr>
          <a:lstStyle/>
          <a:p>
            <a:pPr algn="l">
              <a:lnSpc>
                <a:spcPts val="1080"/>
              </a:lnSpc>
              <a:spcBef>
                <a:spcPts val="0"/>
              </a:spcBef>
              <a:spcAft>
                <a:spcPts val="0"/>
              </a:spcAft>
            </a:pPr>
            <a:r>
              <a:rPr sz="900" b="0" i="0">
                <a:solidFill>
                  <a:srgbClr val="8A8F9C"/>
                </a:solidFill>
                <a:latin typeface="Noto Sans"/>
              </a:rPr>
              <a:t>hung back without a note</a:t>
            </a:r>
          </a:p>
        </p:txBody>
      </p:sp>
      <p:sp>
        <p:nvSpPr>
          <p:cNvPr id="25" name="Box"/>
          <p:cNvSpPr/>
          <p:nvPr/>
        </p:nvSpPr>
        <p:spPr>
          <a:xfrm>
            <a:off x="2971800" y="3073400"/>
            <a:ext cx="2785467" cy="381000"/>
          </a:xfrm>
          <a:prstGeom prst="roundRect">
            <a:avLst>
              <a:gd name="adj" fmla="val 16666"/>
            </a:avLst>
          </a:prstGeom>
          <a:solidFill>
            <a:srgbClr val="81C4A6"/>
          </a:solidFill>
          <a:ln w="19050">
            <a:solidFill>
              <a:srgbClr val="000000">
                <a:alpha val="0"/>
              </a:srgbClr>
            </a:solidFill>
          </a:ln>
          <a:effectLst/>
        </p:spPr>
        <p:txBody>
          <a:bodyPr rtlCol="0" anchor="ctr"/>
          <a:lstStyle/>
          <a:p>
            <a:pPr algn="ctr"/>
          </a:p>
        </p:txBody>
      </p:sp>
      <p:sp>
        <p:nvSpPr>
          <p:cNvPr id="26" name="Text"/>
          <p:cNvSpPr txBox="1"/>
          <p:nvPr/>
        </p:nvSpPr>
        <p:spPr>
          <a:xfrm>
            <a:off x="4196259" y="3151467"/>
            <a:ext cx="346646"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1D2433"/>
                </a:solidFill>
                <a:latin typeface="Noto Sans"/>
              </a:rPr>
              <a:t>55%</a:t>
            </a:r>
          </a:p>
        </p:txBody>
      </p:sp>
      <p:sp>
        <p:nvSpPr>
          <p:cNvPr id="27" name="Box"/>
          <p:cNvSpPr/>
          <p:nvPr/>
        </p:nvSpPr>
        <p:spPr>
          <a:xfrm>
            <a:off x="5808067" y="3073400"/>
            <a:ext cx="2785566" cy="381000"/>
          </a:xfrm>
          <a:prstGeom prst="roundRect">
            <a:avLst>
              <a:gd name="adj" fmla="val 16666"/>
            </a:avLst>
          </a:prstGeom>
          <a:solidFill>
            <a:srgbClr val="58B289"/>
          </a:solidFill>
          <a:ln w="19050">
            <a:solidFill>
              <a:srgbClr val="000000">
                <a:alpha val="0"/>
              </a:srgbClr>
            </a:solidFill>
          </a:ln>
          <a:effectLst/>
        </p:spPr>
        <p:txBody>
          <a:bodyPr rtlCol="0" anchor="ctr"/>
          <a:lstStyle/>
          <a:p>
            <a:pPr algn="ctr"/>
          </a:p>
        </p:txBody>
      </p:sp>
      <p:sp>
        <p:nvSpPr>
          <p:cNvPr id="28" name="Text"/>
          <p:cNvSpPr txBox="1"/>
          <p:nvPr/>
        </p:nvSpPr>
        <p:spPr>
          <a:xfrm>
            <a:off x="7032526" y="3151467"/>
            <a:ext cx="346646"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77%</a:t>
            </a:r>
          </a:p>
        </p:txBody>
      </p:sp>
      <p:sp>
        <p:nvSpPr>
          <p:cNvPr id="29" name="Box"/>
          <p:cNvSpPr/>
          <p:nvPr/>
        </p:nvSpPr>
        <p:spPr>
          <a:xfrm>
            <a:off x="8644434" y="3073400"/>
            <a:ext cx="2785467" cy="381000"/>
          </a:xfrm>
          <a:prstGeom prst="roundRect">
            <a:avLst>
              <a:gd name="adj" fmla="val 16666"/>
            </a:avLst>
          </a:prstGeom>
          <a:solidFill>
            <a:srgbClr val="3FA677"/>
          </a:solidFill>
          <a:ln w="19050">
            <a:solidFill>
              <a:srgbClr val="1D2433"/>
            </a:solidFill>
          </a:ln>
          <a:effectLst/>
        </p:spPr>
        <p:txBody>
          <a:bodyPr rtlCol="0" anchor="ctr"/>
          <a:lstStyle/>
          <a:p>
            <a:pPr algn="ctr"/>
          </a:p>
        </p:txBody>
      </p:sp>
      <p:sp>
        <p:nvSpPr>
          <p:cNvPr id="30" name="Text"/>
          <p:cNvSpPr txBox="1"/>
          <p:nvPr/>
        </p:nvSpPr>
        <p:spPr>
          <a:xfrm>
            <a:off x="9865717" y="3151467"/>
            <a:ext cx="353187" cy="224866"/>
          </a:xfrm>
          <a:prstGeom prst="rect">
            <a:avLst/>
          </a:prstGeom>
          <a:noFill/>
        </p:spPr>
        <p:txBody>
          <a:bodyPr wrap="square" lIns="0" rIns="0" tIns="0" bIns="0" anchor="t">
            <a:noAutofit/>
          </a:bodyPr>
          <a:lstStyle/>
          <a:p>
            <a:pPr algn="l">
              <a:lnSpc>
                <a:spcPts val="1770"/>
              </a:lnSpc>
              <a:spcBef>
                <a:spcPts val="0"/>
              </a:spcBef>
              <a:spcAft>
                <a:spcPts val="0"/>
              </a:spcAft>
            </a:pPr>
            <a:r>
              <a:rPr sz="1300" b="1" i="0">
                <a:solidFill>
                  <a:srgbClr val="FFFFFF"/>
                </a:solidFill>
                <a:latin typeface="Noto Sans"/>
              </a:rPr>
              <a:t>91%</a:t>
            </a:r>
          </a:p>
        </p:txBody>
      </p:sp>
      <p:sp>
        <p:nvSpPr>
          <p:cNvPr id="3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32" name="Text"/>
          <p:cNvSpPr txBox="1"/>
          <p:nvPr/>
        </p:nvSpPr>
        <p:spPr>
          <a:xfrm>
            <a:off x="762000" y="6495561"/>
            <a:ext cx="26225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the figures are made up</a:t>
            </a:r>
          </a:p>
        </p:txBody>
      </p:sp>
      <p:sp>
        <p:nvSpPr>
          <p:cNvPr id="3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Two lists, four short lines each.</a:t>
            </a:r>
          </a:p>
        </p:txBody>
      </p:sp>
      <p:sp>
        <p:nvSpPr>
          <p:cNvPr id="5" name="Box"/>
          <p:cNvSpPr/>
          <p:nvPr/>
        </p:nvSpPr>
        <p:spPr>
          <a:xfrm>
            <a:off x="762000" y="2159000"/>
            <a:ext cx="5245100" cy="2372122"/>
          </a:xfrm>
          <a:prstGeom prst="roundRect">
            <a:avLst>
              <a:gd name="adj" fmla="val 4283"/>
            </a:avLst>
          </a:prstGeom>
          <a:solidFill>
            <a:srgbClr val="FFFFFF"/>
          </a:solidFill>
          <a:ln w="25400">
            <a:solidFill>
              <a:srgbClr val="2E9E6B"/>
            </a:solidFill>
          </a:ln>
          <a:effectLst/>
        </p:spPr>
        <p:txBody>
          <a:bodyPr rtlCol="0" anchor="ctr"/>
          <a:lstStyle/>
          <a:p>
            <a:pPr algn="ctr"/>
          </a:p>
        </p:txBody>
      </p:sp>
      <p:sp>
        <p:nvSpPr>
          <p:cNvPr id="6" name="Text"/>
          <p:cNvSpPr txBox="1"/>
          <p:nvPr/>
        </p:nvSpPr>
        <p:spPr>
          <a:xfrm>
            <a:off x="990600" y="2373922"/>
            <a:ext cx="4931537"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1016000" y="28321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82700" y="2737168"/>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1016000" y="32251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82700" y="3130173"/>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1016000" y="36181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82700" y="3523178"/>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1016000" y="40111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82700" y="3916184"/>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2159000"/>
            <a:ext cx="5245100" cy="2372122"/>
          </a:xfrm>
          <a:prstGeom prst="roundRect">
            <a:avLst>
              <a:gd name="adj" fmla="val 4283"/>
            </a:avLst>
          </a:prstGeom>
          <a:solidFill>
            <a:srgbClr val="FFFFFF"/>
          </a:solidFill>
          <a:ln w="25400">
            <a:solidFill>
              <a:srgbClr val="D0453D"/>
            </a:solidFill>
          </a:ln>
          <a:effectLst/>
        </p:spPr>
        <p:txBody>
          <a:bodyPr rtlCol="0" anchor="ctr"/>
          <a:lstStyle/>
          <a:p>
            <a:pPr algn="ctr"/>
          </a:p>
        </p:txBody>
      </p:sp>
      <p:sp>
        <p:nvSpPr>
          <p:cNvPr id="16" name="Text"/>
          <p:cNvSpPr txBox="1"/>
          <p:nvPr/>
        </p:nvSpPr>
        <p:spPr>
          <a:xfrm>
            <a:off x="6413500" y="2373922"/>
            <a:ext cx="4931537"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7" name="Box"/>
          <p:cNvSpPr/>
          <p:nvPr/>
        </p:nvSpPr>
        <p:spPr>
          <a:xfrm>
            <a:off x="6438900" y="2832100"/>
            <a:ext cx="101600" cy="101600"/>
          </a:xfrm>
          <a:prstGeom prst="roundRect">
            <a:avLst>
              <a:gd name="adj" fmla="val 25000"/>
            </a:avLst>
          </a:prstGeom>
          <a:solidFill>
            <a:srgbClr val="5B4BD6"/>
          </a:solidFill>
          <a:ln>
            <a:noFill/>
          </a:ln>
          <a:effectLst/>
        </p:spPr>
        <p:txBody>
          <a:bodyPr rtlCol="0" anchor="ctr"/>
          <a:lstStyle/>
          <a:p>
            <a:pPr algn="ctr"/>
          </a:p>
        </p:txBody>
      </p:sp>
      <p:sp>
        <p:nvSpPr>
          <p:cNvPr id="18" name="Text"/>
          <p:cNvSpPr txBox="1"/>
          <p:nvPr/>
        </p:nvSpPr>
        <p:spPr>
          <a:xfrm>
            <a:off x="6705600" y="2737168"/>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19" name="Box"/>
          <p:cNvSpPr/>
          <p:nvPr/>
        </p:nvSpPr>
        <p:spPr>
          <a:xfrm>
            <a:off x="6438900" y="3225105"/>
            <a:ext cx="101600" cy="101600"/>
          </a:xfrm>
          <a:prstGeom prst="roundRect">
            <a:avLst>
              <a:gd name="adj" fmla="val 25000"/>
            </a:avLst>
          </a:prstGeom>
          <a:solidFill>
            <a:srgbClr val="5B4BD6"/>
          </a:solidFill>
          <a:ln>
            <a:noFill/>
          </a:ln>
          <a:effectLst/>
        </p:spPr>
        <p:txBody>
          <a:bodyPr rtlCol="0" anchor="ctr"/>
          <a:lstStyle/>
          <a:p>
            <a:pPr algn="ctr"/>
          </a:p>
        </p:txBody>
      </p:sp>
      <p:sp>
        <p:nvSpPr>
          <p:cNvPr id="20" name="Text"/>
          <p:cNvSpPr txBox="1"/>
          <p:nvPr/>
        </p:nvSpPr>
        <p:spPr>
          <a:xfrm>
            <a:off x="6705600" y="3130173"/>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1" name="Box"/>
          <p:cNvSpPr/>
          <p:nvPr/>
        </p:nvSpPr>
        <p:spPr>
          <a:xfrm>
            <a:off x="6438900" y="3618111"/>
            <a:ext cx="101600" cy="101600"/>
          </a:xfrm>
          <a:prstGeom prst="roundRect">
            <a:avLst>
              <a:gd name="adj" fmla="val 25000"/>
            </a:avLst>
          </a:prstGeom>
          <a:solidFill>
            <a:srgbClr val="5B4BD6"/>
          </a:solidFill>
          <a:ln>
            <a:noFill/>
          </a:ln>
          <a:effectLst/>
        </p:spPr>
        <p:txBody>
          <a:bodyPr rtlCol="0" anchor="ctr"/>
          <a:lstStyle/>
          <a:p>
            <a:pPr algn="ctr"/>
          </a:p>
        </p:txBody>
      </p:sp>
      <p:sp>
        <p:nvSpPr>
          <p:cNvPr id="22" name="Text"/>
          <p:cNvSpPr txBox="1"/>
          <p:nvPr/>
        </p:nvSpPr>
        <p:spPr>
          <a:xfrm>
            <a:off x="6705600" y="3523178"/>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3" name="Box"/>
          <p:cNvSpPr/>
          <p:nvPr/>
        </p:nvSpPr>
        <p:spPr>
          <a:xfrm>
            <a:off x="6438900" y="4011116"/>
            <a:ext cx="101600" cy="101600"/>
          </a:xfrm>
          <a:prstGeom prst="roundRect">
            <a:avLst>
              <a:gd name="adj" fmla="val 25000"/>
            </a:avLst>
          </a:prstGeom>
          <a:solidFill>
            <a:srgbClr val="5B4BD6"/>
          </a:solidFill>
          <a:ln>
            <a:noFill/>
          </a:ln>
          <a:effectLst/>
        </p:spPr>
        <p:txBody>
          <a:bodyPr rtlCol="0" anchor="ctr"/>
          <a:lstStyle/>
          <a:p>
            <a:pPr algn="ctr"/>
          </a:p>
        </p:txBody>
      </p:sp>
      <p:sp>
        <p:nvSpPr>
          <p:cNvPr id="24" name="Text"/>
          <p:cNvSpPr txBox="1"/>
          <p:nvPr/>
        </p:nvSpPr>
        <p:spPr>
          <a:xfrm>
            <a:off x="6705600" y="3916184"/>
            <a:ext cx="4630674"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5"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6"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7"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23483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0500" y="762000"/>
            <a:ext cx="981075"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30915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D6D1FF"/>
                </a:solidFill>
                <a:latin typeface="Noto Sans"/>
              </a:rPr>
              <a:t>Source:</a:t>
            </a:r>
            <a:r>
              <a:rPr sz="850" b="0" i="0">
                <a:solidFill>
                  <a:srgbClr val="D6D1FF"/>
                </a:solidFill>
                <a:latin typeface="Noto Sans"/>
              </a:rPr>
              <a:t> Invented example</a:t>
            </a:r>
          </a:p>
        </p:txBody>
      </p:sp>
      <p:sp>
        <p:nvSpPr>
          <p:cNvPr id="8"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Said at the end of a first Saturday.</a:t>
            </a:r>
          </a:p>
        </p:txBody>
      </p:sp>
      <p:sp>
        <p:nvSpPr>
          <p:cNvPr id="5" name="Text"/>
          <p:cNvSpPr txBox="1"/>
          <p:nvPr/>
        </p:nvSpPr>
        <p:spPr>
          <a:xfrm>
            <a:off x="482600" y="1879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6" name="Text"/>
          <p:cNvSpPr txBox="1"/>
          <p:nvPr/>
        </p:nvSpPr>
        <p:spPr>
          <a:xfrm>
            <a:off x="1168400" y="2154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7" name="Text"/>
          <p:cNvSpPr txBox="1"/>
          <p:nvPr/>
        </p:nvSpPr>
        <p:spPr>
          <a:xfrm>
            <a:off x="1168400" y="3292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8"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9"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10"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8F93AD"/>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