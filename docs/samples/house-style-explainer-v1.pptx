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156841"/>
            <a:ext cx="9810750" cy="1316684"/>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3586758"/>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45594"/>
            <a:ext cx="148469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508000" y="1587500"/>
            <a:ext cx="11176000" cy="4559300"/>
          </a:xfrm>
          <a:prstGeom prst="rect">
            <a:avLst/>
          </a:prstGeom>
        </p:spPr>
      </p:pic>
      <p:sp>
        <p:nvSpPr>
          <p:cNvPr id="5" name="Text"/>
          <p:cNvSpPr txBox="1"/>
          <p:nvPr/>
        </p:nvSpPr>
        <p:spPr>
          <a:xfrm>
            <a:off x="1287538" y="3551464"/>
            <a:ext cx="1168400" cy="273050"/>
          </a:xfrm>
          <a:prstGeom prst="rect">
            <a:avLst/>
          </a:prstGeom>
          <a:noFill/>
        </p:spPr>
        <p:txBody>
          <a:bodyPr wrap="none" lIns="0" rIns="0" tIns="0" bIns="0" anchor="t">
            <a:noAutofit/>
          </a:bodyPr>
          <a:lstStyle/>
          <a:p>
            <a:pPr algn="ctr">
              <a:lnSpc>
                <a:spcPts val="2150"/>
              </a:lnSpc>
              <a:spcBef>
                <a:spcPts val="0"/>
              </a:spcBef>
              <a:spcAft>
                <a:spcPts val="0"/>
              </a:spcAft>
            </a:pPr>
            <a:r>
              <a:rPr sz="1575" b="1" i="0">
                <a:solidFill>
                  <a:srgbClr val="1D2433"/>
                </a:solidFill>
                <a:latin typeface="Noto Sans"/>
              </a:rPr>
              <a:t>Neighbours</a:t>
            </a:r>
          </a:p>
        </p:txBody>
      </p:sp>
      <p:sp>
        <p:nvSpPr>
          <p:cNvPr id="6" name="Text"/>
          <p:cNvSpPr txBox="1"/>
          <p:nvPr/>
        </p:nvSpPr>
        <p:spPr>
          <a:xfrm>
            <a:off x="1328813" y="3874709"/>
            <a:ext cx="1085850" cy="203200"/>
          </a:xfrm>
          <a:prstGeom prst="rect">
            <a:avLst/>
          </a:prstGeom>
          <a:noFill/>
        </p:spPr>
        <p:txBody>
          <a:bodyPr wrap="none" lIns="0" rIns="0" tIns="0" bIns="0" anchor="t">
            <a:noAutofit/>
          </a:bodyPr>
          <a:lstStyle/>
          <a:p>
            <a:pPr algn="ctr">
              <a:lnSpc>
                <a:spcPts val="1600"/>
              </a:lnSpc>
              <a:spcBef>
                <a:spcPts val="0"/>
              </a:spcBef>
              <a:spcAft>
                <a:spcPts val="0"/>
              </a:spcAft>
            </a:pPr>
            <a:r>
              <a:rPr sz="1150" b="0" i="0">
                <a:solidFill>
                  <a:srgbClr val="4A5163"/>
                </a:solidFill>
                <a:latin typeface="Noto Sans"/>
              </a:rPr>
              <a:t>give spare tools</a:t>
            </a:r>
          </a:p>
        </p:txBody>
      </p:sp>
      <p:sp>
        <p:nvSpPr>
          <p:cNvPr id="7" name="Text"/>
          <p:cNvSpPr txBox="1"/>
          <p:nvPr/>
        </p:nvSpPr>
        <p:spPr>
          <a:xfrm>
            <a:off x="4072164" y="3551464"/>
            <a:ext cx="1054100" cy="273050"/>
          </a:xfrm>
          <a:prstGeom prst="rect">
            <a:avLst/>
          </a:prstGeom>
          <a:noFill/>
        </p:spPr>
        <p:txBody>
          <a:bodyPr wrap="none" lIns="0" rIns="0" tIns="0" bIns="0" anchor="t">
            <a:noAutofit/>
          </a:bodyPr>
          <a:lstStyle/>
          <a:p>
            <a:pPr algn="ctr">
              <a:lnSpc>
                <a:spcPts val="2150"/>
              </a:lnSpc>
              <a:spcBef>
                <a:spcPts val="0"/>
              </a:spcBef>
              <a:spcAft>
                <a:spcPts val="0"/>
              </a:spcAft>
            </a:pPr>
            <a:r>
              <a:rPr sz="1575" b="1" i="0">
                <a:solidFill>
                  <a:srgbClr val="FFFFFF"/>
                </a:solidFill>
                <a:latin typeface="Noto Sans"/>
              </a:rPr>
              <a:t>The ledger</a:t>
            </a:r>
          </a:p>
        </p:txBody>
      </p:sp>
      <p:sp>
        <p:nvSpPr>
          <p:cNvPr id="8" name="Text"/>
          <p:cNvSpPr txBox="1"/>
          <p:nvPr/>
        </p:nvSpPr>
        <p:spPr>
          <a:xfrm>
            <a:off x="4037239" y="3874709"/>
            <a:ext cx="1123950" cy="203200"/>
          </a:xfrm>
          <a:prstGeom prst="rect">
            <a:avLst/>
          </a:prstGeom>
          <a:noFill/>
        </p:spPr>
        <p:txBody>
          <a:bodyPr wrap="none" lIns="0" rIns="0" tIns="0" bIns="0" anchor="t">
            <a:noAutofit/>
          </a:bodyPr>
          <a:lstStyle/>
          <a:p>
            <a:pPr algn="ctr">
              <a:lnSpc>
                <a:spcPts val="1600"/>
              </a:lnSpc>
              <a:spcBef>
                <a:spcPts val="0"/>
              </a:spcBef>
              <a:spcAft>
                <a:spcPts val="0"/>
              </a:spcAft>
            </a:pPr>
            <a:r>
              <a:rPr sz="1150" b="0" i="0">
                <a:solidFill>
                  <a:srgbClr val="E4E0FF"/>
                </a:solidFill>
                <a:latin typeface="Noto Sans"/>
              </a:rPr>
              <a:t>one line per tool</a:t>
            </a:r>
          </a:p>
        </p:txBody>
      </p:sp>
      <p:sp>
        <p:nvSpPr>
          <p:cNvPr id="9" name="Text"/>
          <p:cNvSpPr txBox="1"/>
          <p:nvPr/>
        </p:nvSpPr>
        <p:spPr>
          <a:xfrm>
            <a:off x="6882190" y="3551464"/>
            <a:ext cx="889000" cy="273050"/>
          </a:xfrm>
          <a:prstGeom prst="rect">
            <a:avLst/>
          </a:prstGeom>
          <a:noFill/>
        </p:spPr>
        <p:txBody>
          <a:bodyPr wrap="none" lIns="0" rIns="0" tIns="0" bIns="0" anchor="t">
            <a:noAutofit/>
          </a:bodyPr>
          <a:lstStyle/>
          <a:p>
            <a:pPr algn="ctr">
              <a:lnSpc>
                <a:spcPts val="2150"/>
              </a:lnSpc>
              <a:spcBef>
                <a:spcPts val="0"/>
              </a:spcBef>
              <a:spcAft>
                <a:spcPts val="0"/>
              </a:spcAft>
            </a:pPr>
            <a:r>
              <a:rPr sz="1575" b="1" i="0">
                <a:solidFill>
                  <a:srgbClr val="1D2433"/>
                </a:solidFill>
                <a:latin typeface="Noto Sans"/>
              </a:rPr>
              <a:t>The shed</a:t>
            </a:r>
          </a:p>
        </p:txBody>
      </p:sp>
      <p:sp>
        <p:nvSpPr>
          <p:cNvPr id="10" name="Text"/>
          <p:cNvSpPr txBox="1"/>
          <p:nvPr/>
        </p:nvSpPr>
        <p:spPr>
          <a:xfrm>
            <a:off x="6339265" y="3874709"/>
            <a:ext cx="1974850" cy="203200"/>
          </a:xfrm>
          <a:prstGeom prst="rect">
            <a:avLst/>
          </a:prstGeom>
          <a:noFill/>
        </p:spPr>
        <p:txBody>
          <a:bodyPr wrap="none" lIns="0" rIns="0" tIns="0" bIns="0" anchor="t">
            <a:noAutofit/>
          </a:bodyPr>
          <a:lstStyle/>
          <a:p>
            <a:pPr algn="ctr">
              <a:lnSpc>
                <a:spcPts val="1600"/>
              </a:lnSpc>
              <a:spcBef>
                <a:spcPts val="0"/>
              </a:spcBef>
              <a:spcAft>
                <a:spcPts val="0"/>
              </a:spcAft>
            </a:pPr>
            <a:r>
              <a:rPr sz="1150" b="0" i="0">
                <a:solidFill>
                  <a:srgbClr val="4A5163"/>
                </a:solidFill>
                <a:latin typeface="Noto Sans"/>
              </a:rPr>
              <a:t>tools hung on labelled hooks</a:t>
            </a:r>
          </a:p>
        </p:txBody>
      </p:sp>
      <p:sp>
        <p:nvSpPr>
          <p:cNvPr id="11" name="Text"/>
          <p:cNvSpPr txBox="1"/>
          <p:nvPr/>
        </p:nvSpPr>
        <p:spPr>
          <a:xfrm>
            <a:off x="9536641" y="3551464"/>
            <a:ext cx="1035050" cy="273050"/>
          </a:xfrm>
          <a:prstGeom prst="rect">
            <a:avLst/>
          </a:prstGeom>
          <a:noFill/>
        </p:spPr>
        <p:txBody>
          <a:bodyPr wrap="none" lIns="0" rIns="0" tIns="0" bIns="0" anchor="t">
            <a:noAutofit/>
          </a:bodyPr>
          <a:lstStyle/>
          <a:p>
            <a:pPr algn="ctr">
              <a:lnSpc>
                <a:spcPts val="2150"/>
              </a:lnSpc>
              <a:spcBef>
                <a:spcPts val="0"/>
              </a:spcBef>
              <a:spcAft>
                <a:spcPts val="0"/>
              </a:spcAft>
            </a:pPr>
            <a:r>
              <a:rPr sz="1575" b="1" i="0">
                <a:solidFill>
                  <a:srgbClr val="1D2433"/>
                </a:solidFill>
                <a:latin typeface="Noto Sans"/>
              </a:rPr>
              <a:t>Borrowers</a:t>
            </a:r>
          </a:p>
        </p:txBody>
      </p:sp>
      <p:sp>
        <p:nvSpPr>
          <p:cNvPr id="12" name="Text"/>
          <p:cNvSpPr txBox="1"/>
          <p:nvPr/>
        </p:nvSpPr>
        <p:spPr>
          <a:xfrm>
            <a:off x="9266767" y="3874709"/>
            <a:ext cx="1574800" cy="203200"/>
          </a:xfrm>
          <a:prstGeom prst="rect">
            <a:avLst/>
          </a:prstGeom>
          <a:noFill/>
        </p:spPr>
        <p:txBody>
          <a:bodyPr wrap="none" lIns="0" rIns="0" tIns="0" bIns="0" anchor="t">
            <a:noAutofit/>
          </a:bodyPr>
          <a:lstStyle/>
          <a:p>
            <a:pPr algn="ctr">
              <a:lnSpc>
                <a:spcPts val="1600"/>
              </a:lnSpc>
              <a:spcBef>
                <a:spcPts val="0"/>
              </a:spcBef>
              <a:spcAft>
                <a:spcPts val="0"/>
              </a:spcAft>
            </a:pPr>
            <a:r>
              <a:rPr sz="1150" b="0" i="0">
                <a:solidFill>
                  <a:srgbClr val="4A5163"/>
                </a:solidFill>
                <a:latin typeface="Noto Sans"/>
              </a:rPr>
              <a:t>use it, clean it, return it</a:t>
            </a:r>
          </a:p>
        </p:txBody>
      </p:sp>
      <p:sp>
        <p:nvSpPr>
          <p:cNvPr id="13" name="Text"/>
          <p:cNvSpPr txBox="1"/>
          <p:nvPr/>
        </p:nvSpPr>
        <p:spPr>
          <a:xfrm>
            <a:off x="4530725" y="2538186"/>
            <a:ext cx="3130550" cy="215900"/>
          </a:xfrm>
          <a:prstGeom prst="rect">
            <a:avLst/>
          </a:prstGeom>
          <a:noFill/>
        </p:spPr>
        <p:txBody>
          <a:bodyPr wrap="none" lIns="0" rIns="0" tIns="0" bIns="0" anchor="t">
            <a:noAutofit/>
          </a:bodyPr>
          <a:lstStyle/>
          <a:p>
            <a:pPr algn="ctr">
              <a:lnSpc>
                <a:spcPts val="1700"/>
              </a:lnSpc>
              <a:spcBef>
                <a:spcPts val="0"/>
              </a:spcBef>
              <a:spcAft>
                <a:spcPts val="0"/>
              </a:spcAft>
            </a:pPr>
            <a:r>
              <a:rPr sz="1250" b="1" i="0">
                <a:solidFill>
                  <a:srgbClr val="5B4BD6"/>
                </a:solidFill>
                <a:latin typeface="Noto Sans"/>
              </a:rPr>
              <a:t>every tool comes back within the week</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3492500"/>
          </a:xfrm>
          <a:prstGeom prst="roundRect">
            <a:avLst>
              <a:gd name="adj" fmla="val 2955"/>
            </a:avLst>
          </a:prstGeom>
          <a:solidFill>
            <a:srgbClr val="5B4BD6"/>
          </a:solidFill>
          <a:ln>
            <a:noFill/>
          </a:ln>
          <a:effectLst/>
        </p:spPr>
        <p:txBody>
          <a:bodyPr rtlCol="0" anchor="ctr"/>
          <a:lstStyle/>
          <a:p>
            <a:pPr algn="ctr"/>
          </a:p>
        </p:txBody>
      </p:sp>
      <p:sp>
        <p:nvSpPr>
          <p:cNvPr id="5" name="Box"/>
          <p:cNvSpPr/>
          <p:nvPr/>
        </p:nvSpPr>
        <p:spPr>
          <a:xfrm>
            <a:off x="762000"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3492500"/>
          </a:xfrm>
          <a:prstGeom prst="roundRect">
            <a:avLst>
              <a:gd name="adj" fmla="val 2955"/>
            </a:avLst>
          </a:prstGeom>
          <a:solidFill>
            <a:srgbClr val="3F9FA6"/>
          </a:solidFill>
          <a:ln>
            <a:noFill/>
          </a:ln>
          <a:effectLst/>
        </p:spPr>
        <p:txBody>
          <a:bodyPr rtlCol="0" anchor="ctr"/>
          <a:lstStyle/>
          <a:p>
            <a:pPr algn="ctr"/>
          </a:p>
        </p:txBody>
      </p:sp>
      <p:sp>
        <p:nvSpPr>
          <p:cNvPr id="9" name="Box"/>
          <p:cNvSpPr/>
          <p:nvPr/>
        </p:nvSpPr>
        <p:spPr>
          <a:xfrm>
            <a:off x="4377234"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3492500"/>
          </a:xfrm>
          <a:prstGeom prst="roundRect">
            <a:avLst>
              <a:gd name="adj" fmla="val 2955"/>
            </a:avLst>
          </a:prstGeom>
          <a:solidFill>
            <a:srgbClr val="2E9E6B"/>
          </a:solidFill>
          <a:ln>
            <a:noFill/>
          </a:ln>
          <a:effectLst/>
        </p:spPr>
        <p:txBody>
          <a:bodyPr rtlCol="0" anchor="ctr"/>
          <a:lstStyle/>
          <a:p>
            <a:pPr algn="ctr"/>
          </a:p>
        </p:txBody>
      </p:sp>
      <p:sp>
        <p:nvSpPr>
          <p:cNvPr id="13" name="Box"/>
          <p:cNvSpPr/>
          <p:nvPr/>
        </p:nvSpPr>
        <p:spPr>
          <a:xfrm>
            <a:off x="7992467"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4191000"/>
          </a:xfrm>
          <a:prstGeom prst="roundRect">
            <a:avLst>
              <a:gd name="adj" fmla="val 2424"/>
            </a:avLst>
          </a:prstGeom>
          <a:solidFill>
            <a:srgbClr val="2E9E6B"/>
          </a:solidFill>
          <a:ln>
            <a:noFill/>
          </a:ln>
          <a:effectLst/>
        </p:spPr>
        <p:txBody>
          <a:bodyPr rtlCol="0" anchor="ctr"/>
          <a:lstStyle/>
          <a:p>
            <a:pPr algn="ctr"/>
          </a:p>
        </p:txBody>
      </p:sp>
      <p:sp>
        <p:nvSpPr>
          <p:cNvPr id="5" name="Box"/>
          <p:cNvSpPr/>
          <p:nvPr/>
        </p:nvSpPr>
        <p:spPr>
          <a:xfrm>
            <a:off x="7620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4191000"/>
          </a:xfrm>
          <a:prstGeom prst="roundRect">
            <a:avLst>
              <a:gd name="adj" fmla="val 2424"/>
            </a:avLst>
          </a:prstGeom>
          <a:solidFill>
            <a:srgbClr val="D0453D"/>
          </a:solidFill>
          <a:ln>
            <a:noFill/>
          </a:ln>
          <a:effectLst/>
        </p:spPr>
        <p:txBody>
          <a:bodyPr rtlCol="0" anchor="ctr"/>
          <a:lstStyle/>
          <a:p>
            <a:pPr algn="ctr"/>
          </a:p>
        </p:txBody>
      </p:sp>
      <p:sp>
        <p:nvSpPr>
          <p:cNvPr id="16" name="Box"/>
          <p:cNvSpPr/>
          <p:nvPr/>
        </p:nvSpPr>
        <p:spPr>
          <a:xfrm>
            <a:off x="61849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