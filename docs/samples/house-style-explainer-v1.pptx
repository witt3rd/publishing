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statement, diagram, cards, story, mapping table, contrast, two columns, section, quote and closing. The tool shed is made up, and so is every number 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jobs. The registrar writes ledger lines. The checker decides what is fit to hang. The host opens the shed.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156841"/>
            <a:ext cx="9810750" cy="1316684"/>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3586758"/>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45594"/>
            <a:ext cx="148469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Box"/>
          <p:cNvSpPr/>
          <p:nvPr/>
        </p:nvSpPr>
        <p:spPr>
          <a:xfrm>
            <a:off x="787400" y="2012950"/>
            <a:ext cx="101600" cy="101600"/>
          </a:xfrm>
          <a:prstGeom prst="roundRect">
            <a:avLst>
              <a:gd name="adj" fmla="val 25000"/>
            </a:avLst>
          </a:prstGeom>
          <a:solidFill>
            <a:srgbClr val="5B4BD6"/>
          </a:solidFill>
          <a:ln>
            <a:noFill/>
          </a:ln>
          <a:effectLst/>
        </p:spPr>
        <p:txBody>
          <a:bodyPr rtlCol="0" anchor="ctr"/>
          <a:lstStyle/>
          <a:p>
            <a:pPr algn="ctr"/>
          </a:p>
        </p:txBody>
      </p:sp>
      <p:sp>
        <p:nvSpPr>
          <p:cNvPr id="5" name="Text"/>
          <p:cNvSpPr txBox="1"/>
          <p:nvPr/>
        </p:nvSpPr>
        <p:spPr>
          <a:xfrm>
            <a:off x="1054100" y="19008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6" name="Box"/>
          <p:cNvSpPr/>
          <p:nvPr/>
        </p:nvSpPr>
        <p:spPr>
          <a:xfrm>
            <a:off x="787400" y="2503785"/>
            <a:ext cx="101600" cy="101600"/>
          </a:xfrm>
          <a:prstGeom prst="roundRect">
            <a:avLst>
              <a:gd name="adj" fmla="val 25000"/>
            </a:avLst>
          </a:prstGeom>
          <a:solidFill>
            <a:srgbClr val="5B4BD6"/>
          </a:solidFill>
          <a:ln>
            <a:noFill/>
          </a:ln>
          <a:effectLst/>
        </p:spPr>
        <p:txBody>
          <a:bodyPr rtlCol="0" anchor="ctr"/>
          <a:lstStyle/>
          <a:p>
            <a:pPr algn="ctr"/>
          </a:p>
        </p:txBody>
      </p:sp>
      <p:sp>
        <p:nvSpPr>
          <p:cNvPr id="7" name="Text"/>
          <p:cNvSpPr txBox="1"/>
          <p:nvPr/>
        </p:nvSpPr>
        <p:spPr>
          <a:xfrm>
            <a:off x="1054100" y="23917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8" name="Box"/>
          <p:cNvSpPr/>
          <p:nvPr/>
        </p:nvSpPr>
        <p:spPr>
          <a:xfrm>
            <a:off x="787400" y="299462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054100" y="28825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0" name="Box"/>
          <p:cNvSpPr/>
          <p:nvPr/>
        </p:nvSpPr>
        <p:spPr>
          <a:xfrm>
            <a:off x="787400" y="348545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054100" y="33733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2" name="Box"/>
          <p:cNvSpPr/>
          <p:nvPr/>
        </p:nvSpPr>
        <p:spPr>
          <a:xfrm>
            <a:off x="787400" y="397629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054100" y="38642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762000" y="1587500"/>
            <a:ext cx="10668000" cy="3683000"/>
          </a:xfrm>
          <a:prstGeom prst="rect">
            <a:avLst/>
          </a:prstGeom>
        </p:spPr>
      </p:pic>
      <p:sp>
        <p:nvSpPr>
          <p:cNvPr id="5" name="Text"/>
          <p:cNvSpPr txBox="1"/>
          <p:nvPr/>
        </p:nvSpPr>
        <p:spPr>
          <a:xfrm>
            <a:off x="1504950" y="376555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543050" y="407035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162425" y="376555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127500" y="407035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842125" y="376555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308725" y="407035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385300" y="376555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105900" y="407035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625975" y="279400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680541"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IN SHORT</a:t>
            </a:r>
          </a:p>
        </p:txBody>
      </p:sp>
      <p:sp>
        <p:nvSpPr>
          <p:cNvPr id="16" name="Text"/>
          <p:cNvSpPr txBox="1"/>
          <p:nvPr/>
        </p:nvSpPr>
        <p:spPr>
          <a:xfrm>
            <a:off x="1848941" y="5648770"/>
            <a:ext cx="5906072"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A tool that comes back clean is why the hooks never stay empty.</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Three volunteers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THREE JOBS</a:t>
            </a:r>
          </a:p>
        </p:txBody>
      </p:sp>
      <p:sp>
        <p:nvSpPr>
          <p:cNvPr id="4" name="Box"/>
          <p:cNvSpPr/>
          <p:nvPr/>
        </p:nvSpPr>
        <p:spPr>
          <a:xfrm>
            <a:off x="762000" y="1778000"/>
            <a:ext cx="3437434" cy="3492500"/>
          </a:xfrm>
          <a:prstGeom prst="roundRect">
            <a:avLst>
              <a:gd name="adj" fmla="val 2955"/>
            </a:avLst>
          </a:prstGeom>
          <a:solidFill>
            <a:srgbClr val="5B4BD6"/>
          </a:solidFill>
          <a:ln>
            <a:noFill/>
          </a:ln>
          <a:effectLst/>
        </p:spPr>
        <p:txBody>
          <a:bodyPr rtlCol="0" anchor="ctr"/>
          <a:lstStyle/>
          <a:p>
            <a:pPr algn="ctr"/>
          </a:p>
        </p:txBody>
      </p:sp>
      <p:sp>
        <p:nvSpPr>
          <p:cNvPr id="5" name="Box"/>
          <p:cNvSpPr/>
          <p:nvPr/>
        </p:nvSpPr>
        <p:spPr>
          <a:xfrm>
            <a:off x="762000"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6" name="Text"/>
          <p:cNvSpPr txBox="1"/>
          <p:nvPr/>
        </p:nvSpPr>
        <p:spPr>
          <a:xfrm>
            <a:off x="965200"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7" name="Text"/>
          <p:cNvSpPr txBox="1"/>
          <p:nvPr/>
        </p:nvSpPr>
        <p:spPr>
          <a:xfrm>
            <a:off x="965200" y="2399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8" name="Box"/>
          <p:cNvSpPr/>
          <p:nvPr/>
        </p:nvSpPr>
        <p:spPr>
          <a:xfrm>
            <a:off x="4377234" y="1778000"/>
            <a:ext cx="3437434" cy="3492500"/>
          </a:xfrm>
          <a:prstGeom prst="roundRect">
            <a:avLst>
              <a:gd name="adj" fmla="val 2955"/>
            </a:avLst>
          </a:prstGeom>
          <a:solidFill>
            <a:srgbClr val="3F9FA6"/>
          </a:solidFill>
          <a:ln>
            <a:noFill/>
          </a:ln>
          <a:effectLst/>
        </p:spPr>
        <p:txBody>
          <a:bodyPr rtlCol="0" anchor="ctr"/>
          <a:lstStyle/>
          <a:p>
            <a:pPr algn="ctr"/>
          </a:p>
        </p:txBody>
      </p:sp>
      <p:sp>
        <p:nvSpPr>
          <p:cNvPr id="9" name="Box"/>
          <p:cNvSpPr/>
          <p:nvPr/>
        </p:nvSpPr>
        <p:spPr>
          <a:xfrm>
            <a:off x="4377234"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0" name="Text"/>
          <p:cNvSpPr txBox="1"/>
          <p:nvPr/>
        </p:nvSpPr>
        <p:spPr>
          <a:xfrm>
            <a:off x="4580434"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1" name="Text"/>
          <p:cNvSpPr txBox="1"/>
          <p:nvPr/>
        </p:nvSpPr>
        <p:spPr>
          <a:xfrm>
            <a:off x="4580434" y="2399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2" name="Box"/>
          <p:cNvSpPr/>
          <p:nvPr/>
        </p:nvSpPr>
        <p:spPr>
          <a:xfrm>
            <a:off x="7992467" y="1778000"/>
            <a:ext cx="3437434" cy="3492500"/>
          </a:xfrm>
          <a:prstGeom prst="roundRect">
            <a:avLst>
              <a:gd name="adj" fmla="val 2955"/>
            </a:avLst>
          </a:prstGeom>
          <a:solidFill>
            <a:srgbClr val="2E9E6B"/>
          </a:solidFill>
          <a:ln>
            <a:noFill/>
          </a:ln>
          <a:effectLst/>
        </p:spPr>
        <p:txBody>
          <a:bodyPr rtlCol="0" anchor="ctr"/>
          <a:lstStyle/>
          <a:p>
            <a:pPr algn="ctr"/>
          </a:p>
        </p:txBody>
      </p:sp>
      <p:sp>
        <p:nvSpPr>
          <p:cNvPr id="13" name="Box"/>
          <p:cNvSpPr/>
          <p:nvPr/>
        </p:nvSpPr>
        <p:spPr>
          <a:xfrm>
            <a:off x="7992467"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4" name="Text"/>
          <p:cNvSpPr txBox="1"/>
          <p:nvPr/>
        </p:nvSpPr>
        <p:spPr>
          <a:xfrm>
            <a:off x="8195667"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5" name="Text"/>
          <p:cNvSpPr txBox="1"/>
          <p:nvPr/>
        </p:nvSpPr>
        <p:spPr>
          <a:xfrm>
            <a:off x="8195667" y="2399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1042988"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WHY IT WORKS</a:t>
            </a:r>
          </a:p>
        </p:txBody>
      </p:sp>
      <p:sp>
        <p:nvSpPr>
          <p:cNvPr id="18" name="Text"/>
          <p:cNvSpPr txBox="1"/>
          <p:nvPr/>
        </p:nvSpPr>
        <p:spPr>
          <a:xfrm>
            <a:off x="2211388" y="5648770"/>
            <a:ext cx="685444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Each job is small and has one test, so a new volunteer can start in an hour.</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Box"/>
          <p:cNvSpPr/>
          <p:nvPr/>
        </p:nvSpPr>
        <p:spPr>
          <a:xfrm>
            <a:off x="762000" y="1905000"/>
            <a:ext cx="5245100" cy="4191000"/>
          </a:xfrm>
          <a:prstGeom prst="roundRect">
            <a:avLst>
              <a:gd name="adj" fmla="val 2424"/>
            </a:avLst>
          </a:prstGeom>
          <a:solidFill>
            <a:srgbClr val="2E9E6B"/>
          </a:solidFill>
          <a:ln>
            <a:noFill/>
          </a:ln>
          <a:effectLst/>
        </p:spPr>
        <p:txBody>
          <a:bodyPr rtlCol="0" anchor="ctr"/>
          <a:lstStyle/>
          <a:p>
            <a:pPr algn="ctr"/>
          </a:p>
        </p:txBody>
      </p:sp>
      <p:sp>
        <p:nvSpPr>
          <p:cNvPr id="5" name="Box"/>
          <p:cNvSpPr/>
          <p:nvPr/>
        </p:nvSpPr>
        <p:spPr>
          <a:xfrm>
            <a:off x="7620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6" name="Text"/>
          <p:cNvSpPr txBox="1"/>
          <p:nvPr/>
        </p:nvSpPr>
        <p:spPr>
          <a:xfrm>
            <a:off x="9652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9906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573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9906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573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9906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573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9906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573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1905000"/>
            <a:ext cx="5245100" cy="4191000"/>
          </a:xfrm>
          <a:prstGeom prst="roundRect">
            <a:avLst>
              <a:gd name="adj" fmla="val 2424"/>
            </a:avLst>
          </a:prstGeom>
          <a:solidFill>
            <a:srgbClr val="D0453D"/>
          </a:solidFill>
          <a:ln>
            <a:noFill/>
          </a:ln>
          <a:effectLst/>
        </p:spPr>
        <p:txBody>
          <a:bodyPr rtlCol="0" anchor="ctr"/>
          <a:lstStyle/>
          <a:p>
            <a:pPr algn="ctr"/>
          </a:p>
        </p:txBody>
      </p:sp>
      <p:sp>
        <p:nvSpPr>
          <p:cNvPr id="16" name="Box"/>
          <p:cNvSpPr/>
          <p:nvPr/>
        </p:nvSpPr>
        <p:spPr>
          <a:xfrm>
            <a:off x="61849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17" name="Text"/>
          <p:cNvSpPr txBox="1"/>
          <p:nvPr/>
        </p:nvSpPr>
        <p:spPr>
          <a:xfrm>
            <a:off x="63881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8" name="Box"/>
          <p:cNvSpPr/>
          <p:nvPr/>
        </p:nvSpPr>
        <p:spPr>
          <a:xfrm>
            <a:off x="64135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19" name="Text"/>
          <p:cNvSpPr txBox="1"/>
          <p:nvPr/>
        </p:nvSpPr>
        <p:spPr>
          <a:xfrm>
            <a:off x="66802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0" name="Box"/>
          <p:cNvSpPr/>
          <p:nvPr/>
        </p:nvSpPr>
        <p:spPr>
          <a:xfrm>
            <a:off x="64135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21" name="Text"/>
          <p:cNvSpPr txBox="1"/>
          <p:nvPr/>
        </p:nvSpPr>
        <p:spPr>
          <a:xfrm>
            <a:off x="66802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2" name="Box"/>
          <p:cNvSpPr/>
          <p:nvPr/>
        </p:nvSpPr>
        <p:spPr>
          <a:xfrm>
            <a:off x="64135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23" name="Text"/>
          <p:cNvSpPr txBox="1"/>
          <p:nvPr/>
        </p:nvSpPr>
        <p:spPr>
          <a:xfrm>
            <a:off x="66802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4" name="Box"/>
          <p:cNvSpPr/>
          <p:nvPr/>
        </p:nvSpPr>
        <p:spPr>
          <a:xfrm>
            <a:off x="64135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25" name="Text"/>
          <p:cNvSpPr txBox="1"/>
          <p:nvPr/>
        </p:nvSpPr>
        <p:spPr>
          <a:xfrm>
            <a:off x="66802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6"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16752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24184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482600" y="1625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5" name="Text"/>
          <p:cNvSpPr txBox="1"/>
          <p:nvPr/>
        </p:nvSpPr>
        <p:spPr>
          <a:xfrm>
            <a:off x="1168400" y="1900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6" name="Text"/>
          <p:cNvSpPr txBox="1"/>
          <p:nvPr/>
        </p:nvSpPr>
        <p:spPr>
          <a:xfrm>
            <a:off x="1168400" y="3038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8"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9"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