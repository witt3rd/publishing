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is an invented example. It shows every kind of slide in the explainer format: title, statement, diagram, cards, story, mapping table, contrast, two columns, section, quote and closing. The tool shed is made up, and so is every number in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ideas carry the deck: borrow for a week, clean it, hang it back, and the ledger line that lets the next borrower trust the tool. All of it is an invented example.</a:t>
            </a:r>
          </a:p>
          <a:p/>
          <a:p>
            <a:r>
              <a:t>Source: Invented example; no real shed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it left to right. Neighbours give spare tools. The ledger gets one line per tool. The shed hangs them on labelled hooks. Borrowers use them and bring them back along the top arrow. That arrow is the whole idea: it is why the hooks never stay empty.</a:t>
            </a:r>
          </a:p>
          <a:p/>
          <a:p>
            <a:r>
              <a:t>Source: Invented example; diagram drawn for this deck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jobs. The registrar writes ledger lines. The checker decides what is fit to hang. The host opens the shed. The lesson: every job has a single test, which is why a new volunteer is useful quickly.</a:t>
            </a:r>
          </a:p>
          <a:p/>
          <a:p>
            <a:r>
              <a:t>Source: Invented example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story is invented. The point is its shape: what went wrong, why it got through, and the rule that came out of it. A good story slide ends with a rule a newcomer can apply next time.</a:t>
            </a:r>
          </a:p>
          <a:p/>
          <a:p>
            <a:r>
              <a:t>Source: Invented example; no real incident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mapping table helps the audience reuse what they already know. Same means the habit carries over unchanged; differs means we chose another way; ahead and behind mark where the shed is simpler or thinner.</a:t>
            </a:r>
          </a:p>
          <a:p/>
          <a:p>
            <a:r>
              <a:t>Source: Invented example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contrast has two cards, then three small examples of the change in practice. Say the before in one breath, the now in one breath, and let the examples carry the detail.</a:t>
            </a:r>
          </a:p>
          <a:p/>
          <a:p>
            <a:r>
              <a:t>Source: Invented example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columns, one for what works and one for what does not. Keep each list to four short lines.</a:t>
            </a:r>
          </a:p>
          <a:p/>
          <a:p>
            <a:r>
              <a:t>Source: Invented example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section slide marks a change of subject. Say what comes next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quote slide: read it slowly, then say why it matters. This quote is invented.</a:t>
            </a:r>
          </a:p>
          <a:p/>
          <a:p>
            <a:r>
              <a:t>Source: Invented example; no real person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three figures. They are invented: forty tools, three hundred and twelve loans, and one hour to learn a job.</a:t>
            </a:r>
          </a:p>
          <a:p/>
          <a:p>
            <a:r>
              <a:t>Source: Invented example; every figure is made up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D2433"/>
        </a:solidFill>
        <a:effectLst/>
      </p:bgPr>
    </p:bg>
    <p:spTree>
      <p:nvGrpSpPr>
        <p:cNvPr id="1" name=""/>
        <p:cNvGrpSpPr/>
        <p:nvPr/>
      </p:nvGrpSpPr>
      <p:grpSpPr/>
      <p:sp>
        <p:nvSpPr>
          <p:cNvPr id="2" name="Title 1"/>
          <p:cNvSpPr>
            <a:spLocks noGrp="1"/>
          </p:cNvSpPr>
          <p:nvPr>
            <p:ph type="title"/>
          </p:nvPr>
        </p:nvSpPr>
        <p:spPr>
          <a:xfrm>
            <a:off x="1016000" y="2156841"/>
            <a:ext cx="9810750" cy="1316684"/>
          </a:xfrm>
        </p:spPr>
        <p:txBody>
          <a:bodyPr wrap="square" lIns="0" rIns="0" tIns="0" bIns="0" anchor="t">
            <a:noAutofit/>
          </a:bodyPr>
          <a:lstStyle/>
          <a:p>
            <a:pPr algn="l">
              <a:lnSpc>
                <a:spcPts val="5184"/>
              </a:lnSpc>
              <a:spcBef>
                <a:spcPts val="0"/>
              </a:spcBef>
              <a:spcAft>
                <a:spcPts val="0"/>
              </a:spcAft>
            </a:pPr>
            <a:r>
              <a:rPr sz="4800" b="1" i="0" spc="-48">
                <a:solidFill>
                  <a:srgbClr val="FFFFFF"/>
                </a:solidFill>
                <a:latin typeface="Noto Sans"/>
              </a:rPr>
              <a:t>How a community tool shed runs</a:t>
            </a:r>
          </a:p>
        </p:txBody>
      </p:sp>
      <p:sp>
        <p:nvSpPr>
          <p:cNvPr id="3" name="Text"/>
          <p:cNvSpPr txBox="1"/>
          <p:nvPr/>
        </p:nvSpPr>
        <p:spPr>
          <a:xfrm>
            <a:off x="1016000" y="889114"/>
            <a:ext cx="10464800" cy="190271"/>
          </a:xfrm>
          <a:prstGeom prst="rect">
            <a:avLst/>
          </a:prstGeom>
          <a:noFill/>
        </p:spPr>
        <p:txBody>
          <a:bodyPr wrap="square" lIns="0" rIns="0" tIns="0" bIns="0" anchor="t">
            <a:noAutofit/>
          </a:bodyPr>
          <a:lstStyle/>
          <a:p>
            <a:pPr algn="l">
              <a:lnSpc>
                <a:spcPts val="1498"/>
              </a:lnSpc>
              <a:spcBef>
                <a:spcPts val="0"/>
              </a:spcBef>
              <a:spcAft>
                <a:spcPts val="0"/>
              </a:spcAft>
            </a:pPr>
            <a:r>
              <a:rPr sz="1100" b="1" i="0" spc="154">
                <a:solidFill>
                  <a:srgbClr val="B3A9FF"/>
                </a:solidFill>
                <a:latin typeface="Noto Sans"/>
              </a:rPr>
              <a:t>WORKED EXAMPLE · AN INVENTED TOPIC</a:t>
            </a:r>
          </a:p>
        </p:txBody>
      </p:sp>
      <p:sp>
        <p:nvSpPr>
          <p:cNvPr id="4" name="Text"/>
          <p:cNvSpPr txBox="1"/>
          <p:nvPr/>
        </p:nvSpPr>
        <p:spPr>
          <a:xfrm>
            <a:off x="1016000" y="3586758"/>
            <a:ext cx="9156700" cy="317500"/>
          </a:xfrm>
          <a:prstGeom prst="rect">
            <a:avLst/>
          </a:prstGeom>
          <a:noFill/>
        </p:spPr>
        <p:txBody>
          <a:bodyPr wrap="square" lIns="0" rIns="0" tIns="0" bIns="0" anchor="t">
            <a:noAutofit/>
          </a:bodyPr>
          <a:lstStyle/>
          <a:p>
            <a:pPr algn="l">
              <a:lnSpc>
                <a:spcPts val="2500"/>
              </a:lnSpc>
              <a:spcBef>
                <a:spcPts val="0"/>
              </a:spcBef>
              <a:spcAft>
                <a:spcPts val="0"/>
              </a:spcAft>
            </a:pPr>
            <a:r>
              <a:rPr sz="2000" b="0" i="0">
                <a:solidFill>
                  <a:srgbClr val="C9CBE0"/>
                </a:solidFill>
                <a:latin typeface="Noto Sans"/>
              </a:rPr>
              <a:t>Lend a drill on Saturday, get it back by Friday: a shed that stays stocked.</a:t>
            </a:r>
          </a:p>
        </p:txBody>
      </p:sp>
      <p:sp>
        <p:nvSpPr>
          <p:cNvPr id="5" name="Text"/>
          <p:cNvSpPr txBox="1"/>
          <p:nvPr/>
        </p:nvSpPr>
        <p:spPr>
          <a:xfrm>
            <a:off x="1016000" y="5612422"/>
            <a:ext cx="1680908" cy="294056"/>
          </a:xfrm>
          <a:prstGeom prst="rect">
            <a:avLst/>
          </a:prstGeom>
          <a:noFill/>
        </p:spPr>
        <p:txBody>
          <a:bodyPr wrap="square" lIns="0" rIns="0" tIns="0" bIns="0" anchor="t">
            <a:noAutofit/>
          </a:bodyPr>
          <a:lstStyle/>
          <a:p>
            <a:pPr algn="l">
              <a:lnSpc>
                <a:spcPts val="2315"/>
              </a:lnSpc>
              <a:spcBef>
                <a:spcPts val="0"/>
              </a:spcBef>
              <a:spcAft>
                <a:spcPts val="0"/>
              </a:spcAft>
            </a:pPr>
            <a:r>
              <a:rPr sz="1700" b="0" i="0">
                <a:solidFill>
                  <a:srgbClr val="C9CBE0"/>
                </a:solidFill>
                <a:latin typeface="Noto Sans"/>
              </a:rPr>
              <a:t>Example Author</a:t>
            </a:r>
          </a:p>
        </p:txBody>
      </p:sp>
      <p:sp>
        <p:nvSpPr>
          <p:cNvPr id="6" name="Box"/>
          <p:cNvSpPr/>
          <p:nvPr/>
        </p:nvSpPr>
        <p:spPr>
          <a:xfrm>
            <a:off x="762000" y="6369050"/>
            <a:ext cx="10668000" cy="6350"/>
          </a:xfrm>
          <a:prstGeom prst="rect">
            <a:avLst/>
          </a:prstGeom>
          <a:solidFill>
            <a:srgbClr val="3A4256"/>
          </a:solidFill>
          <a:ln>
            <a:noFill/>
          </a:ln>
          <a:effectLst/>
        </p:spPr>
        <p:txBody>
          <a:bodyPr rtlCol="0" anchor="ctr"/>
          <a:lstStyle/>
          <a:p>
            <a:pPr algn="ctr"/>
          </a:p>
        </p:txBody>
      </p:sp>
      <p:sp>
        <p:nvSpPr>
          <p:cNvPr id="7" name="Text"/>
          <p:cNvSpPr txBox="1"/>
          <p:nvPr/>
        </p:nvSpPr>
        <p:spPr>
          <a:xfrm>
            <a:off x="11150600" y="6495561"/>
            <a:ext cx="287782" cy="147028"/>
          </a:xfrm>
          <a:prstGeom prst="rect">
            <a:avLst/>
          </a:prstGeom>
          <a:noFill/>
        </p:spPr>
        <p:txBody>
          <a:bodyPr wrap="square" lIns="0" rIns="0" tIns="0" bIns="0" anchor="t">
            <a:noAutofit/>
          </a:bodyPr>
          <a:lstStyle/>
          <a:p>
            <a:pPr algn="l">
              <a:lnSpc>
                <a:spcPts val="1157"/>
              </a:lnSpc>
              <a:spcBef>
                <a:spcPts val="0"/>
              </a:spcBef>
              <a:spcAft>
                <a:spcPts val="0"/>
              </a:spcAft>
            </a:pPr>
            <a:r>
              <a:rPr sz="850" b="0" i="0">
                <a:solidFill>
                  <a:srgbClr val="8F93AD"/>
                </a:solidFill>
                <a:latin typeface="Noto Sans"/>
              </a:rPr>
              <a:t>1 / 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itle 1"/>
          <p:cNvSpPr>
            <a:spLocks noGrp="1"/>
          </p:cNvSpPr>
          <p:nvPr>
            <p:ph type="title"/>
          </p:nvPr>
        </p:nvSpPr>
        <p:spPr>
          <a:xfrm>
            <a:off x="762000" y="837819"/>
            <a:ext cx="10988040" cy="438912"/>
          </a:xfrm>
        </p:spPr>
        <p:txBody>
          <a:bodyPr wrap="square" lIns="0" rIns="0" tIns="0" bIns="0" anchor="t">
            <a:noAutofit/>
          </a:bodyPr>
          <a:lstStyle/>
          <a:p>
            <a:pPr algn="l">
              <a:lnSpc>
                <a:spcPts val="3456"/>
              </a:lnSpc>
              <a:spcBef>
                <a:spcPts val="0"/>
              </a:spcBef>
              <a:spcAft>
                <a:spcPts val="0"/>
              </a:spcAft>
            </a:pPr>
            <a:r>
              <a:rPr sz="3200" b="1" i="0" spc="-32">
                <a:solidFill>
                  <a:srgbClr val="1D2433"/>
                </a:solidFill>
                <a:latin typeface="Noto Sans"/>
              </a:rPr>
              <a:t>A tool shed lends tools, and expects them back</a:t>
            </a:r>
          </a:p>
        </p:txBody>
      </p:sp>
      <p:sp>
        <p:nvSpPr>
          <p:cNvPr id="3" name="Text"/>
          <p:cNvSpPr txBox="1"/>
          <p:nvPr/>
        </p:nvSpPr>
        <p:spPr>
          <a:xfrm>
            <a:off x="762000" y="558914"/>
            <a:ext cx="10988040" cy="190271"/>
          </a:xfrm>
          <a:prstGeom prst="rect">
            <a:avLst/>
          </a:prstGeom>
          <a:noFill/>
        </p:spPr>
        <p:txBody>
          <a:bodyPr wrap="square" lIns="0" rIns="0" tIns="0" bIns="0" anchor="t">
            <a:noAutofit/>
          </a:bodyPr>
          <a:lstStyle/>
          <a:p>
            <a:pPr algn="l">
              <a:lnSpc>
                <a:spcPts val="1498"/>
              </a:lnSpc>
              <a:spcBef>
                <a:spcPts val="0"/>
              </a:spcBef>
              <a:spcAft>
                <a:spcPts val="0"/>
              </a:spcAft>
            </a:pPr>
            <a:r>
              <a:rPr sz="1100" b="1" i="0" spc="154">
                <a:solidFill>
                  <a:srgbClr val="5B4BD6"/>
                </a:solidFill>
                <a:latin typeface="Noto Sans"/>
              </a:rPr>
              <a:t>THE POINT</a:t>
            </a:r>
          </a:p>
        </p:txBody>
      </p:sp>
      <p:sp>
        <p:nvSpPr>
          <p:cNvPr id="4" name="Box"/>
          <p:cNvSpPr/>
          <p:nvPr/>
        </p:nvSpPr>
        <p:spPr>
          <a:xfrm>
            <a:off x="787400" y="2012950"/>
            <a:ext cx="101600" cy="101600"/>
          </a:xfrm>
          <a:prstGeom prst="roundRect">
            <a:avLst>
              <a:gd name="adj" fmla="val 25000"/>
            </a:avLst>
          </a:prstGeom>
          <a:solidFill>
            <a:srgbClr val="5B4BD6"/>
          </a:solidFill>
          <a:ln>
            <a:noFill/>
          </a:ln>
          <a:effectLst/>
        </p:spPr>
        <p:txBody>
          <a:bodyPr rtlCol="0" anchor="ctr"/>
          <a:lstStyle/>
          <a:p>
            <a:pPr algn="ctr"/>
          </a:p>
        </p:txBody>
      </p:sp>
      <p:sp>
        <p:nvSpPr>
          <p:cNvPr id="5" name="Text"/>
          <p:cNvSpPr txBox="1"/>
          <p:nvPr/>
        </p:nvSpPr>
        <p:spPr>
          <a:xfrm>
            <a:off x="1054100" y="1900873"/>
            <a:ext cx="9902317" cy="325755"/>
          </a:xfrm>
          <a:prstGeom prst="rect">
            <a:avLst/>
          </a:prstGeom>
          <a:noFill/>
        </p:spPr>
        <p:txBody>
          <a:bodyPr wrap="square" lIns="0" rIns="0" tIns="0" bIns="0" anchor="t">
            <a:noAutofit/>
          </a:bodyPr>
          <a:lstStyle/>
          <a:p>
            <a:pPr algn="l">
              <a:lnSpc>
                <a:spcPts val="2565"/>
              </a:lnSpc>
              <a:spcBef>
                <a:spcPts val="0"/>
              </a:spcBef>
              <a:spcAft>
                <a:spcPts val="0"/>
              </a:spcAft>
            </a:pPr>
            <a:r>
              <a:rPr sz="1900" b="0" i="0">
                <a:solidFill>
                  <a:srgbClr val="1D2433"/>
                </a:solidFill>
                <a:latin typeface="Noto Sans"/>
              </a:rPr>
              <a:t>Neighbours </a:t>
            </a:r>
            <a:r>
              <a:rPr sz="1900" b="1" i="0">
                <a:solidFill>
                  <a:srgbClr val="1D2433"/>
                </a:solidFill>
                <a:latin typeface="Noto Sans"/>
              </a:rPr>
              <a:t>borrow a tool</a:t>
            </a:r>
            <a:r>
              <a:rPr sz="1900" b="0" i="0">
                <a:solidFill>
                  <a:srgbClr val="1D2433"/>
                </a:solidFill>
                <a:latin typeface="Noto Sans"/>
              </a:rPr>
              <a:t> for a week, free, with a name in the ledger.</a:t>
            </a:r>
          </a:p>
        </p:txBody>
      </p:sp>
      <p:sp>
        <p:nvSpPr>
          <p:cNvPr id="6" name="Box"/>
          <p:cNvSpPr/>
          <p:nvPr/>
        </p:nvSpPr>
        <p:spPr>
          <a:xfrm>
            <a:off x="787400" y="2503785"/>
            <a:ext cx="101600" cy="101600"/>
          </a:xfrm>
          <a:prstGeom prst="roundRect">
            <a:avLst>
              <a:gd name="adj" fmla="val 25000"/>
            </a:avLst>
          </a:prstGeom>
          <a:solidFill>
            <a:srgbClr val="5B4BD6"/>
          </a:solidFill>
          <a:ln>
            <a:noFill/>
          </a:ln>
          <a:effectLst/>
        </p:spPr>
        <p:txBody>
          <a:bodyPr rtlCol="0" anchor="ctr"/>
          <a:lstStyle/>
          <a:p>
            <a:pPr algn="ctr"/>
          </a:p>
        </p:txBody>
      </p:sp>
      <p:sp>
        <p:nvSpPr>
          <p:cNvPr id="7" name="Text"/>
          <p:cNvSpPr txBox="1"/>
          <p:nvPr/>
        </p:nvSpPr>
        <p:spPr>
          <a:xfrm>
            <a:off x="1054100" y="2391708"/>
            <a:ext cx="9902317" cy="325755"/>
          </a:xfrm>
          <a:prstGeom prst="rect">
            <a:avLst/>
          </a:prstGeom>
          <a:noFill/>
        </p:spPr>
        <p:txBody>
          <a:bodyPr wrap="square" lIns="0" rIns="0" tIns="0" bIns="0" anchor="t">
            <a:noAutofit/>
          </a:bodyPr>
          <a:lstStyle/>
          <a:p>
            <a:pPr algn="l">
              <a:lnSpc>
                <a:spcPts val="2565"/>
              </a:lnSpc>
              <a:spcBef>
                <a:spcPts val="0"/>
              </a:spcBef>
              <a:spcAft>
                <a:spcPts val="0"/>
              </a:spcAft>
            </a:pPr>
            <a:r>
              <a:rPr sz="1900" b="0" i="0">
                <a:solidFill>
                  <a:srgbClr val="1D2433"/>
                </a:solidFill>
                <a:latin typeface="Noto Sans"/>
              </a:rPr>
              <a:t>They use it, </a:t>
            </a:r>
            <a:r>
              <a:rPr sz="1900" b="1" i="0">
                <a:solidFill>
                  <a:srgbClr val="1D2433"/>
                </a:solidFill>
                <a:latin typeface="Noto Sans"/>
              </a:rPr>
              <a:t>clean it</a:t>
            </a:r>
            <a:r>
              <a:rPr sz="1900" b="0" i="0">
                <a:solidFill>
                  <a:srgbClr val="1D2433"/>
                </a:solidFill>
                <a:latin typeface="Noto Sans"/>
              </a:rPr>
              <a:t> and hang it back on its own hook.</a:t>
            </a:r>
          </a:p>
        </p:txBody>
      </p:sp>
      <p:sp>
        <p:nvSpPr>
          <p:cNvPr id="8" name="Box"/>
          <p:cNvSpPr/>
          <p:nvPr/>
        </p:nvSpPr>
        <p:spPr>
          <a:xfrm>
            <a:off x="787400" y="2994620"/>
            <a:ext cx="101600" cy="101600"/>
          </a:xfrm>
          <a:prstGeom prst="roundRect">
            <a:avLst>
              <a:gd name="adj" fmla="val 25000"/>
            </a:avLst>
          </a:prstGeom>
          <a:solidFill>
            <a:srgbClr val="5B4BD6"/>
          </a:solidFill>
          <a:ln>
            <a:noFill/>
          </a:ln>
          <a:effectLst/>
        </p:spPr>
        <p:txBody>
          <a:bodyPr rtlCol="0" anchor="ctr"/>
          <a:lstStyle/>
          <a:p>
            <a:pPr algn="ctr"/>
          </a:p>
        </p:txBody>
      </p:sp>
      <p:sp>
        <p:nvSpPr>
          <p:cNvPr id="9" name="Text"/>
          <p:cNvSpPr txBox="1"/>
          <p:nvPr/>
        </p:nvSpPr>
        <p:spPr>
          <a:xfrm>
            <a:off x="1054100" y="2882543"/>
            <a:ext cx="9902317" cy="325755"/>
          </a:xfrm>
          <a:prstGeom prst="rect">
            <a:avLst/>
          </a:prstGeom>
          <a:noFill/>
        </p:spPr>
        <p:txBody>
          <a:bodyPr wrap="square" lIns="0" rIns="0" tIns="0" bIns="0" anchor="t">
            <a:noAutofit/>
          </a:bodyPr>
          <a:lstStyle/>
          <a:p>
            <a:pPr algn="l">
              <a:lnSpc>
                <a:spcPts val="2565"/>
              </a:lnSpc>
              <a:spcBef>
                <a:spcPts val="0"/>
              </a:spcBef>
              <a:spcAft>
                <a:spcPts val="0"/>
              </a:spcAft>
            </a:pPr>
            <a:r>
              <a:rPr sz="1900" b="0" i="0">
                <a:solidFill>
                  <a:srgbClr val="1D2433"/>
                </a:solidFill>
                <a:latin typeface="Noto Sans"/>
              </a:rPr>
              <a:t>Every tool has a </a:t>
            </a:r>
            <a:r>
              <a:rPr sz="1900" b="1" i="0">
                <a:solidFill>
                  <a:srgbClr val="1D2433"/>
                </a:solidFill>
                <a:latin typeface="Noto Sans"/>
              </a:rPr>
              <a:t>ledger line</a:t>
            </a:r>
            <a:r>
              <a:rPr sz="1900" b="0" i="0">
                <a:solidFill>
                  <a:srgbClr val="1D2433"/>
                </a:solidFill>
                <a:latin typeface="Noto Sans"/>
              </a:rPr>
              <a:t>: what it is, its condition, who gave it.</a:t>
            </a:r>
          </a:p>
        </p:txBody>
      </p:sp>
      <p:sp>
        <p:nvSpPr>
          <p:cNvPr id="10" name="Box"/>
          <p:cNvSpPr/>
          <p:nvPr/>
        </p:nvSpPr>
        <p:spPr>
          <a:xfrm>
            <a:off x="787400" y="3485455"/>
            <a:ext cx="101600" cy="101600"/>
          </a:xfrm>
          <a:prstGeom prst="roundRect">
            <a:avLst>
              <a:gd name="adj" fmla="val 25000"/>
            </a:avLst>
          </a:prstGeom>
          <a:solidFill>
            <a:srgbClr val="5B4BD6"/>
          </a:solidFill>
          <a:ln>
            <a:noFill/>
          </a:ln>
          <a:effectLst/>
        </p:spPr>
        <p:txBody>
          <a:bodyPr rtlCol="0" anchor="ctr"/>
          <a:lstStyle/>
          <a:p>
            <a:pPr algn="ctr"/>
          </a:p>
        </p:txBody>
      </p:sp>
      <p:sp>
        <p:nvSpPr>
          <p:cNvPr id="11" name="Text"/>
          <p:cNvSpPr txBox="1"/>
          <p:nvPr/>
        </p:nvSpPr>
        <p:spPr>
          <a:xfrm>
            <a:off x="1054100" y="3373378"/>
            <a:ext cx="9902317" cy="325755"/>
          </a:xfrm>
          <a:prstGeom prst="rect">
            <a:avLst/>
          </a:prstGeom>
          <a:noFill/>
        </p:spPr>
        <p:txBody>
          <a:bodyPr wrap="square" lIns="0" rIns="0" tIns="0" bIns="0" anchor="t">
            <a:noAutofit/>
          </a:bodyPr>
          <a:lstStyle/>
          <a:p>
            <a:pPr algn="l">
              <a:lnSpc>
                <a:spcPts val="2565"/>
              </a:lnSpc>
              <a:spcBef>
                <a:spcPts val="0"/>
              </a:spcBef>
              <a:spcAft>
                <a:spcPts val="0"/>
              </a:spcAft>
            </a:pPr>
            <a:r>
              <a:rPr sz="1900" b="0" i="0">
                <a:solidFill>
                  <a:srgbClr val="1D2433"/>
                </a:solidFill>
                <a:latin typeface="Noto Sans"/>
              </a:rPr>
              <a:t>Because tools come back, the shed </a:t>
            </a:r>
            <a:r>
              <a:rPr sz="1900" b="1" i="0">
                <a:solidFill>
                  <a:srgbClr val="1D2433"/>
                </a:solidFill>
                <a:latin typeface="Noto Sans"/>
              </a:rPr>
              <a:t>needs no budget</a:t>
            </a:r>
            <a:r>
              <a:rPr sz="1900" b="0" i="0">
                <a:solidFill>
                  <a:srgbClr val="1D2433"/>
                </a:solidFill>
                <a:latin typeface="Noto Sans"/>
              </a:rPr>
              <a:t> beyond blades and oil.</a:t>
            </a:r>
          </a:p>
        </p:txBody>
      </p:sp>
      <p:sp>
        <p:nvSpPr>
          <p:cNvPr id="12" name="Box"/>
          <p:cNvSpPr/>
          <p:nvPr/>
        </p:nvSpPr>
        <p:spPr>
          <a:xfrm>
            <a:off x="787400" y="3976291"/>
            <a:ext cx="101600" cy="101600"/>
          </a:xfrm>
          <a:prstGeom prst="roundRect">
            <a:avLst>
              <a:gd name="adj" fmla="val 25000"/>
            </a:avLst>
          </a:prstGeom>
          <a:solidFill>
            <a:srgbClr val="5B4BD6"/>
          </a:solidFill>
          <a:ln>
            <a:noFill/>
          </a:ln>
          <a:effectLst/>
        </p:spPr>
        <p:txBody>
          <a:bodyPr rtlCol="0" anchor="ctr"/>
          <a:lstStyle/>
          <a:p>
            <a:pPr algn="ctr"/>
          </a:p>
        </p:txBody>
      </p:sp>
      <p:sp>
        <p:nvSpPr>
          <p:cNvPr id="13" name="Text"/>
          <p:cNvSpPr txBox="1"/>
          <p:nvPr/>
        </p:nvSpPr>
        <p:spPr>
          <a:xfrm>
            <a:off x="1054100" y="3864213"/>
            <a:ext cx="9902317" cy="325755"/>
          </a:xfrm>
          <a:prstGeom prst="rect">
            <a:avLst/>
          </a:prstGeom>
          <a:noFill/>
        </p:spPr>
        <p:txBody>
          <a:bodyPr wrap="square" lIns="0" rIns="0" tIns="0" bIns="0" anchor="t">
            <a:noAutofit/>
          </a:bodyPr>
          <a:lstStyle/>
          <a:p>
            <a:pPr algn="l">
              <a:lnSpc>
                <a:spcPts val="2565"/>
              </a:lnSpc>
              <a:spcBef>
                <a:spcPts val="0"/>
              </a:spcBef>
              <a:spcAft>
                <a:spcPts val="0"/>
              </a:spcAft>
            </a:pPr>
            <a:r>
              <a:rPr sz="1900" b="0" i="0">
                <a:solidFill>
                  <a:srgbClr val="8A8F9C"/>
                </a:solidFill>
                <a:latin typeface="Noto Sans"/>
              </a:rPr>
              <a:t>Nothing is sold; the only currency is a tool returned clean.</a:t>
            </a:r>
          </a:p>
        </p:txBody>
      </p:sp>
      <p:sp>
        <p:nvSpPr>
          <p:cNvPr id="14" name="Box"/>
          <p:cNvSpPr/>
          <p:nvPr/>
        </p:nvSpPr>
        <p:spPr>
          <a:xfrm>
            <a:off x="762000" y="6369050"/>
            <a:ext cx="10668000" cy="6350"/>
          </a:xfrm>
          <a:prstGeom prst="rect">
            <a:avLst/>
          </a:prstGeom>
          <a:solidFill>
            <a:srgbClr val="DCD9D0"/>
          </a:solidFill>
          <a:ln>
            <a:noFill/>
          </a:ln>
          <a:effectLst/>
        </p:spPr>
        <p:txBody>
          <a:bodyPr rtlCol="0" anchor="ctr"/>
          <a:lstStyle/>
          <a:p>
            <a:pPr algn="ctr"/>
          </a:p>
        </p:txBody>
      </p:sp>
      <p:sp>
        <p:nvSpPr>
          <p:cNvPr id="15" name="Text"/>
          <p:cNvSpPr txBox="1"/>
          <p:nvPr/>
        </p:nvSpPr>
        <p:spPr>
          <a:xfrm>
            <a:off x="762000" y="6495561"/>
            <a:ext cx="2025650" cy="147028"/>
          </a:xfrm>
          <a:prstGeom prst="rect">
            <a:avLst/>
          </a:prstGeom>
          <a:noFill/>
        </p:spPr>
        <p:txBody>
          <a:bodyPr wrap="none" lIns="0" rIns="0" tIns="0" bIns="0" anchor="t">
            <a:noAutofit/>
          </a:bodyPr>
          <a:lstStyle/>
          <a:p>
            <a:pPr algn="l">
              <a:lnSpc>
                <a:spcPts val="1157"/>
              </a:lnSpc>
              <a:spcBef>
                <a:spcPts val="0"/>
              </a:spcBef>
              <a:spcAft>
                <a:spcPts val="0"/>
              </a:spcAft>
            </a:pPr>
            <a:r>
              <a:rPr sz="850" b="1" i="0">
                <a:solidFill>
                  <a:srgbClr val="4A5163"/>
                </a:solidFill>
                <a:latin typeface="Noto Sans"/>
              </a:rPr>
              <a:t>Source:</a:t>
            </a:r>
            <a:r>
              <a:rPr sz="850" b="0" i="0">
                <a:solidFill>
                  <a:srgbClr val="8A8F9C"/>
                </a:solidFill>
                <a:latin typeface="Noto Sans"/>
              </a:rPr>
              <a:t> Invented example; no real shed</a:t>
            </a:r>
          </a:p>
        </p:txBody>
      </p:sp>
      <p:sp>
        <p:nvSpPr>
          <p:cNvPr id="16" name="Text"/>
          <p:cNvSpPr txBox="1"/>
          <p:nvPr/>
        </p:nvSpPr>
        <p:spPr>
          <a:xfrm>
            <a:off x="11150600" y="6495561"/>
            <a:ext cx="287782" cy="147028"/>
          </a:xfrm>
          <a:prstGeom prst="rect">
            <a:avLst/>
          </a:prstGeom>
          <a:noFill/>
        </p:spPr>
        <p:txBody>
          <a:bodyPr wrap="square" lIns="0" rIns="0" tIns="0" bIns="0" anchor="t">
            <a:noAutofit/>
          </a:bodyPr>
          <a:lstStyle/>
          <a:p>
            <a:pPr algn="l">
              <a:lnSpc>
                <a:spcPts val="1157"/>
              </a:lnSpc>
              <a:spcBef>
                <a:spcPts val="0"/>
              </a:spcBef>
              <a:spcAft>
                <a:spcPts val="0"/>
              </a:spcAft>
            </a:pPr>
            <a:r>
              <a:rPr sz="850" b="0" i="0">
                <a:solidFill>
                  <a:srgbClr val="8A8F9C"/>
                </a:solidFill>
                <a:latin typeface="Noto Sans"/>
              </a:rPr>
              <a:t>2 / 11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itle 1"/>
          <p:cNvSpPr>
            <a:spLocks noGrp="1"/>
          </p:cNvSpPr>
          <p:nvPr>
            <p:ph type="title"/>
          </p:nvPr>
        </p:nvSpPr>
        <p:spPr>
          <a:xfrm>
            <a:off x="762000" y="837819"/>
            <a:ext cx="10988040" cy="438912"/>
          </a:xfrm>
        </p:spPr>
        <p:txBody>
          <a:bodyPr wrap="square" lIns="0" rIns="0" tIns="0" bIns="0" anchor="t">
            <a:noAutofit/>
          </a:bodyPr>
          <a:lstStyle/>
          <a:p>
            <a:pPr algn="l">
              <a:lnSpc>
                <a:spcPts val="3456"/>
              </a:lnSpc>
              <a:spcBef>
                <a:spcPts val="0"/>
              </a:spcBef>
              <a:spcAft>
                <a:spcPts val="0"/>
              </a:spcAft>
            </a:pPr>
            <a:r>
              <a:rPr sz="3200" b="1" i="0" spc="-32">
                <a:solidFill>
                  <a:srgbClr val="1D2433"/>
                </a:solidFill>
                <a:latin typeface="Noto Sans"/>
              </a:rPr>
              <a:t>Tools go out on Saturday and come back by Friday</a:t>
            </a:r>
          </a:p>
        </p:txBody>
      </p:sp>
      <p:sp>
        <p:nvSpPr>
          <p:cNvPr id="3" name="Text"/>
          <p:cNvSpPr txBox="1"/>
          <p:nvPr/>
        </p:nvSpPr>
        <p:spPr>
          <a:xfrm>
            <a:off x="762000" y="558914"/>
            <a:ext cx="10988040" cy="190271"/>
          </a:xfrm>
          <a:prstGeom prst="rect">
            <a:avLst/>
          </a:prstGeom>
          <a:noFill/>
        </p:spPr>
        <p:txBody>
          <a:bodyPr wrap="square" lIns="0" rIns="0" tIns="0" bIns="0" anchor="t">
            <a:noAutofit/>
          </a:bodyPr>
          <a:lstStyle/>
          <a:p>
            <a:pPr algn="l">
              <a:lnSpc>
                <a:spcPts val="1498"/>
              </a:lnSpc>
              <a:spcBef>
                <a:spcPts val="0"/>
              </a:spcBef>
              <a:spcAft>
                <a:spcPts val="0"/>
              </a:spcAft>
            </a:pPr>
            <a:r>
              <a:rPr sz="1100" b="1" i="0" spc="154">
                <a:solidFill>
                  <a:srgbClr val="5B4BD6"/>
                </a:solidFill>
                <a:latin typeface="Noto Sans"/>
              </a:rPr>
              <a:t>THE LOOP IN ONE PICTURE</a:t>
            </a:r>
          </a:p>
        </p:txBody>
      </p:sp>
      <p:pic>
        <p:nvPicPr>
          <p:cNvPr id="4" name="Diagram" descr="Diagram"/>
          <p:cNvPicPr>
            <a:picLocks noChangeAspect="1"/>
          </p:cNvPicPr>
          <p:nvPr/>
        </p:nvPicPr>
        <p:blipFill>
          <a:blip r:embed="rId2"/>
          <a:stretch>
            <a:fillRect/>
          </a:stretch>
        </p:blipFill>
        <p:spPr>
          <a:xfrm>
            <a:off x="762000" y="1587500"/>
            <a:ext cx="10668000" cy="4559300"/>
          </a:xfrm>
          <a:prstGeom prst="rect">
            <a:avLst/>
          </a:prstGeom>
        </p:spPr>
      </p:pic>
      <p:sp>
        <p:nvSpPr>
          <p:cNvPr id="5" name="Text"/>
          <p:cNvSpPr txBox="1"/>
          <p:nvPr/>
        </p:nvSpPr>
        <p:spPr>
          <a:xfrm>
            <a:off x="1504950" y="3568700"/>
            <a:ext cx="1117600" cy="260350"/>
          </a:xfrm>
          <a:prstGeom prst="rect">
            <a:avLst/>
          </a:prstGeom>
          <a:noFill/>
        </p:spPr>
        <p:txBody>
          <a:bodyPr wrap="none" lIns="0" rIns="0" tIns="0" bIns="0" anchor="t">
            <a:noAutofit/>
          </a:bodyPr>
          <a:lstStyle/>
          <a:p>
            <a:pPr algn="ctr">
              <a:lnSpc>
                <a:spcPts val="2050"/>
              </a:lnSpc>
              <a:spcBef>
                <a:spcPts val="0"/>
              </a:spcBef>
              <a:spcAft>
                <a:spcPts val="0"/>
              </a:spcAft>
            </a:pPr>
            <a:r>
              <a:rPr sz="1500" b="1" i="0">
                <a:solidFill>
                  <a:srgbClr val="1D2433"/>
                </a:solidFill>
                <a:latin typeface="Noto Sans"/>
              </a:rPr>
              <a:t>Neighbours</a:t>
            </a:r>
          </a:p>
        </p:txBody>
      </p:sp>
      <p:sp>
        <p:nvSpPr>
          <p:cNvPr id="6" name="Text"/>
          <p:cNvSpPr txBox="1"/>
          <p:nvPr/>
        </p:nvSpPr>
        <p:spPr>
          <a:xfrm>
            <a:off x="1543050" y="3873500"/>
            <a:ext cx="1041400" cy="190500"/>
          </a:xfrm>
          <a:prstGeom prst="rect">
            <a:avLst/>
          </a:prstGeom>
          <a:noFill/>
        </p:spPr>
        <p:txBody>
          <a:bodyPr wrap="none" lIns="0" rIns="0" tIns="0" bIns="0" anchor="t">
            <a:noAutofit/>
          </a:bodyPr>
          <a:lstStyle/>
          <a:p>
            <a:pPr algn="ctr">
              <a:lnSpc>
                <a:spcPts val="1500"/>
              </a:lnSpc>
              <a:spcBef>
                <a:spcPts val="0"/>
              </a:spcBef>
              <a:spcAft>
                <a:spcPts val="0"/>
              </a:spcAft>
            </a:pPr>
            <a:r>
              <a:rPr sz="1100" b="0" i="0">
                <a:solidFill>
                  <a:srgbClr val="4A5163"/>
                </a:solidFill>
                <a:latin typeface="Noto Sans"/>
              </a:rPr>
              <a:t>give spare tools</a:t>
            </a:r>
          </a:p>
        </p:txBody>
      </p:sp>
      <p:sp>
        <p:nvSpPr>
          <p:cNvPr id="7" name="Text"/>
          <p:cNvSpPr txBox="1"/>
          <p:nvPr/>
        </p:nvSpPr>
        <p:spPr>
          <a:xfrm>
            <a:off x="4162425" y="3568700"/>
            <a:ext cx="1016000" cy="260350"/>
          </a:xfrm>
          <a:prstGeom prst="rect">
            <a:avLst/>
          </a:prstGeom>
          <a:noFill/>
        </p:spPr>
        <p:txBody>
          <a:bodyPr wrap="none" lIns="0" rIns="0" tIns="0" bIns="0" anchor="t">
            <a:noAutofit/>
          </a:bodyPr>
          <a:lstStyle/>
          <a:p>
            <a:pPr algn="ctr">
              <a:lnSpc>
                <a:spcPts val="2050"/>
              </a:lnSpc>
              <a:spcBef>
                <a:spcPts val="0"/>
              </a:spcBef>
              <a:spcAft>
                <a:spcPts val="0"/>
              </a:spcAft>
            </a:pPr>
            <a:r>
              <a:rPr sz="1500" b="1" i="0">
                <a:solidFill>
                  <a:srgbClr val="FFFFFF"/>
                </a:solidFill>
                <a:latin typeface="Noto Sans"/>
              </a:rPr>
              <a:t>The ledger</a:t>
            </a:r>
          </a:p>
        </p:txBody>
      </p:sp>
      <p:sp>
        <p:nvSpPr>
          <p:cNvPr id="8" name="Text"/>
          <p:cNvSpPr txBox="1"/>
          <p:nvPr/>
        </p:nvSpPr>
        <p:spPr>
          <a:xfrm>
            <a:off x="4127500" y="3873500"/>
            <a:ext cx="1079500" cy="190500"/>
          </a:xfrm>
          <a:prstGeom prst="rect">
            <a:avLst/>
          </a:prstGeom>
          <a:noFill/>
        </p:spPr>
        <p:txBody>
          <a:bodyPr wrap="none" lIns="0" rIns="0" tIns="0" bIns="0" anchor="t">
            <a:noAutofit/>
          </a:bodyPr>
          <a:lstStyle/>
          <a:p>
            <a:pPr algn="ctr">
              <a:lnSpc>
                <a:spcPts val="1500"/>
              </a:lnSpc>
              <a:spcBef>
                <a:spcPts val="0"/>
              </a:spcBef>
              <a:spcAft>
                <a:spcPts val="0"/>
              </a:spcAft>
            </a:pPr>
            <a:r>
              <a:rPr sz="1100" b="0" i="0">
                <a:solidFill>
                  <a:srgbClr val="E4E0FF"/>
                </a:solidFill>
                <a:latin typeface="Noto Sans"/>
              </a:rPr>
              <a:t>one line per tool</a:t>
            </a:r>
          </a:p>
        </p:txBody>
      </p:sp>
      <p:sp>
        <p:nvSpPr>
          <p:cNvPr id="9" name="Text"/>
          <p:cNvSpPr txBox="1"/>
          <p:nvPr/>
        </p:nvSpPr>
        <p:spPr>
          <a:xfrm>
            <a:off x="6842125" y="3568700"/>
            <a:ext cx="857250" cy="260350"/>
          </a:xfrm>
          <a:prstGeom prst="rect">
            <a:avLst/>
          </a:prstGeom>
          <a:noFill/>
        </p:spPr>
        <p:txBody>
          <a:bodyPr wrap="none" lIns="0" rIns="0" tIns="0" bIns="0" anchor="t">
            <a:noAutofit/>
          </a:bodyPr>
          <a:lstStyle/>
          <a:p>
            <a:pPr algn="ctr">
              <a:lnSpc>
                <a:spcPts val="2050"/>
              </a:lnSpc>
              <a:spcBef>
                <a:spcPts val="0"/>
              </a:spcBef>
              <a:spcAft>
                <a:spcPts val="0"/>
              </a:spcAft>
            </a:pPr>
            <a:r>
              <a:rPr sz="1500" b="1" i="0">
                <a:solidFill>
                  <a:srgbClr val="1D2433"/>
                </a:solidFill>
                <a:latin typeface="Noto Sans"/>
              </a:rPr>
              <a:t>The shed</a:t>
            </a:r>
          </a:p>
        </p:txBody>
      </p:sp>
      <p:sp>
        <p:nvSpPr>
          <p:cNvPr id="10" name="Text"/>
          <p:cNvSpPr txBox="1"/>
          <p:nvPr/>
        </p:nvSpPr>
        <p:spPr>
          <a:xfrm>
            <a:off x="6308725" y="3873500"/>
            <a:ext cx="1924050" cy="190500"/>
          </a:xfrm>
          <a:prstGeom prst="rect">
            <a:avLst/>
          </a:prstGeom>
          <a:noFill/>
        </p:spPr>
        <p:txBody>
          <a:bodyPr wrap="none" lIns="0" rIns="0" tIns="0" bIns="0" anchor="t">
            <a:noAutofit/>
          </a:bodyPr>
          <a:lstStyle/>
          <a:p>
            <a:pPr algn="ctr">
              <a:lnSpc>
                <a:spcPts val="1500"/>
              </a:lnSpc>
              <a:spcBef>
                <a:spcPts val="0"/>
              </a:spcBef>
              <a:spcAft>
                <a:spcPts val="0"/>
              </a:spcAft>
            </a:pPr>
            <a:r>
              <a:rPr sz="1100" b="0" i="0">
                <a:solidFill>
                  <a:srgbClr val="4A5163"/>
                </a:solidFill>
                <a:latin typeface="Noto Sans"/>
              </a:rPr>
              <a:t>tools hung on labelled hooks</a:t>
            </a:r>
          </a:p>
        </p:txBody>
      </p:sp>
      <p:sp>
        <p:nvSpPr>
          <p:cNvPr id="11" name="Text"/>
          <p:cNvSpPr txBox="1"/>
          <p:nvPr/>
        </p:nvSpPr>
        <p:spPr>
          <a:xfrm>
            <a:off x="9385300" y="3568700"/>
            <a:ext cx="977900" cy="260350"/>
          </a:xfrm>
          <a:prstGeom prst="rect">
            <a:avLst/>
          </a:prstGeom>
          <a:noFill/>
        </p:spPr>
        <p:txBody>
          <a:bodyPr wrap="none" lIns="0" rIns="0" tIns="0" bIns="0" anchor="t">
            <a:noAutofit/>
          </a:bodyPr>
          <a:lstStyle/>
          <a:p>
            <a:pPr algn="ctr">
              <a:lnSpc>
                <a:spcPts val="2050"/>
              </a:lnSpc>
              <a:spcBef>
                <a:spcPts val="0"/>
              </a:spcBef>
              <a:spcAft>
                <a:spcPts val="0"/>
              </a:spcAft>
            </a:pPr>
            <a:r>
              <a:rPr sz="1500" b="1" i="0">
                <a:solidFill>
                  <a:srgbClr val="1D2433"/>
                </a:solidFill>
                <a:latin typeface="Noto Sans"/>
              </a:rPr>
              <a:t>Borrowers</a:t>
            </a:r>
          </a:p>
        </p:txBody>
      </p:sp>
      <p:sp>
        <p:nvSpPr>
          <p:cNvPr id="12" name="Text"/>
          <p:cNvSpPr txBox="1"/>
          <p:nvPr/>
        </p:nvSpPr>
        <p:spPr>
          <a:xfrm>
            <a:off x="9105900" y="3873500"/>
            <a:ext cx="1536700" cy="190500"/>
          </a:xfrm>
          <a:prstGeom prst="rect">
            <a:avLst/>
          </a:prstGeom>
          <a:noFill/>
        </p:spPr>
        <p:txBody>
          <a:bodyPr wrap="none" lIns="0" rIns="0" tIns="0" bIns="0" anchor="t">
            <a:noAutofit/>
          </a:bodyPr>
          <a:lstStyle/>
          <a:p>
            <a:pPr algn="ctr">
              <a:lnSpc>
                <a:spcPts val="1500"/>
              </a:lnSpc>
              <a:spcBef>
                <a:spcPts val="0"/>
              </a:spcBef>
              <a:spcAft>
                <a:spcPts val="0"/>
              </a:spcAft>
            </a:pPr>
            <a:r>
              <a:rPr sz="1100" b="0" i="0">
                <a:solidFill>
                  <a:srgbClr val="4A5163"/>
                </a:solidFill>
                <a:latin typeface="Noto Sans"/>
              </a:rPr>
              <a:t>use it, clean it, return it</a:t>
            </a:r>
          </a:p>
        </p:txBody>
      </p:sp>
      <p:sp>
        <p:nvSpPr>
          <p:cNvPr id="13" name="Text"/>
          <p:cNvSpPr txBox="1"/>
          <p:nvPr/>
        </p:nvSpPr>
        <p:spPr>
          <a:xfrm>
            <a:off x="4625975" y="2597150"/>
            <a:ext cx="2940050" cy="209550"/>
          </a:xfrm>
          <a:prstGeom prst="rect">
            <a:avLst/>
          </a:prstGeom>
          <a:noFill/>
        </p:spPr>
        <p:txBody>
          <a:bodyPr wrap="none" lIns="0" rIns="0" tIns="0" bIns="0" anchor="t">
            <a:noAutofit/>
          </a:bodyPr>
          <a:lstStyle/>
          <a:p>
            <a:pPr algn="ctr">
              <a:lnSpc>
                <a:spcPts val="1650"/>
              </a:lnSpc>
              <a:spcBef>
                <a:spcPts val="0"/>
              </a:spcBef>
              <a:spcAft>
                <a:spcPts val="0"/>
              </a:spcAft>
            </a:pPr>
            <a:r>
              <a:rPr sz="1200" b="1" i="0">
                <a:solidFill>
                  <a:srgbClr val="5B4BD6"/>
                </a:solidFill>
                <a:latin typeface="Noto Sans"/>
              </a:rPr>
              <a:t>every tool comes back within the week</a:t>
            </a:r>
          </a:p>
        </p:txBody>
      </p:sp>
      <p:sp>
        <p:nvSpPr>
          <p:cNvPr id="14" name="Box"/>
          <p:cNvSpPr/>
          <p:nvPr/>
        </p:nvSpPr>
        <p:spPr>
          <a:xfrm>
            <a:off x="762000" y="6369050"/>
            <a:ext cx="10668000" cy="6350"/>
          </a:xfrm>
          <a:prstGeom prst="rect">
            <a:avLst/>
          </a:prstGeom>
          <a:solidFill>
            <a:srgbClr val="DCD9D0"/>
          </a:solidFill>
          <a:ln>
            <a:noFill/>
          </a:ln>
          <a:effectLst/>
        </p:spPr>
        <p:txBody>
          <a:bodyPr rtlCol="0" anchor="ctr"/>
          <a:lstStyle/>
          <a:p>
            <a:pPr algn="ctr"/>
          </a:p>
        </p:txBody>
      </p:sp>
      <p:sp>
        <p:nvSpPr>
          <p:cNvPr id="15" name="Text"/>
          <p:cNvSpPr txBox="1"/>
          <p:nvPr/>
        </p:nvSpPr>
        <p:spPr>
          <a:xfrm>
            <a:off x="762000" y="6495561"/>
            <a:ext cx="2813050" cy="147028"/>
          </a:xfrm>
          <a:prstGeom prst="rect">
            <a:avLst/>
          </a:prstGeom>
          <a:noFill/>
        </p:spPr>
        <p:txBody>
          <a:bodyPr wrap="none" lIns="0" rIns="0" tIns="0" bIns="0" anchor="t">
            <a:noAutofit/>
          </a:bodyPr>
          <a:lstStyle/>
          <a:p>
            <a:pPr algn="l">
              <a:lnSpc>
                <a:spcPts val="1157"/>
              </a:lnSpc>
              <a:spcBef>
                <a:spcPts val="0"/>
              </a:spcBef>
              <a:spcAft>
                <a:spcPts val="0"/>
              </a:spcAft>
            </a:pPr>
            <a:r>
              <a:rPr sz="850" b="1" i="0">
                <a:solidFill>
                  <a:srgbClr val="4A5163"/>
                </a:solidFill>
                <a:latin typeface="Noto Sans"/>
              </a:rPr>
              <a:t>Source:</a:t>
            </a:r>
            <a:r>
              <a:rPr sz="850" b="0" i="0">
                <a:solidFill>
                  <a:srgbClr val="8A8F9C"/>
                </a:solidFill>
                <a:latin typeface="Noto Sans"/>
              </a:rPr>
              <a:t> Invented example; diagram drawn for this deck</a:t>
            </a:r>
          </a:p>
        </p:txBody>
      </p:sp>
      <p:sp>
        <p:nvSpPr>
          <p:cNvPr id="16" name="Text"/>
          <p:cNvSpPr txBox="1"/>
          <p:nvPr/>
        </p:nvSpPr>
        <p:spPr>
          <a:xfrm>
            <a:off x="11150600" y="6495561"/>
            <a:ext cx="287782" cy="147028"/>
          </a:xfrm>
          <a:prstGeom prst="rect">
            <a:avLst/>
          </a:prstGeom>
          <a:noFill/>
        </p:spPr>
        <p:txBody>
          <a:bodyPr wrap="square" lIns="0" rIns="0" tIns="0" bIns="0" anchor="t">
            <a:noAutofit/>
          </a:bodyPr>
          <a:lstStyle/>
          <a:p>
            <a:pPr algn="l">
              <a:lnSpc>
                <a:spcPts val="1157"/>
              </a:lnSpc>
              <a:spcBef>
                <a:spcPts val="0"/>
              </a:spcBef>
              <a:spcAft>
                <a:spcPts val="0"/>
              </a:spcAft>
            </a:pPr>
            <a:r>
              <a:rPr sz="850" b="0" i="0">
                <a:solidFill>
                  <a:srgbClr val="8A8F9C"/>
                </a:solidFill>
                <a:latin typeface="Noto Sans"/>
              </a:rPr>
              <a:t>3 / 11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itle 1"/>
          <p:cNvSpPr>
            <a:spLocks noGrp="1"/>
          </p:cNvSpPr>
          <p:nvPr>
            <p:ph type="title"/>
          </p:nvPr>
        </p:nvSpPr>
        <p:spPr>
          <a:xfrm>
            <a:off x="762000" y="837819"/>
            <a:ext cx="10988040" cy="438912"/>
          </a:xfrm>
        </p:spPr>
        <p:txBody>
          <a:bodyPr wrap="square" lIns="0" rIns="0" tIns="0" bIns="0" anchor="t">
            <a:noAutofit/>
          </a:bodyPr>
          <a:lstStyle/>
          <a:p>
            <a:pPr algn="l">
              <a:lnSpc>
                <a:spcPts val="3456"/>
              </a:lnSpc>
              <a:spcBef>
                <a:spcPts val="0"/>
              </a:spcBef>
              <a:spcAft>
                <a:spcPts val="0"/>
              </a:spcAft>
            </a:pPr>
            <a:r>
              <a:rPr sz="3200" b="1" i="0" spc="-32">
                <a:solidFill>
                  <a:srgbClr val="1D2433"/>
                </a:solidFill>
                <a:latin typeface="Noto Sans"/>
              </a:rPr>
              <a:t>Three volunteers keep the shed open</a:t>
            </a:r>
          </a:p>
        </p:txBody>
      </p:sp>
      <p:sp>
        <p:nvSpPr>
          <p:cNvPr id="3" name="Text"/>
          <p:cNvSpPr txBox="1"/>
          <p:nvPr/>
        </p:nvSpPr>
        <p:spPr>
          <a:xfrm>
            <a:off x="762000" y="558914"/>
            <a:ext cx="10988040" cy="190271"/>
          </a:xfrm>
          <a:prstGeom prst="rect">
            <a:avLst/>
          </a:prstGeom>
          <a:noFill/>
        </p:spPr>
        <p:txBody>
          <a:bodyPr wrap="square" lIns="0" rIns="0" tIns="0" bIns="0" anchor="t">
            <a:noAutofit/>
          </a:bodyPr>
          <a:lstStyle/>
          <a:p>
            <a:pPr algn="l">
              <a:lnSpc>
                <a:spcPts val="1498"/>
              </a:lnSpc>
              <a:spcBef>
                <a:spcPts val="0"/>
              </a:spcBef>
              <a:spcAft>
                <a:spcPts val="0"/>
              </a:spcAft>
            </a:pPr>
            <a:r>
              <a:rPr sz="1100" b="1" i="0" spc="154">
                <a:solidFill>
                  <a:srgbClr val="5B4BD6"/>
                </a:solidFill>
                <a:latin typeface="Noto Sans"/>
              </a:rPr>
              <a:t>THREE JOBS</a:t>
            </a:r>
          </a:p>
        </p:txBody>
      </p:sp>
      <p:sp>
        <p:nvSpPr>
          <p:cNvPr id="4" name="Box"/>
          <p:cNvSpPr/>
          <p:nvPr/>
        </p:nvSpPr>
        <p:spPr>
          <a:xfrm>
            <a:off x="762000" y="1778000"/>
            <a:ext cx="3437434" cy="3492500"/>
          </a:xfrm>
          <a:prstGeom prst="roundRect">
            <a:avLst>
              <a:gd name="adj" fmla="val 2955"/>
            </a:avLst>
          </a:prstGeom>
          <a:solidFill>
            <a:srgbClr val="5B4BD6"/>
          </a:solidFill>
          <a:ln>
            <a:noFill/>
          </a:ln>
          <a:effectLst/>
        </p:spPr>
        <p:txBody>
          <a:bodyPr rtlCol="0" anchor="ctr"/>
          <a:lstStyle/>
          <a:p>
            <a:pPr algn="ctr"/>
          </a:p>
        </p:txBody>
      </p:sp>
      <p:sp>
        <p:nvSpPr>
          <p:cNvPr id="5" name="Box"/>
          <p:cNvSpPr/>
          <p:nvPr/>
        </p:nvSpPr>
        <p:spPr>
          <a:xfrm>
            <a:off x="762000" y="1841500"/>
            <a:ext cx="3437434" cy="3429000"/>
          </a:xfrm>
          <a:prstGeom prst="roundRect">
            <a:avLst>
              <a:gd name="adj" fmla="val 1111"/>
            </a:avLst>
          </a:prstGeom>
          <a:solidFill>
            <a:srgbClr val="FFFFFF"/>
          </a:solidFill>
          <a:ln>
            <a:noFill/>
          </a:ln>
          <a:effectLst/>
        </p:spPr>
        <p:txBody>
          <a:bodyPr rtlCol="0" anchor="ctr"/>
          <a:lstStyle/>
          <a:p>
            <a:pPr algn="ctr"/>
          </a:p>
        </p:txBody>
      </p:sp>
      <p:sp>
        <p:nvSpPr>
          <p:cNvPr id="6" name="Text"/>
          <p:cNvSpPr txBox="1"/>
          <p:nvPr/>
        </p:nvSpPr>
        <p:spPr>
          <a:xfrm>
            <a:off x="965200" y="2031022"/>
            <a:ext cx="3121965" cy="294056"/>
          </a:xfrm>
          <a:prstGeom prst="rect">
            <a:avLst/>
          </a:prstGeom>
          <a:noFill/>
        </p:spPr>
        <p:txBody>
          <a:bodyPr wrap="square" lIns="0" rIns="0" tIns="0" bIns="0" anchor="t">
            <a:noAutofit/>
          </a:bodyPr>
          <a:lstStyle/>
          <a:p>
            <a:pPr algn="l">
              <a:lnSpc>
                <a:spcPts val="2315"/>
              </a:lnSpc>
              <a:spcBef>
                <a:spcPts val="0"/>
              </a:spcBef>
              <a:spcAft>
                <a:spcPts val="0"/>
              </a:spcAft>
            </a:pPr>
            <a:r>
              <a:rPr sz="1700" b="1" i="0">
                <a:solidFill>
                  <a:srgbClr val="5B4BD6"/>
                </a:solidFill>
                <a:latin typeface="Noto Sans"/>
              </a:rPr>
              <a:t>The registrar</a:t>
            </a:r>
          </a:p>
        </p:txBody>
      </p:sp>
      <p:sp>
        <p:nvSpPr>
          <p:cNvPr id="7" name="Text"/>
          <p:cNvSpPr txBox="1"/>
          <p:nvPr/>
        </p:nvSpPr>
        <p:spPr>
          <a:xfrm>
            <a:off x="965200" y="2399030"/>
            <a:ext cx="3121965" cy="788551"/>
          </a:xfrm>
          <a:prstGeom prst="rect">
            <a:avLst/>
          </a:prstGeom>
          <a:noFill/>
        </p:spPr>
        <p:txBody>
          <a:bodyPr wrap="square" lIns="0" rIns="0" tIns="0" bIns="0" anchor="t">
            <a:noAutofit/>
          </a:bodyPr>
          <a:lstStyle/>
          <a:p>
            <a:pPr algn="l">
              <a:lnSpc>
                <a:spcPts val="2070"/>
              </a:lnSpc>
              <a:spcBef>
                <a:spcPts val="0"/>
              </a:spcBef>
              <a:spcAft>
                <a:spcPts val="0"/>
              </a:spcAft>
            </a:pPr>
            <a:r>
              <a:rPr sz="1500" b="0" i="0">
                <a:solidFill>
                  <a:srgbClr val="4A5163"/>
                </a:solidFill>
                <a:latin typeface="Noto Sans"/>
              </a:rPr>
              <a:t>Writes one ledger line per tool: its name, its condition and who gave it. A tool with no line is not hung.</a:t>
            </a:r>
          </a:p>
        </p:txBody>
      </p:sp>
      <p:sp>
        <p:nvSpPr>
          <p:cNvPr id="8" name="Box"/>
          <p:cNvSpPr/>
          <p:nvPr/>
        </p:nvSpPr>
        <p:spPr>
          <a:xfrm>
            <a:off x="4377234" y="1778000"/>
            <a:ext cx="3437434" cy="3492500"/>
          </a:xfrm>
          <a:prstGeom prst="roundRect">
            <a:avLst>
              <a:gd name="adj" fmla="val 2955"/>
            </a:avLst>
          </a:prstGeom>
          <a:solidFill>
            <a:srgbClr val="3F9FA6"/>
          </a:solidFill>
          <a:ln>
            <a:noFill/>
          </a:ln>
          <a:effectLst/>
        </p:spPr>
        <p:txBody>
          <a:bodyPr rtlCol="0" anchor="ctr"/>
          <a:lstStyle/>
          <a:p>
            <a:pPr algn="ctr"/>
          </a:p>
        </p:txBody>
      </p:sp>
      <p:sp>
        <p:nvSpPr>
          <p:cNvPr id="9" name="Box"/>
          <p:cNvSpPr/>
          <p:nvPr/>
        </p:nvSpPr>
        <p:spPr>
          <a:xfrm>
            <a:off x="4377234" y="1841500"/>
            <a:ext cx="3437434" cy="3429000"/>
          </a:xfrm>
          <a:prstGeom prst="roundRect">
            <a:avLst>
              <a:gd name="adj" fmla="val 1111"/>
            </a:avLst>
          </a:prstGeom>
          <a:solidFill>
            <a:srgbClr val="FFFFFF"/>
          </a:solidFill>
          <a:ln>
            <a:noFill/>
          </a:ln>
          <a:effectLst/>
        </p:spPr>
        <p:txBody>
          <a:bodyPr rtlCol="0" anchor="ctr"/>
          <a:lstStyle/>
          <a:p>
            <a:pPr algn="ctr"/>
          </a:p>
        </p:txBody>
      </p:sp>
      <p:sp>
        <p:nvSpPr>
          <p:cNvPr id="10" name="Text"/>
          <p:cNvSpPr txBox="1"/>
          <p:nvPr/>
        </p:nvSpPr>
        <p:spPr>
          <a:xfrm>
            <a:off x="4580434" y="2031022"/>
            <a:ext cx="3121965" cy="294056"/>
          </a:xfrm>
          <a:prstGeom prst="rect">
            <a:avLst/>
          </a:prstGeom>
          <a:noFill/>
        </p:spPr>
        <p:txBody>
          <a:bodyPr wrap="square" lIns="0" rIns="0" tIns="0" bIns="0" anchor="t">
            <a:noAutofit/>
          </a:bodyPr>
          <a:lstStyle/>
          <a:p>
            <a:pPr algn="l">
              <a:lnSpc>
                <a:spcPts val="2315"/>
              </a:lnSpc>
              <a:spcBef>
                <a:spcPts val="0"/>
              </a:spcBef>
              <a:spcAft>
                <a:spcPts val="0"/>
              </a:spcAft>
            </a:pPr>
            <a:r>
              <a:rPr sz="1700" b="1" i="0">
                <a:solidFill>
                  <a:srgbClr val="3F9FA6"/>
                </a:solidFill>
                <a:latin typeface="Noto Sans"/>
              </a:rPr>
              <a:t>The checker</a:t>
            </a:r>
          </a:p>
        </p:txBody>
      </p:sp>
      <p:sp>
        <p:nvSpPr>
          <p:cNvPr id="11" name="Text"/>
          <p:cNvSpPr txBox="1"/>
          <p:nvPr/>
        </p:nvSpPr>
        <p:spPr>
          <a:xfrm>
            <a:off x="4580434" y="2399030"/>
            <a:ext cx="3121965" cy="1314212"/>
          </a:xfrm>
          <a:prstGeom prst="rect">
            <a:avLst/>
          </a:prstGeom>
          <a:noFill/>
        </p:spPr>
        <p:txBody>
          <a:bodyPr wrap="square" lIns="0" rIns="0" tIns="0" bIns="0" anchor="t">
            <a:noAutofit/>
          </a:bodyPr>
          <a:lstStyle/>
          <a:p>
            <a:pPr algn="l">
              <a:lnSpc>
                <a:spcPts val="2070"/>
              </a:lnSpc>
              <a:spcBef>
                <a:spcPts val="0"/>
              </a:spcBef>
              <a:spcAft>
                <a:spcPts val="0"/>
              </a:spcAft>
            </a:pPr>
            <a:r>
              <a:rPr sz="1500" b="0" i="0">
                <a:solidFill>
                  <a:srgbClr val="4A5163"/>
                </a:solidFill>
                <a:latin typeface="Noto Sans"/>
              </a:rPr>
              <a:t>Looks at each returned tool: clean, dry, nothing loose. Anything damaged goes to the repair bench, never back on a hook.</a:t>
            </a:r>
          </a:p>
        </p:txBody>
      </p:sp>
      <p:sp>
        <p:nvSpPr>
          <p:cNvPr id="12" name="Box"/>
          <p:cNvSpPr/>
          <p:nvPr/>
        </p:nvSpPr>
        <p:spPr>
          <a:xfrm>
            <a:off x="7992467" y="1778000"/>
            <a:ext cx="3437434" cy="3492500"/>
          </a:xfrm>
          <a:prstGeom prst="roundRect">
            <a:avLst>
              <a:gd name="adj" fmla="val 2955"/>
            </a:avLst>
          </a:prstGeom>
          <a:solidFill>
            <a:srgbClr val="2E9E6B"/>
          </a:solidFill>
          <a:ln>
            <a:noFill/>
          </a:ln>
          <a:effectLst/>
        </p:spPr>
        <p:txBody>
          <a:bodyPr rtlCol="0" anchor="ctr"/>
          <a:lstStyle/>
          <a:p>
            <a:pPr algn="ctr"/>
          </a:p>
        </p:txBody>
      </p:sp>
      <p:sp>
        <p:nvSpPr>
          <p:cNvPr id="13" name="Box"/>
          <p:cNvSpPr/>
          <p:nvPr/>
        </p:nvSpPr>
        <p:spPr>
          <a:xfrm>
            <a:off x="7992467" y="1841500"/>
            <a:ext cx="3437434" cy="3429000"/>
          </a:xfrm>
          <a:prstGeom prst="roundRect">
            <a:avLst>
              <a:gd name="adj" fmla="val 1111"/>
            </a:avLst>
          </a:prstGeom>
          <a:solidFill>
            <a:srgbClr val="FFFFFF"/>
          </a:solidFill>
          <a:ln>
            <a:noFill/>
          </a:ln>
          <a:effectLst/>
        </p:spPr>
        <p:txBody>
          <a:bodyPr rtlCol="0" anchor="ctr"/>
          <a:lstStyle/>
          <a:p>
            <a:pPr algn="ctr"/>
          </a:p>
        </p:txBody>
      </p:sp>
      <p:sp>
        <p:nvSpPr>
          <p:cNvPr id="14" name="Text"/>
          <p:cNvSpPr txBox="1"/>
          <p:nvPr/>
        </p:nvSpPr>
        <p:spPr>
          <a:xfrm>
            <a:off x="8195667" y="2031022"/>
            <a:ext cx="3121965" cy="294056"/>
          </a:xfrm>
          <a:prstGeom prst="rect">
            <a:avLst/>
          </a:prstGeom>
          <a:noFill/>
        </p:spPr>
        <p:txBody>
          <a:bodyPr wrap="square" lIns="0" rIns="0" tIns="0" bIns="0" anchor="t">
            <a:noAutofit/>
          </a:bodyPr>
          <a:lstStyle/>
          <a:p>
            <a:pPr algn="l">
              <a:lnSpc>
                <a:spcPts val="2315"/>
              </a:lnSpc>
              <a:spcBef>
                <a:spcPts val="0"/>
              </a:spcBef>
              <a:spcAft>
                <a:spcPts val="0"/>
              </a:spcAft>
            </a:pPr>
            <a:r>
              <a:rPr sz="1700" b="1" i="0">
                <a:solidFill>
                  <a:srgbClr val="2E9E6B"/>
                </a:solidFill>
                <a:latin typeface="Noto Sans"/>
              </a:rPr>
              <a:t>The host</a:t>
            </a:r>
          </a:p>
        </p:txBody>
      </p:sp>
      <p:sp>
        <p:nvSpPr>
          <p:cNvPr id="15" name="Text"/>
          <p:cNvSpPr txBox="1"/>
          <p:nvPr/>
        </p:nvSpPr>
        <p:spPr>
          <a:xfrm>
            <a:off x="8195667" y="2399030"/>
            <a:ext cx="3121965" cy="1051381"/>
          </a:xfrm>
          <a:prstGeom prst="rect">
            <a:avLst/>
          </a:prstGeom>
          <a:noFill/>
        </p:spPr>
        <p:txBody>
          <a:bodyPr wrap="square" lIns="0" rIns="0" tIns="0" bIns="0" anchor="t">
            <a:noAutofit/>
          </a:bodyPr>
          <a:lstStyle/>
          <a:p>
            <a:pPr algn="l">
              <a:lnSpc>
                <a:spcPts val="2070"/>
              </a:lnSpc>
              <a:spcBef>
                <a:spcPts val="0"/>
              </a:spcBef>
              <a:spcAft>
                <a:spcPts val="0"/>
              </a:spcAft>
            </a:pPr>
            <a:r>
              <a:rPr sz="1500" b="0" i="0">
                <a:solidFill>
                  <a:srgbClr val="4A5163"/>
                </a:solidFill>
                <a:latin typeface="Noto Sans"/>
              </a:rPr>
              <a:t>Opens the shed on Saturday mornings, hands out tools and explains the one rule: bring it back by Friday.</a:t>
            </a:r>
          </a:p>
        </p:txBody>
      </p:sp>
      <p:sp>
        <p:nvSpPr>
          <p:cNvPr id="16" name="Box"/>
          <p:cNvSpPr/>
          <p:nvPr/>
        </p:nvSpPr>
        <p:spPr>
          <a:xfrm>
            <a:off x="762000" y="5461000"/>
            <a:ext cx="10668000" cy="635000"/>
          </a:xfrm>
          <a:prstGeom prst="roundRect">
            <a:avLst>
              <a:gd name="adj" fmla="val 16000"/>
            </a:avLst>
          </a:prstGeom>
          <a:solidFill>
            <a:srgbClr val="1D2433"/>
          </a:solidFill>
          <a:ln>
            <a:noFill/>
          </a:ln>
          <a:effectLst/>
        </p:spPr>
        <p:txBody>
          <a:bodyPr rtlCol="0" anchor="ctr"/>
          <a:lstStyle/>
          <a:p>
            <a:pPr algn="ctr"/>
          </a:p>
        </p:txBody>
      </p:sp>
      <p:sp>
        <p:nvSpPr>
          <p:cNvPr id="17" name="Text"/>
          <p:cNvSpPr txBox="1"/>
          <p:nvPr/>
        </p:nvSpPr>
        <p:spPr>
          <a:xfrm>
            <a:off x="990600" y="5700662"/>
            <a:ext cx="1042988" cy="155677"/>
          </a:xfrm>
          <a:prstGeom prst="rect">
            <a:avLst/>
          </a:prstGeom>
          <a:noFill/>
        </p:spPr>
        <p:txBody>
          <a:bodyPr wrap="none" lIns="0" rIns="0" tIns="0" bIns="0" anchor="t">
            <a:noAutofit/>
          </a:bodyPr>
          <a:lstStyle/>
          <a:p>
            <a:pPr algn="l">
              <a:lnSpc>
                <a:spcPts val="1225"/>
              </a:lnSpc>
              <a:spcBef>
                <a:spcPts val="0"/>
              </a:spcBef>
              <a:spcAft>
                <a:spcPts val="0"/>
              </a:spcAft>
            </a:pPr>
            <a:r>
              <a:rPr sz="900" b="1" i="0" spc="126">
                <a:solidFill>
                  <a:srgbClr val="B3A9FF"/>
                </a:solidFill>
                <a:latin typeface="Noto Sans"/>
              </a:rPr>
              <a:t>WHY IT WORKS</a:t>
            </a:r>
          </a:p>
        </p:txBody>
      </p:sp>
      <p:sp>
        <p:nvSpPr>
          <p:cNvPr id="18" name="Text"/>
          <p:cNvSpPr txBox="1"/>
          <p:nvPr/>
        </p:nvSpPr>
        <p:spPr>
          <a:xfrm>
            <a:off x="2211388" y="5648770"/>
            <a:ext cx="6854444" cy="259461"/>
          </a:xfrm>
          <a:prstGeom prst="rect">
            <a:avLst/>
          </a:prstGeom>
          <a:noFill/>
        </p:spPr>
        <p:txBody>
          <a:bodyPr wrap="square" lIns="0" rIns="0" tIns="0" bIns="0" anchor="t">
            <a:noAutofit/>
          </a:bodyPr>
          <a:lstStyle/>
          <a:p>
            <a:pPr algn="l">
              <a:lnSpc>
                <a:spcPts val="2043"/>
              </a:lnSpc>
              <a:spcBef>
                <a:spcPts val="0"/>
              </a:spcBef>
              <a:spcAft>
                <a:spcPts val="0"/>
              </a:spcAft>
            </a:pPr>
            <a:r>
              <a:rPr sz="1500" b="0" i="0">
                <a:solidFill>
                  <a:srgbClr val="FFFFFF"/>
                </a:solidFill>
                <a:latin typeface="Noto Sans"/>
              </a:rPr>
              <a:t>Each job is small and has one test, so a new volunteer can start in an hour.</a:t>
            </a:r>
          </a:p>
        </p:txBody>
      </p:sp>
      <p:sp>
        <p:nvSpPr>
          <p:cNvPr id="19" name="Box"/>
          <p:cNvSpPr/>
          <p:nvPr/>
        </p:nvSpPr>
        <p:spPr>
          <a:xfrm>
            <a:off x="762000" y="6369050"/>
            <a:ext cx="10668000" cy="6350"/>
          </a:xfrm>
          <a:prstGeom prst="rect">
            <a:avLst/>
          </a:prstGeom>
          <a:solidFill>
            <a:srgbClr val="DCD9D0"/>
          </a:solidFill>
          <a:ln>
            <a:noFill/>
          </a:ln>
          <a:effectLst/>
        </p:spPr>
        <p:txBody>
          <a:bodyPr rtlCol="0" anchor="ctr"/>
          <a:lstStyle/>
          <a:p>
            <a:pPr algn="ctr"/>
          </a:p>
        </p:txBody>
      </p:sp>
      <p:sp>
        <p:nvSpPr>
          <p:cNvPr id="20" name="Text"/>
          <p:cNvSpPr txBox="1"/>
          <p:nvPr/>
        </p:nvSpPr>
        <p:spPr>
          <a:xfrm>
            <a:off x="762000" y="6495561"/>
            <a:ext cx="1339850" cy="147028"/>
          </a:xfrm>
          <a:prstGeom prst="rect">
            <a:avLst/>
          </a:prstGeom>
          <a:noFill/>
        </p:spPr>
        <p:txBody>
          <a:bodyPr wrap="none" lIns="0" rIns="0" tIns="0" bIns="0" anchor="t">
            <a:noAutofit/>
          </a:bodyPr>
          <a:lstStyle/>
          <a:p>
            <a:pPr algn="l">
              <a:lnSpc>
                <a:spcPts val="1157"/>
              </a:lnSpc>
              <a:spcBef>
                <a:spcPts val="0"/>
              </a:spcBef>
              <a:spcAft>
                <a:spcPts val="0"/>
              </a:spcAft>
            </a:pPr>
            <a:r>
              <a:rPr sz="850" b="1" i="0">
                <a:solidFill>
                  <a:srgbClr val="4A5163"/>
                </a:solidFill>
                <a:latin typeface="Noto Sans"/>
              </a:rPr>
              <a:t>Source:</a:t>
            </a:r>
            <a:r>
              <a:rPr sz="850" b="0" i="0">
                <a:solidFill>
                  <a:srgbClr val="8A8F9C"/>
                </a:solidFill>
                <a:latin typeface="Noto Sans"/>
              </a:rPr>
              <a:t> Invented example</a:t>
            </a:r>
          </a:p>
        </p:txBody>
      </p:sp>
      <p:sp>
        <p:nvSpPr>
          <p:cNvPr id="21" name="Text"/>
          <p:cNvSpPr txBox="1"/>
          <p:nvPr/>
        </p:nvSpPr>
        <p:spPr>
          <a:xfrm>
            <a:off x="11150600" y="6495561"/>
            <a:ext cx="287782" cy="147028"/>
          </a:xfrm>
          <a:prstGeom prst="rect">
            <a:avLst/>
          </a:prstGeom>
          <a:noFill/>
        </p:spPr>
        <p:txBody>
          <a:bodyPr wrap="square" lIns="0" rIns="0" tIns="0" bIns="0" anchor="t">
            <a:noAutofit/>
          </a:bodyPr>
          <a:lstStyle/>
          <a:p>
            <a:pPr algn="l">
              <a:lnSpc>
                <a:spcPts val="1157"/>
              </a:lnSpc>
              <a:spcBef>
                <a:spcPts val="0"/>
              </a:spcBef>
              <a:spcAft>
                <a:spcPts val="0"/>
              </a:spcAft>
            </a:pPr>
            <a:r>
              <a:rPr sz="850" b="0" i="0">
                <a:solidFill>
                  <a:srgbClr val="8A8F9C"/>
                </a:solidFill>
                <a:latin typeface="Noto Sans"/>
              </a:rPr>
              <a:t>4 / 11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itle 1"/>
          <p:cNvSpPr>
            <a:spLocks noGrp="1"/>
          </p:cNvSpPr>
          <p:nvPr>
            <p:ph type="title"/>
          </p:nvPr>
        </p:nvSpPr>
        <p:spPr>
          <a:xfrm>
            <a:off x="762000" y="837819"/>
            <a:ext cx="10988040" cy="438912"/>
          </a:xfrm>
        </p:spPr>
        <p:txBody>
          <a:bodyPr wrap="square" lIns="0" rIns="0" tIns="0" bIns="0" anchor="t">
            <a:noAutofit/>
          </a:bodyPr>
          <a:lstStyle/>
          <a:p>
            <a:pPr algn="l">
              <a:lnSpc>
                <a:spcPts val="3456"/>
              </a:lnSpc>
              <a:spcBef>
                <a:spcPts val="0"/>
              </a:spcBef>
              <a:spcAft>
                <a:spcPts val="0"/>
              </a:spcAft>
            </a:pPr>
            <a:r>
              <a:rPr sz="3200" b="1" i="0" spc="-32">
                <a:solidFill>
                  <a:srgbClr val="1D2433"/>
                </a:solidFill>
                <a:latin typeface="Noto Sans"/>
              </a:rPr>
              <a:t>A rule that came from one loose handle</a:t>
            </a:r>
          </a:p>
        </p:txBody>
      </p:sp>
      <p:sp>
        <p:nvSpPr>
          <p:cNvPr id="3" name="Text"/>
          <p:cNvSpPr txBox="1"/>
          <p:nvPr/>
        </p:nvSpPr>
        <p:spPr>
          <a:xfrm>
            <a:off x="762000" y="558914"/>
            <a:ext cx="10988040" cy="190271"/>
          </a:xfrm>
          <a:prstGeom prst="rect">
            <a:avLst/>
          </a:prstGeom>
          <a:noFill/>
        </p:spPr>
        <p:txBody>
          <a:bodyPr wrap="square" lIns="0" rIns="0" tIns="0" bIns="0" anchor="t">
            <a:noAutofit/>
          </a:bodyPr>
          <a:lstStyle/>
          <a:p>
            <a:pPr algn="l">
              <a:lnSpc>
                <a:spcPts val="1498"/>
              </a:lnSpc>
              <a:spcBef>
                <a:spcPts val="0"/>
              </a:spcBef>
              <a:spcAft>
                <a:spcPts val="0"/>
              </a:spcAft>
            </a:pPr>
            <a:r>
              <a:rPr sz="1100" b="1" i="0" spc="154">
                <a:solidFill>
                  <a:srgbClr val="5B4BD6"/>
                </a:solidFill>
                <a:latin typeface="Noto Sans"/>
              </a:rPr>
              <a:t>A LESSON, WITH A MADE-UP EXAMPLE</a:t>
            </a:r>
          </a:p>
        </p:txBody>
      </p:sp>
      <p:sp>
        <p:nvSpPr>
          <p:cNvPr id="4" name="Text"/>
          <p:cNvSpPr txBox="1"/>
          <p:nvPr/>
        </p:nvSpPr>
        <p:spPr>
          <a:xfrm>
            <a:off x="762000" y="1389757"/>
            <a:ext cx="9810750" cy="269875"/>
          </a:xfrm>
          <a:prstGeom prst="rect">
            <a:avLst/>
          </a:prstGeom>
          <a:noFill/>
        </p:spPr>
        <p:txBody>
          <a:bodyPr wrap="square" lIns="0" rIns="0" tIns="0" bIns="0" anchor="t">
            <a:noAutofit/>
          </a:bodyPr>
          <a:lstStyle/>
          <a:p>
            <a:pPr algn="l">
              <a:lnSpc>
                <a:spcPts val="2125"/>
              </a:lnSpc>
              <a:spcBef>
                <a:spcPts val="0"/>
              </a:spcBef>
              <a:spcAft>
                <a:spcPts val="0"/>
              </a:spcAft>
            </a:pPr>
            <a:r>
              <a:rPr sz="1700" b="0" i="0">
                <a:solidFill>
                  <a:srgbClr val="4A5163"/>
                </a:solidFill>
                <a:latin typeface="Noto Sans"/>
              </a:rPr>
              <a:t>A hammer went out with a cracked handle.</a:t>
            </a:r>
          </a:p>
        </p:txBody>
      </p:sp>
      <p:sp>
        <p:nvSpPr>
          <p:cNvPr id="5" name="Box"/>
          <p:cNvSpPr/>
          <p:nvPr/>
        </p:nvSpPr>
        <p:spPr>
          <a:xfrm>
            <a:off x="762000" y="2095500"/>
            <a:ext cx="3437434" cy="3175000"/>
          </a:xfrm>
          <a:prstGeom prst="roundRect">
            <a:avLst>
              <a:gd name="adj" fmla="val 3200"/>
            </a:avLst>
          </a:prstGeom>
          <a:solidFill>
            <a:srgbClr val="FFFFFF"/>
          </a:solidFill>
          <a:ln w="6350">
            <a:solidFill>
              <a:srgbClr val="DCD9D0"/>
            </a:solidFill>
          </a:ln>
          <a:effectLst/>
        </p:spPr>
        <p:txBody>
          <a:bodyPr rtlCol="0" anchor="ctr"/>
          <a:lstStyle/>
          <a:p>
            <a:pPr algn="ctr"/>
          </a:p>
        </p:txBody>
      </p:sp>
      <p:sp>
        <p:nvSpPr>
          <p:cNvPr id="6" name="Text"/>
          <p:cNvSpPr txBox="1"/>
          <p:nvPr/>
        </p:nvSpPr>
        <p:spPr>
          <a:xfrm>
            <a:off x="965200" y="2284362"/>
            <a:ext cx="3121965" cy="155677"/>
          </a:xfrm>
          <a:prstGeom prst="rect">
            <a:avLst/>
          </a:prstGeom>
          <a:noFill/>
        </p:spPr>
        <p:txBody>
          <a:bodyPr wrap="square" lIns="0" rIns="0" tIns="0" bIns="0" anchor="t">
            <a:noAutofit/>
          </a:bodyPr>
          <a:lstStyle/>
          <a:p>
            <a:pPr algn="l">
              <a:lnSpc>
                <a:spcPts val="1225"/>
              </a:lnSpc>
              <a:spcBef>
                <a:spcPts val="0"/>
              </a:spcBef>
              <a:spcAft>
                <a:spcPts val="0"/>
              </a:spcAft>
            </a:pPr>
            <a:r>
              <a:rPr sz="900" b="1" i="0" spc="108">
                <a:solidFill>
                  <a:srgbClr val="D0453D"/>
                </a:solidFill>
                <a:latin typeface="Noto Sans"/>
              </a:rPr>
              <a:t>WHAT WENT WRONG</a:t>
            </a:r>
          </a:p>
        </p:txBody>
      </p:sp>
      <p:sp>
        <p:nvSpPr>
          <p:cNvPr id="7" name="Text"/>
          <p:cNvSpPr txBox="1"/>
          <p:nvPr/>
        </p:nvSpPr>
        <p:spPr>
          <a:xfrm>
            <a:off x="965200" y="2496820"/>
            <a:ext cx="3121965" cy="1031121"/>
          </a:xfrm>
          <a:prstGeom prst="rect">
            <a:avLst/>
          </a:prstGeom>
          <a:noFill/>
        </p:spPr>
        <p:txBody>
          <a:bodyPr wrap="square" lIns="0" rIns="0" tIns="0" bIns="0" anchor="t">
            <a:noAutofit/>
          </a:bodyPr>
          <a:lstStyle/>
          <a:p>
            <a:pPr algn="l">
              <a:lnSpc>
                <a:spcPts val="2030"/>
              </a:lnSpc>
              <a:spcBef>
                <a:spcPts val="0"/>
              </a:spcBef>
              <a:spcAft>
                <a:spcPts val="0"/>
              </a:spcAft>
            </a:pPr>
            <a:r>
              <a:rPr sz="1450" b="0" i="0">
                <a:solidFill>
                  <a:srgbClr val="1D2433"/>
                </a:solidFill>
                <a:latin typeface="Noto Sans"/>
              </a:rPr>
              <a:t>A returned hammer was hung back on its hook with a hairline crack in the handle. A borrower swung it and the head came off.</a:t>
            </a:r>
          </a:p>
        </p:txBody>
      </p:sp>
      <p:sp>
        <p:nvSpPr>
          <p:cNvPr id="8" name="Box"/>
          <p:cNvSpPr/>
          <p:nvPr/>
        </p:nvSpPr>
        <p:spPr>
          <a:xfrm>
            <a:off x="4377234" y="2095500"/>
            <a:ext cx="3437434" cy="3175000"/>
          </a:xfrm>
          <a:prstGeom prst="roundRect">
            <a:avLst>
              <a:gd name="adj" fmla="val 3200"/>
            </a:avLst>
          </a:prstGeom>
          <a:solidFill>
            <a:srgbClr val="FFFFFF"/>
          </a:solidFill>
          <a:ln w="6350">
            <a:solidFill>
              <a:srgbClr val="DCD9D0"/>
            </a:solidFill>
          </a:ln>
          <a:effectLst/>
        </p:spPr>
        <p:txBody>
          <a:bodyPr rtlCol="0" anchor="ctr"/>
          <a:lstStyle/>
          <a:p>
            <a:pPr algn="ctr"/>
          </a:p>
        </p:txBody>
      </p:sp>
      <p:sp>
        <p:nvSpPr>
          <p:cNvPr id="9" name="Text"/>
          <p:cNvSpPr txBox="1"/>
          <p:nvPr/>
        </p:nvSpPr>
        <p:spPr>
          <a:xfrm>
            <a:off x="4580434" y="2284362"/>
            <a:ext cx="3121965" cy="155677"/>
          </a:xfrm>
          <a:prstGeom prst="rect">
            <a:avLst/>
          </a:prstGeom>
          <a:noFill/>
        </p:spPr>
        <p:txBody>
          <a:bodyPr wrap="square" lIns="0" rIns="0" tIns="0" bIns="0" anchor="t">
            <a:noAutofit/>
          </a:bodyPr>
          <a:lstStyle/>
          <a:p>
            <a:pPr algn="l">
              <a:lnSpc>
                <a:spcPts val="1225"/>
              </a:lnSpc>
              <a:spcBef>
                <a:spcPts val="0"/>
              </a:spcBef>
              <a:spcAft>
                <a:spcPts val="0"/>
              </a:spcAft>
            </a:pPr>
            <a:r>
              <a:rPr sz="900" b="1" i="0" spc="108">
                <a:solidFill>
                  <a:srgbClr val="E3A33B"/>
                </a:solidFill>
                <a:latin typeface="Noto Sans"/>
              </a:rPr>
              <a:t>WHY IT GOT THROUGH</a:t>
            </a:r>
          </a:p>
        </p:txBody>
      </p:sp>
      <p:sp>
        <p:nvSpPr>
          <p:cNvPr id="10" name="Text"/>
          <p:cNvSpPr txBox="1"/>
          <p:nvPr/>
        </p:nvSpPr>
        <p:spPr>
          <a:xfrm>
            <a:off x="4580434" y="2496820"/>
            <a:ext cx="3121965" cy="773351"/>
          </a:xfrm>
          <a:prstGeom prst="rect">
            <a:avLst/>
          </a:prstGeom>
          <a:noFill/>
        </p:spPr>
        <p:txBody>
          <a:bodyPr wrap="square" lIns="0" rIns="0" tIns="0" bIns="0" anchor="t">
            <a:noAutofit/>
          </a:bodyPr>
          <a:lstStyle/>
          <a:p>
            <a:pPr algn="l">
              <a:lnSpc>
                <a:spcPts val="2030"/>
              </a:lnSpc>
              <a:spcBef>
                <a:spcPts val="0"/>
              </a:spcBef>
              <a:spcAft>
                <a:spcPts val="0"/>
              </a:spcAft>
            </a:pPr>
            <a:r>
              <a:rPr sz="1450" b="0" i="0">
                <a:solidFill>
                  <a:srgbClr val="1D2433"/>
                </a:solidFill>
                <a:latin typeface="Noto Sans"/>
              </a:rPr>
              <a:t>The checker looked at the head, which was fine, and trusted the note the borrower had left.</a:t>
            </a:r>
          </a:p>
        </p:txBody>
      </p:sp>
      <p:sp>
        <p:nvSpPr>
          <p:cNvPr id="11" name="Box"/>
          <p:cNvSpPr/>
          <p:nvPr/>
        </p:nvSpPr>
        <p:spPr>
          <a:xfrm>
            <a:off x="7992467" y="2095500"/>
            <a:ext cx="3437434" cy="3175000"/>
          </a:xfrm>
          <a:prstGeom prst="roundRect">
            <a:avLst>
              <a:gd name="adj" fmla="val 3200"/>
            </a:avLst>
          </a:prstGeom>
          <a:solidFill>
            <a:srgbClr val="FFFFFF"/>
          </a:solidFill>
          <a:ln w="6350">
            <a:solidFill>
              <a:srgbClr val="DCD9D0"/>
            </a:solidFill>
          </a:ln>
          <a:effectLst/>
        </p:spPr>
        <p:txBody>
          <a:bodyPr rtlCol="0" anchor="ctr"/>
          <a:lstStyle/>
          <a:p>
            <a:pPr algn="ctr"/>
          </a:p>
        </p:txBody>
      </p:sp>
      <p:sp>
        <p:nvSpPr>
          <p:cNvPr id="12" name="Text"/>
          <p:cNvSpPr txBox="1"/>
          <p:nvPr/>
        </p:nvSpPr>
        <p:spPr>
          <a:xfrm>
            <a:off x="8195667" y="2284362"/>
            <a:ext cx="3121965" cy="155677"/>
          </a:xfrm>
          <a:prstGeom prst="rect">
            <a:avLst/>
          </a:prstGeom>
          <a:noFill/>
        </p:spPr>
        <p:txBody>
          <a:bodyPr wrap="square" lIns="0" rIns="0" tIns="0" bIns="0" anchor="t">
            <a:noAutofit/>
          </a:bodyPr>
          <a:lstStyle/>
          <a:p>
            <a:pPr algn="l">
              <a:lnSpc>
                <a:spcPts val="1225"/>
              </a:lnSpc>
              <a:spcBef>
                <a:spcPts val="0"/>
              </a:spcBef>
              <a:spcAft>
                <a:spcPts val="0"/>
              </a:spcAft>
            </a:pPr>
            <a:r>
              <a:rPr sz="900" b="1" i="0" spc="108">
                <a:solidFill>
                  <a:srgbClr val="2E9E6B"/>
                </a:solidFill>
                <a:latin typeface="Noto Sans"/>
              </a:rPr>
              <a:t>THE RULE NOW</a:t>
            </a:r>
          </a:p>
        </p:txBody>
      </p:sp>
      <p:sp>
        <p:nvSpPr>
          <p:cNvPr id="13" name="Text"/>
          <p:cNvSpPr txBox="1"/>
          <p:nvPr/>
        </p:nvSpPr>
        <p:spPr>
          <a:xfrm>
            <a:off x="8195667" y="2496820"/>
            <a:ext cx="3121965" cy="1031121"/>
          </a:xfrm>
          <a:prstGeom prst="rect">
            <a:avLst/>
          </a:prstGeom>
          <a:noFill/>
        </p:spPr>
        <p:txBody>
          <a:bodyPr wrap="square" lIns="0" rIns="0" tIns="0" bIns="0" anchor="t">
            <a:noAutofit/>
          </a:bodyPr>
          <a:lstStyle/>
          <a:p>
            <a:pPr algn="l">
              <a:lnSpc>
                <a:spcPts val="2030"/>
              </a:lnSpc>
              <a:spcBef>
                <a:spcPts val="0"/>
              </a:spcBef>
              <a:spcAft>
                <a:spcPts val="0"/>
              </a:spcAft>
            </a:pPr>
            <a:r>
              <a:rPr sz="1450" b="0" i="0">
                <a:solidFill>
                  <a:srgbClr val="1D2433"/>
                </a:solidFill>
                <a:latin typeface="Noto Sans"/>
              </a:rPr>
              <a:t>A returned tool is hung only after the checker has tried every moving part, and the ledger line says who checked it.</a:t>
            </a:r>
          </a:p>
        </p:txBody>
      </p:sp>
      <p:sp>
        <p:nvSpPr>
          <p:cNvPr id="14" name="Box"/>
          <p:cNvSpPr/>
          <p:nvPr/>
        </p:nvSpPr>
        <p:spPr>
          <a:xfrm>
            <a:off x="762000" y="5461000"/>
            <a:ext cx="10668000" cy="635000"/>
          </a:xfrm>
          <a:prstGeom prst="roundRect">
            <a:avLst>
              <a:gd name="adj" fmla="val 16000"/>
            </a:avLst>
          </a:prstGeom>
          <a:solidFill>
            <a:srgbClr val="1D2433"/>
          </a:solidFill>
          <a:ln>
            <a:noFill/>
          </a:ln>
          <a:effectLst/>
        </p:spPr>
        <p:txBody>
          <a:bodyPr rtlCol="0" anchor="ctr"/>
          <a:lstStyle/>
          <a:p>
            <a:pPr algn="ctr"/>
          </a:p>
        </p:txBody>
      </p:sp>
      <p:sp>
        <p:nvSpPr>
          <p:cNvPr id="15" name="Text"/>
          <p:cNvSpPr txBox="1"/>
          <p:nvPr/>
        </p:nvSpPr>
        <p:spPr>
          <a:xfrm>
            <a:off x="990600" y="5700662"/>
            <a:ext cx="534194" cy="155677"/>
          </a:xfrm>
          <a:prstGeom prst="rect">
            <a:avLst/>
          </a:prstGeom>
          <a:noFill/>
        </p:spPr>
        <p:txBody>
          <a:bodyPr wrap="none" lIns="0" rIns="0" tIns="0" bIns="0" anchor="t">
            <a:noAutofit/>
          </a:bodyPr>
          <a:lstStyle/>
          <a:p>
            <a:pPr algn="l">
              <a:lnSpc>
                <a:spcPts val="1225"/>
              </a:lnSpc>
              <a:spcBef>
                <a:spcPts val="0"/>
              </a:spcBef>
              <a:spcAft>
                <a:spcPts val="0"/>
              </a:spcAft>
            </a:pPr>
            <a:r>
              <a:rPr sz="900" b="1" i="0" spc="126">
                <a:solidFill>
                  <a:srgbClr val="B3A9FF"/>
                </a:solidFill>
                <a:latin typeface="Noto Sans"/>
              </a:rPr>
              <a:t>LESSON</a:t>
            </a:r>
          </a:p>
        </p:txBody>
      </p:sp>
      <p:sp>
        <p:nvSpPr>
          <p:cNvPr id="16" name="Text"/>
          <p:cNvSpPr txBox="1"/>
          <p:nvPr/>
        </p:nvSpPr>
        <p:spPr>
          <a:xfrm>
            <a:off x="1702594" y="5648770"/>
            <a:ext cx="4539107" cy="259461"/>
          </a:xfrm>
          <a:prstGeom prst="rect">
            <a:avLst/>
          </a:prstGeom>
          <a:noFill/>
        </p:spPr>
        <p:txBody>
          <a:bodyPr wrap="square" lIns="0" rIns="0" tIns="0" bIns="0" anchor="t">
            <a:noAutofit/>
          </a:bodyPr>
          <a:lstStyle/>
          <a:p>
            <a:pPr algn="l">
              <a:lnSpc>
                <a:spcPts val="2043"/>
              </a:lnSpc>
              <a:spcBef>
                <a:spcPts val="0"/>
              </a:spcBef>
              <a:spcAft>
                <a:spcPts val="0"/>
              </a:spcAft>
            </a:pPr>
            <a:r>
              <a:rPr sz="1500" b="0" i="0">
                <a:solidFill>
                  <a:srgbClr val="FFFFFF"/>
                </a:solidFill>
                <a:latin typeface="Noto Sans"/>
              </a:rPr>
              <a:t>Test the tool with your hands, not only your eyes.</a:t>
            </a:r>
          </a:p>
        </p:txBody>
      </p:sp>
      <p:sp>
        <p:nvSpPr>
          <p:cNvPr id="17" name="Box"/>
          <p:cNvSpPr/>
          <p:nvPr/>
        </p:nvSpPr>
        <p:spPr>
          <a:xfrm>
            <a:off x="762000" y="6369050"/>
            <a:ext cx="10668000" cy="6350"/>
          </a:xfrm>
          <a:prstGeom prst="rect">
            <a:avLst/>
          </a:prstGeom>
          <a:solidFill>
            <a:srgbClr val="DCD9D0"/>
          </a:solidFill>
          <a:ln>
            <a:noFill/>
          </a:ln>
          <a:effectLst/>
        </p:spPr>
        <p:txBody>
          <a:bodyPr rtlCol="0" anchor="ctr"/>
          <a:lstStyle/>
          <a:p>
            <a:pPr algn="ctr"/>
          </a:p>
        </p:txBody>
      </p:sp>
      <p:sp>
        <p:nvSpPr>
          <p:cNvPr id="18" name="Text"/>
          <p:cNvSpPr txBox="1"/>
          <p:nvPr/>
        </p:nvSpPr>
        <p:spPr>
          <a:xfrm>
            <a:off x="762000" y="6495561"/>
            <a:ext cx="2184400" cy="147028"/>
          </a:xfrm>
          <a:prstGeom prst="rect">
            <a:avLst/>
          </a:prstGeom>
          <a:noFill/>
        </p:spPr>
        <p:txBody>
          <a:bodyPr wrap="none" lIns="0" rIns="0" tIns="0" bIns="0" anchor="t">
            <a:noAutofit/>
          </a:bodyPr>
          <a:lstStyle/>
          <a:p>
            <a:pPr algn="l">
              <a:lnSpc>
                <a:spcPts val="1157"/>
              </a:lnSpc>
              <a:spcBef>
                <a:spcPts val="0"/>
              </a:spcBef>
              <a:spcAft>
                <a:spcPts val="0"/>
              </a:spcAft>
            </a:pPr>
            <a:r>
              <a:rPr sz="850" b="1" i="0">
                <a:solidFill>
                  <a:srgbClr val="4A5163"/>
                </a:solidFill>
                <a:latin typeface="Noto Sans"/>
              </a:rPr>
              <a:t>Source:</a:t>
            </a:r>
            <a:r>
              <a:rPr sz="850" b="0" i="0">
                <a:solidFill>
                  <a:srgbClr val="8A8F9C"/>
                </a:solidFill>
                <a:latin typeface="Noto Sans"/>
              </a:rPr>
              <a:t> Invented example; no real incident</a:t>
            </a:r>
          </a:p>
        </p:txBody>
      </p:sp>
      <p:sp>
        <p:nvSpPr>
          <p:cNvPr id="19" name="Text"/>
          <p:cNvSpPr txBox="1"/>
          <p:nvPr/>
        </p:nvSpPr>
        <p:spPr>
          <a:xfrm>
            <a:off x="11150600" y="6495561"/>
            <a:ext cx="287782" cy="147028"/>
          </a:xfrm>
          <a:prstGeom prst="rect">
            <a:avLst/>
          </a:prstGeom>
          <a:noFill/>
        </p:spPr>
        <p:txBody>
          <a:bodyPr wrap="square" lIns="0" rIns="0" tIns="0" bIns="0" anchor="t">
            <a:noAutofit/>
          </a:bodyPr>
          <a:lstStyle/>
          <a:p>
            <a:pPr algn="l">
              <a:lnSpc>
                <a:spcPts val="1157"/>
              </a:lnSpc>
              <a:spcBef>
                <a:spcPts val="0"/>
              </a:spcBef>
              <a:spcAft>
                <a:spcPts val="0"/>
              </a:spcAft>
            </a:pPr>
            <a:r>
              <a:rPr sz="850" b="0" i="0">
                <a:solidFill>
                  <a:srgbClr val="8A8F9C"/>
                </a:solidFill>
                <a:latin typeface="Noto Sans"/>
              </a:rPr>
              <a:t>5 / 11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itle 1"/>
          <p:cNvSpPr>
            <a:spLocks noGrp="1"/>
          </p:cNvSpPr>
          <p:nvPr>
            <p:ph type="title"/>
          </p:nvPr>
        </p:nvSpPr>
        <p:spPr>
          <a:xfrm>
            <a:off x="762000" y="837819"/>
            <a:ext cx="10988040" cy="438912"/>
          </a:xfrm>
        </p:spPr>
        <p:txBody>
          <a:bodyPr wrap="square" lIns="0" rIns="0" tIns="0" bIns="0" anchor="t">
            <a:noAutofit/>
          </a:bodyPr>
          <a:lstStyle/>
          <a:p>
            <a:pPr algn="l">
              <a:lnSpc>
                <a:spcPts val="3456"/>
              </a:lnSpc>
              <a:spcBef>
                <a:spcPts val="0"/>
              </a:spcBef>
              <a:spcAft>
                <a:spcPts val="0"/>
              </a:spcAft>
            </a:pPr>
            <a:r>
              <a:rPr sz="3200" b="1" i="0" spc="-32">
                <a:solidFill>
                  <a:srgbClr val="1D2433"/>
                </a:solidFill>
                <a:latin typeface="Noto Sans"/>
              </a:rPr>
              <a:t>A tool shed borrows its habits from a book library</a:t>
            </a:r>
          </a:p>
        </p:txBody>
      </p:sp>
      <p:sp>
        <p:nvSpPr>
          <p:cNvPr id="3" name="Text"/>
          <p:cNvSpPr txBox="1"/>
          <p:nvPr/>
        </p:nvSpPr>
        <p:spPr>
          <a:xfrm>
            <a:off x="762000" y="558914"/>
            <a:ext cx="10988040" cy="190271"/>
          </a:xfrm>
          <a:prstGeom prst="rect">
            <a:avLst/>
          </a:prstGeom>
          <a:noFill/>
        </p:spPr>
        <p:txBody>
          <a:bodyPr wrap="square" lIns="0" rIns="0" tIns="0" bIns="0" anchor="t">
            <a:noAutofit/>
          </a:bodyPr>
          <a:lstStyle/>
          <a:p>
            <a:pPr algn="l">
              <a:lnSpc>
                <a:spcPts val="1498"/>
              </a:lnSpc>
              <a:spcBef>
                <a:spcPts val="0"/>
              </a:spcBef>
              <a:spcAft>
                <a:spcPts val="0"/>
              </a:spcAft>
            </a:pPr>
            <a:r>
              <a:rPr sz="1100" b="1" i="0" spc="154">
                <a:solidFill>
                  <a:srgbClr val="5B4BD6"/>
                </a:solidFill>
                <a:latin typeface="Noto Sans"/>
              </a:rPr>
              <a:t>THE MAPPING</a:t>
            </a:r>
          </a:p>
        </p:txBody>
      </p:sp>
      <p:sp>
        <p:nvSpPr>
          <p:cNvPr id="4" name="Text"/>
          <p:cNvSpPr txBox="1"/>
          <p:nvPr/>
        </p:nvSpPr>
        <p:spPr>
          <a:xfrm>
            <a:off x="876300" y="1707661"/>
            <a:ext cx="3205254" cy="147028"/>
          </a:xfrm>
          <a:prstGeom prst="rect">
            <a:avLst/>
          </a:prstGeom>
          <a:noFill/>
        </p:spPr>
        <p:txBody>
          <a:bodyPr wrap="square" lIns="0" rIns="0" tIns="0" bIns="0" anchor="t">
            <a:noAutofit/>
          </a:bodyPr>
          <a:lstStyle/>
          <a:p>
            <a:pPr algn="l">
              <a:lnSpc>
                <a:spcPts val="1157"/>
              </a:lnSpc>
              <a:spcBef>
                <a:spcPts val="0"/>
              </a:spcBef>
              <a:spcAft>
                <a:spcPts val="0"/>
              </a:spcAft>
            </a:pPr>
            <a:r>
              <a:rPr sz="850" b="1" i="0" spc="102">
                <a:solidFill>
                  <a:srgbClr val="8A8F9C"/>
                </a:solidFill>
                <a:latin typeface="Noto Sans"/>
              </a:rPr>
              <a:t>BOOK LIBRARY</a:t>
            </a:r>
          </a:p>
        </p:txBody>
      </p:sp>
      <p:sp>
        <p:nvSpPr>
          <p:cNvPr id="5" name="Text"/>
          <p:cNvSpPr txBox="1"/>
          <p:nvPr/>
        </p:nvSpPr>
        <p:spPr>
          <a:xfrm>
            <a:off x="4539952" y="1707661"/>
            <a:ext cx="5092086" cy="147028"/>
          </a:xfrm>
          <a:prstGeom prst="rect">
            <a:avLst/>
          </a:prstGeom>
          <a:noFill/>
        </p:spPr>
        <p:txBody>
          <a:bodyPr wrap="square" lIns="0" rIns="0" tIns="0" bIns="0" anchor="t">
            <a:noAutofit/>
          </a:bodyPr>
          <a:lstStyle/>
          <a:p>
            <a:pPr algn="l">
              <a:lnSpc>
                <a:spcPts val="1157"/>
              </a:lnSpc>
              <a:spcBef>
                <a:spcPts val="0"/>
              </a:spcBef>
              <a:spcAft>
                <a:spcPts val="0"/>
              </a:spcAft>
            </a:pPr>
            <a:r>
              <a:rPr sz="850" b="1" i="0" spc="102">
                <a:solidFill>
                  <a:srgbClr val="8A8F9C"/>
                </a:solidFill>
                <a:latin typeface="Noto Sans"/>
              </a:rPr>
              <a:t>TOOL SHED</a:t>
            </a:r>
          </a:p>
        </p:txBody>
      </p:sp>
      <p:sp>
        <p:nvSpPr>
          <p:cNvPr id="6" name="Text"/>
          <p:cNvSpPr txBox="1"/>
          <p:nvPr/>
        </p:nvSpPr>
        <p:spPr>
          <a:xfrm>
            <a:off x="9712325" y="1707661"/>
            <a:ext cx="1651476" cy="147028"/>
          </a:xfrm>
          <a:prstGeom prst="rect">
            <a:avLst/>
          </a:prstGeom>
          <a:noFill/>
        </p:spPr>
        <p:txBody>
          <a:bodyPr wrap="square" lIns="0" rIns="0" tIns="0" bIns="0" anchor="t">
            <a:noAutofit/>
          </a:bodyPr>
          <a:lstStyle/>
          <a:p>
            <a:pPr algn="l">
              <a:lnSpc>
                <a:spcPts val="1157"/>
              </a:lnSpc>
              <a:spcBef>
                <a:spcPts val="0"/>
              </a:spcBef>
              <a:spcAft>
                <a:spcPts val="0"/>
              </a:spcAft>
            </a:pPr>
            <a:r>
              <a:rPr sz="850" b="1" i="0" spc="102">
                <a:solidFill>
                  <a:srgbClr val="8A8F9C"/>
                </a:solidFill>
                <a:latin typeface="Noto Sans"/>
              </a:rPr>
              <a:t>SAME OR DIFFERENT?</a:t>
            </a:r>
          </a:p>
        </p:txBody>
      </p:sp>
      <p:sp>
        <p:nvSpPr>
          <p:cNvPr id="7" name="Box"/>
          <p:cNvSpPr/>
          <p:nvPr/>
        </p:nvSpPr>
        <p:spPr>
          <a:xfrm>
            <a:off x="762000" y="1898650"/>
            <a:ext cx="3340497" cy="341312"/>
          </a:xfrm>
          <a:prstGeom prst="rect">
            <a:avLst/>
          </a:prstGeom>
          <a:solidFill>
            <a:srgbClr val="FFFFFF"/>
          </a:solidFill>
          <a:ln>
            <a:noFill/>
          </a:ln>
          <a:effectLst/>
        </p:spPr>
        <p:txBody>
          <a:bodyPr rtlCol="0" anchor="ctr"/>
          <a:lstStyle/>
          <a:p>
            <a:pPr algn="ctr"/>
          </a:p>
        </p:txBody>
      </p:sp>
      <p:sp>
        <p:nvSpPr>
          <p:cNvPr id="8" name="Text"/>
          <p:cNvSpPr txBox="1"/>
          <p:nvPr/>
        </p:nvSpPr>
        <p:spPr>
          <a:xfrm>
            <a:off x="876300" y="1977231"/>
            <a:ext cx="3205254" cy="174625"/>
          </a:xfrm>
          <a:prstGeom prst="rect">
            <a:avLst/>
          </a:prstGeom>
          <a:noFill/>
        </p:spPr>
        <p:txBody>
          <a:bodyPr wrap="square" lIns="0" rIns="0" tIns="0" bIns="0" anchor="t">
            <a:noAutofit/>
          </a:bodyPr>
          <a:lstStyle/>
          <a:p>
            <a:pPr algn="l">
              <a:lnSpc>
                <a:spcPts val="1375"/>
              </a:lnSpc>
              <a:spcBef>
                <a:spcPts val="0"/>
              </a:spcBef>
              <a:spcAft>
                <a:spcPts val="0"/>
              </a:spcAft>
            </a:pPr>
            <a:r>
              <a:rPr sz="1100" b="1" i="0">
                <a:solidFill>
                  <a:srgbClr val="1D2433"/>
                </a:solidFill>
                <a:latin typeface="Noto Sans"/>
              </a:rPr>
              <a:t>A catalogue entry per book</a:t>
            </a:r>
          </a:p>
        </p:txBody>
      </p:sp>
      <p:sp>
        <p:nvSpPr>
          <p:cNvPr id="9" name="Box"/>
          <p:cNvSpPr/>
          <p:nvPr/>
        </p:nvSpPr>
        <p:spPr>
          <a:xfrm>
            <a:off x="4102497" y="1898650"/>
            <a:ext cx="323155" cy="341312"/>
          </a:xfrm>
          <a:prstGeom prst="rect">
            <a:avLst/>
          </a:prstGeom>
          <a:solidFill>
            <a:srgbClr val="FFFFFF"/>
          </a:solidFill>
          <a:ln>
            <a:noFill/>
          </a:ln>
          <a:effectLst/>
        </p:spPr>
        <p:txBody>
          <a:bodyPr rtlCol="0" anchor="ctr"/>
          <a:lstStyle/>
          <a:p>
            <a:pPr algn="ctr"/>
          </a:p>
        </p:txBody>
      </p:sp>
      <p:sp>
        <p:nvSpPr>
          <p:cNvPr id="10" name="Text"/>
          <p:cNvSpPr txBox="1"/>
          <p:nvPr/>
        </p:nvSpPr>
        <p:spPr>
          <a:xfrm>
            <a:off x="4097650" y="1977231"/>
            <a:ext cx="332850" cy="174625"/>
          </a:xfrm>
          <a:prstGeom prst="rect">
            <a:avLst/>
          </a:prstGeom>
          <a:noFill/>
        </p:spPr>
        <p:txBody>
          <a:bodyPr wrap="square" lIns="0" rIns="0" tIns="0" bIns="0" anchor="t">
            <a:noAutofit/>
          </a:bodyPr>
          <a:lstStyle/>
          <a:p>
            <a:pPr algn="ctr">
              <a:lnSpc>
                <a:spcPts val="1375"/>
              </a:lnSpc>
              <a:spcBef>
                <a:spcPts val="0"/>
              </a:spcBef>
              <a:spcAft>
                <a:spcPts val="0"/>
              </a:spcAft>
            </a:pPr>
            <a:r>
              <a:rPr sz="1100" b="1" i="0">
                <a:solidFill>
                  <a:srgbClr val="5B4BD6"/>
                </a:solidFill>
                <a:latin typeface="Noto Sans"/>
              </a:rPr>
              <a:t>→</a:t>
            </a:r>
          </a:p>
        </p:txBody>
      </p:sp>
      <p:sp>
        <p:nvSpPr>
          <p:cNvPr id="11" name="Box"/>
          <p:cNvSpPr/>
          <p:nvPr/>
        </p:nvSpPr>
        <p:spPr>
          <a:xfrm>
            <a:off x="4425652" y="1898650"/>
            <a:ext cx="5172373" cy="341312"/>
          </a:xfrm>
          <a:prstGeom prst="rect">
            <a:avLst/>
          </a:prstGeom>
          <a:solidFill>
            <a:srgbClr val="FFFFFF"/>
          </a:solidFill>
          <a:ln>
            <a:noFill/>
          </a:ln>
          <a:effectLst/>
        </p:spPr>
        <p:txBody>
          <a:bodyPr rtlCol="0" anchor="ctr"/>
          <a:lstStyle/>
          <a:p>
            <a:pPr algn="ctr"/>
          </a:p>
        </p:txBody>
      </p:sp>
      <p:sp>
        <p:nvSpPr>
          <p:cNvPr id="12" name="Text"/>
          <p:cNvSpPr txBox="1"/>
          <p:nvPr/>
        </p:nvSpPr>
        <p:spPr>
          <a:xfrm>
            <a:off x="4539952" y="1977231"/>
            <a:ext cx="5092086" cy="174625"/>
          </a:xfrm>
          <a:prstGeom prst="rect">
            <a:avLst/>
          </a:prstGeom>
          <a:noFill/>
        </p:spPr>
        <p:txBody>
          <a:bodyPr wrap="square" lIns="0" rIns="0" tIns="0" bIns="0" anchor="t">
            <a:noAutofit/>
          </a:bodyPr>
          <a:lstStyle/>
          <a:p>
            <a:pPr algn="l">
              <a:lnSpc>
                <a:spcPts val="1375"/>
              </a:lnSpc>
              <a:spcBef>
                <a:spcPts val="0"/>
              </a:spcBef>
              <a:spcAft>
                <a:spcPts val="0"/>
              </a:spcAft>
            </a:pPr>
            <a:r>
              <a:rPr sz="1100" b="0" i="0">
                <a:solidFill>
                  <a:srgbClr val="4A5163"/>
                </a:solidFill>
                <a:latin typeface="Noto Sans"/>
              </a:rPr>
              <a:t>A ledger line per tool</a:t>
            </a:r>
          </a:p>
        </p:txBody>
      </p:sp>
      <p:sp>
        <p:nvSpPr>
          <p:cNvPr id="13" name="Box"/>
          <p:cNvSpPr/>
          <p:nvPr/>
        </p:nvSpPr>
        <p:spPr>
          <a:xfrm>
            <a:off x="9598025" y="1898650"/>
            <a:ext cx="1831975" cy="341312"/>
          </a:xfrm>
          <a:prstGeom prst="rect">
            <a:avLst/>
          </a:prstGeom>
          <a:solidFill>
            <a:srgbClr val="FFFFFF"/>
          </a:solidFill>
          <a:ln>
            <a:noFill/>
          </a:ln>
          <a:effectLst/>
        </p:spPr>
        <p:txBody>
          <a:bodyPr rtlCol="0" anchor="ctr"/>
          <a:lstStyle/>
          <a:p>
            <a:pPr algn="ctr"/>
          </a:p>
        </p:txBody>
      </p:sp>
      <p:sp>
        <p:nvSpPr>
          <p:cNvPr id="14" name="Box"/>
          <p:cNvSpPr/>
          <p:nvPr/>
        </p:nvSpPr>
        <p:spPr>
          <a:xfrm>
            <a:off x="9712325" y="1962150"/>
            <a:ext cx="787400" cy="214312"/>
          </a:xfrm>
          <a:prstGeom prst="roundRect">
            <a:avLst>
              <a:gd name="adj" fmla="val 50000"/>
            </a:avLst>
          </a:prstGeom>
          <a:solidFill>
            <a:srgbClr val="3F9FA6"/>
          </a:solidFill>
          <a:ln>
            <a:noFill/>
          </a:ln>
          <a:effectLst/>
        </p:spPr>
        <p:txBody>
          <a:bodyPr rtlCol="0" anchor="ctr"/>
          <a:lstStyle/>
          <a:p>
            <a:pPr algn="ctr"/>
          </a:p>
        </p:txBody>
      </p:sp>
      <p:sp>
        <p:nvSpPr>
          <p:cNvPr id="15" name="Text"/>
          <p:cNvSpPr txBox="1"/>
          <p:nvPr/>
        </p:nvSpPr>
        <p:spPr>
          <a:xfrm>
            <a:off x="9801225" y="1988344"/>
            <a:ext cx="609600" cy="150812"/>
          </a:xfrm>
          <a:prstGeom prst="rect">
            <a:avLst/>
          </a:prstGeom>
          <a:noFill/>
        </p:spPr>
        <p:txBody>
          <a:bodyPr wrap="none" lIns="0" rIns="0" tIns="0" bIns="0" anchor="t">
            <a:noAutofit/>
          </a:bodyPr>
          <a:lstStyle/>
          <a:p>
            <a:pPr algn="l">
              <a:lnSpc>
                <a:spcPts val="1187"/>
              </a:lnSpc>
              <a:spcBef>
                <a:spcPts val="0"/>
              </a:spcBef>
              <a:spcAft>
                <a:spcPts val="0"/>
              </a:spcAft>
            </a:pPr>
            <a:r>
              <a:rPr sz="950" b="1" i="0">
                <a:solidFill>
                  <a:srgbClr val="FFFFFF"/>
                </a:solidFill>
                <a:latin typeface="Noto Sans"/>
              </a:rPr>
              <a:t>same idea</a:t>
            </a:r>
          </a:p>
        </p:txBody>
      </p:sp>
      <p:sp>
        <p:nvSpPr>
          <p:cNvPr id="16" name="Box"/>
          <p:cNvSpPr/>
          <p:nvPr/>
        </p:nvSpPr>
        <p:spPr>
          <a:xfrm>
            <a:off x="762000" y="2284412"/>
            <a:ext cx="3340497" cy="341312"/>
          </a:xfrm>
          <a:prstGeom prst="rect">
            <a:avLst/>
          </a:prstGeom>
          <a:solidFill>
            <a:srgbClr val="FFFFFF"/>
          </a:solidFill>
          <a:ln>
            <a:noFill/>
          </a:ln>
          <a:effectLst/>
        </p:spPr>
        <p:txBody>
          <a:bodyPr rtlCol="0" anchor="ctr"/>
          <a:lstStyle/>
          <a:p>
            <a:pPr algn="ctr"/>
          </a:p>
        </p:txBody>
      </p:sp>
      <p:sp>
        <p:nvSpPr>
          <p:cNvPr id="17" name="Text"/>
          <p:cNvSpPr txBox="1"/>
          <p:nvPr/>
        </p:nvSpPr>
        <p:spPr>
          <a:xfrm>
            <a:off x="876300" y="2362994"/>
            <a:ext cx="3205254" cy="174625"/>
          </a:xfrm>
          <a:prstGeom prst="rect">
            <a:avLst/>
          </a:prstGeom>
          <a:noFill/>
        </p:spPr>
        <p:txBody>
          <a:bodyPr wrap="square" lIns="0" rIns="0" tIns="0" bIns="0" anchor="t">
            <a:noAutofit/>
          </a:bodyPr>
          <a:lstStyle/>
          <a:p>
            <a:pPr algn="l">
              <a:lnSpc>
                <a:spcPts val="1375"/>
              </a:lnSpc>
              <a:spcBef>
                <a:spcPts val="0"/>
              </a:spcBef>
              <a:spcAft>
                <a:spcPts val="0"/>
              </a:spcAft>
            </a:pPr>
            <a:r>
              <a:rPr sz="1100" b="1" i="0">
                <a:solidFill>
                  <a:srgbClr val="1D2433"/>
                </a:solidFill>
                <a:latin typeface="Noto Sans"/>
              </a:rPr>
              <a:t>A due date stamped inside</a:t>
            </a:r>
          </a:p>
        </p:txBody>
      </p:sp>
      <p:sp>
        <p:nvSpPr>
          <p:cNvPr id="18" name="Box"/>
          <p:cNvSpPr/>
          <p:nvPr/>
        </p:nvSpPr>
        <p:spPr>
          <a:xfrm>
            <a:off x="4102497" y="2284412"/>
            <a:ext cx="323155" cy="341312"/>
          </a:xfrm>
          <a:prstGeom prst="rect">
            <a:avLst/>
          </a:prstGeom>
          <a:solidFill>
            <a:srgbClr val="FFFFFF"/>
          </a:solidFill>
          <a:ln>
            <a:noFill/>
          </a:ln>
          <a:effectLst/>
        </p:spPr>
        <p:txBody>
          <a:bodyPr rtlCol="0" anchor="ctr"/>
          <a:lstStyle/>
          <a:p>
            <a:pPr algn="ctr"/>
          </a:p>
        </p:txBody>
      </p:sp>
      <p:sp>
        <p:nvSpPr>
          <p:cNvPr id="19" name="Text"/>
          <p:cNvSpPr txBox="1"/>
          <p:nvPr/>
        </p:nvSpPr>
        <p:spPr>
          <a:xfrm>
            <a:off x="4097650" y="2362994"/>
            <a:ext cx="332850" cy="174625"/>
          </a:xfrm>
          <a:prstGeom prst="rect">
            <a:avLst/>
          </a:prstGeom>
          <a:noFill/>
        </p:spPr>
        <p:txBody>
          <a:bodyPr wrap="square" lIns="0" rIns="0" tIns="0" bIns="0" anchor="t">
            <a:noAutofit/>
          </a:bodyPr>
          <a:lstStyle/>
          <a:p>
            <a:pPr algn="ctr">
              <a:lnSpc>
                <a:spcPts val="1375"/>
              </a:lnSpc>
              <a:spcBef>
                <a:spcPts val="0"/>
              </a:spcBef>
              <a:spcAft>
                <a:spcPts val="0"/>
              </a:spcAft>
            </a:pPr>
            <a:r>
              <a:rPr sz="1100" b="1" i="0">
                <a:solidFill>
                  <a:srgbClr val="5B4BD6"/>
                </a:solidFill>
                <a:latin typeface="Noto Sans"/>
              </a:rPr>
              <a:t>→</a:t>
            </a:r>
          </a:p>
        </p:txBody>
      </p:sp>
      <p:sp>
        <p:nvSpPr>
          <p:cNvPr id="20" name="Box"/>
          <p:cNvSpPr/>
          <p:nvPr/>
        </p:nvSpPr>
        <p:spPr>
          <a:xfrm>
            <a:off x="4425652" y="2284412"/>
            <a:ext cx="5172373" cy="341312"/>
          </a:xfrm>
          <a:prstGeom prst="rect">
            <a:avLst/>
          </a:prstGeom>
          <a:solidFill>
            <a:srgbClr val="FFFFFF"/>
          </a:solidFill>
          <a:ln>
            <a:noFill/>
          </a:ln>
          <a:effectLst/>
        </p:spPr>
        <p:txBody>
          <a:bodyPr rtlCol="0" anchor="ctr"/>
          <a:lstStyle/>
          <a:p>
            <a:pPr algn="ctr"/>
          </a:p>
        </p:txBody>
      </p:sp>
      <p:sp>
        <p:nvSpPr>
          <p:cNvPr id="21" name="Text"/>
          <p:cNvSpPr txBox="1"/>
          <p:nvPr/>
        </p:nvSpPr>
        <p:spPr>
          <a:xfrm>
            <a:off x="4539952" y="2362994"/>
            <a:ext cx="5092086" cy="174625"/>
          </a:xfrm>
          <a:prstGeom prst="rect">
            <a:avLst/>
          </a:prstGeom>
          <a:noFill/>
        </p:spPr>
        <p:txBody>
          <a:bodyPr wrap="square" lIns="0" rIns="0" tIns="0" bIns="0" anchor="t">
            <a:noAutofit/>
          </a:bodyPr>
          <a:lstStyle/>
          <a:p>
            <a:pPr algn="l">
              <a:lnSpc>
                <a:spcPts val="1375"/>
              </a:lnSpc>
              <a:spcBef>
                <a:spcPts val="0"/>
              </a:spcBef>
              <a:spcAft>
                <a:spcPts val="0"/>
              </a:spcAft>
            </a:pPr>
            <a:r>
              <a:rPr sz="1100" b="0" i="0">
                <a:solidFill>
                  <a:srgbClr val="4A5163"/>
                </a:solidFill>
                <a:latin typeface="Noto Sans"/>
              </a:rPr>
              <a:t>A Friday deadline, said aloud</a:t>
            </a:r>
          </a:p>
        </p:txBody>
      </p:sp>
      <p:sp>
        <p:nvSpPr>
          <p:cNvPr id="22" name="Box"/>
          <p:cNvSpPr/>
          <p:nvPr/>
        </p:nvSpPr>
        <p:spPr>
          <a:xfrm>
            <a:off x="9598025" y="2284412"/>
            <a:ext cx="1831975" cy="341312"/>
          </a:xfrm>
          <a:prstGeom prst="rect">
            <a:avLst/>
          </a:prstGeom>
          <a:solidFill>
            <a:srgbClr val="FFFFFF"/>
          </a:solidFill>
          <a:ln>
            <a:noFill/>
          </a:ln>
          <a:effectLst/>
        </p:spPr>
        <p:txBody>
          <a:bodyPr rtlCol="0" anchor="ctr"/>
          <a:lstStyle/>
          <a:p>
            <a:pPr algn="ctr"/>
          </a:p>
        </p:txBody>
      </p:sp>
      <p:sp>
        <p:nvSpPr>
          <p:cNvPr id="23" name="Box"/>
          <p:cNvSpPr/>
          <p:nvPr/>
        </p:nvSpPr>
        <p:spPr>
          <a:xfrm>
            <a:off x="9712325" y="2347912"/>
            <a:ext cx="863600" cy="214312"/>
          </a:xfrm>
          <a:prstGeom prst="roundRect">
            <a:avLst>
              <a:gd name="adj" fmla="val 50000"/>
            </a:avLst>
          </a:prstGeom>
          <a:solidFill>
            <a:srgbClr val="4A5163"/>
          </a:solidFill>
          <a:ln>
            <a:noFill/>
          </a:ln>
          <a:effectLst/>
        </p:spPr>
        <p:txBody>
          <a:bodyPr rtlCol="0" anchor="ctr"/>
          <a:lstStyle/>
          <a:p>
            <a:pPr algn="ctr"/>
          </a:p>
        </p:txBody>
      </p:sp>
      <p:sp>
        <p:nvSpPr>
          <p:cNvPr id="24" name="Text"/>
          <p:cNvSpPr txBox="1"/>
          <p:nvPr/>
        </p:nvSpPr>
        <p:spPr>
          <a:xfrm>
            <a:off x="9801225" y="2374106"/>
            <a:ext cx="685800" cy="150812"/>
          </a:xfrm>
          <a:prstGeom prst="rect">
            <a:avLst/>
          </a:prstGeom>
          <a:noFill/>
        </p:spPr>
        <p:txBody>
          <a:bodyPr wrap="none" lIns="0" rIns="0" tIns="0" bIns="0" anchor="t">
            <a:noAutofit/>
          </a:bodyPr>
          <a:lstStyle/>
          <a:p>
            <a:pPr algn="l">
              <a:lnSpc>
                <a:spcPts val="1187"/>
              </a:lnSpc>
              <a:spcBef>
                <a:spcPts val="0"/>
              </a:spcBef>
              <a:spcAft>
                <a:spcPts val="0"/>
              </a:spcAft>
            </a:pPr>
            <a:r>
              <a:rPr sz="950" b="1" i="0">
                <a:solidFill>
                  <a:srgbClr val="FFFFFF"/>
                </a:solidFill>
                <a:latin typeface="Noto Sans"/>
              </a:rPr>
              <a:t>looser here</a:t>
            </a:r>
          </a:p>
        </p:txBody>
      </p:sp>
      <p:sp>
        <p:nvSpPr>
          <p:cNvPr id="25" name="Box"/>
          <p:cNvSpPr/>
          <p:nvPr/>
        </p:nvSpPr>
        <p:spPr>
          <a:xfrm>
            <a:off x="762000" y="2670175"/>
            <a:ext cx="3340497" cy="341312"/>
          </a:xfrm>
          <a:prstGeom prst="rect">
            <a:avLst/>
          </a:prstGeom>
          <a:solidFill>
            <a:srgbClr val="FFFFFF"/>
          </a:solidFill>
          <a:ln>
            <a:noFill/>
          </a:ln>
          <a:effectLst/>
        </p:spPr>
        <p:txBody>
          <a:bodyPr rtlCol="0" anchor="ctr"/>
          <a:lstStyle/>
          <a:p>
            <a:pPr algn="ctr"/>
          </a:p>
        </p:txBody>
      </p:sp>
      <p:sp>
        <p:nvSpPr>
          <p:cNvPr id="26" name="Text"/>
          <p:cNvSpPr txBox="1"/>
          <p:nvPr/>
        </p:nvSpPr>
        <p:spPr>
          <a:xfrm>
            <a:off x="876300" y="2748756"/>
            <a:ext cx="3205254" cy="174625"/>
          </a:xfrm>
          <a:prstGeom prst="rect">
            <a:avLst/>
          </a:prstGeom>
          <a:noFill/>
        </p:spPr>
        <p:txBody>
          <a:bodyPr wrap="square" lIns="0" rIns="0" tIns="0" bIns="0" anchor="t">
            <a:noAutofit/>
          </a:bodyPr>
          <a:lstStyle/>
          <a:p>
            <a:pPr algn="l">
              <a:lnSpc>
                <a:spcPts val="1375"/>
              </a:lnSpc>
              <a:spcBef>
                <a:spcPts val="0"/>
              </a:spcBef>
              <a:spcAft>
                <a:spcPts val="0"/>
              </a:spcAft>
            </a:pPr>
            <a:r>
              <a:rPr sz="1100" b="1" i="0">
                <a:solidFill>
                  <a:srgbClr val="1D2433"/>
                </a:solidFill>
                <a:latin typeface="Noto Sans"/>
              </a:rPr>
              <a:t>A fine for a late book</a:t>
            </a:r>
          </a:p>
        </p:txBody>
      </p:sp>
      <p:sp>
        <p:nvSpPr>
          <p:cNvPr id="27" name="Box"/>
          <p:cNvSpPr/>
          <p:nvPr/>
        </p:nvSpPr>
        <p:spPr>
          <a:xfrm>
            <a:off x="4102497" y="2670175"/>
            <a:ext cx="323155" cy="341312"/>
          </a:xfrm>
          <a:prstGeom prst="rect">
            <a:avLst/>
          </a:prstGeom>
          <a:solidFill>
            <a:srgbClr val="FFFFFF"/>
          </a:solidFill>
          <a:ln>
            <a:noFill/>
          </a:ln>
          <a:effectLst/>
        </p:spPr>
        <p:txBody>
          <a:bodyPr rtlCol="0" anchor="ctr"/>
          <a:lstStyle/>
          <a:p>
            <a:pPr algn="ctr"/>
          </a:p>
        </p:txBody>
      </p:sp>
      <p:sp>
        <p:nvSpPr>
          <p:cNvPr id="28" name="Text"/>
          <p:cNvSpPr txBox="1"/>
          <p:nvPr/>
        </p:nvSpPr>
        <p:spPr>
          <a:xfrm>
            <a:off x="4097650" y="2748756"/>
            <a:ext cx="332850" cy="174625"/>
          </a:xfrm>
          <a:prstGeom prst="rect">
            <a:avLst/>
          </a:prstGeom>
          <a:noFill/>
        </p:spPr>
        <p:txBody>
          <a:bodyPr wrap="square" lIns="0" rIns="0" tIns="0" bIns="0" anchor="t">
            <a:noAutofit/>
          </a:bodyPr>
          <a:lstStyle/>
          <a:p>
            <a:pPr algn="ctr">
              <a:lnSpc>
                <a:spcPts val="1375"/>
              </a:lnSpc>
              <a:spcBef>
                <a:spcPts val="0"/>
              </a:spcBef>
              <a:spcAft>
                <a:spcPts val="0"/>
              </a:spcAft>
            </a:pPr>
            <a:r>
              <a:rPr sz="1100" b="1" i="0">
                <a:solidFill>
                  <a:srgbClr val="5B4BD6"/>
                </a:solidFill>
                <a:latin typeface="Noto Sans"/>
              </a:rPr>
              <a:t>→</a:t>
            </a:r>
          </a:p>
        </p:txBody>
      </p:sp>
      <p:sp>
        <p:nvSpPr>
          <p:cNvPr id="29" name="Box"/>
          <p:cNvSpPr/>
          <p:nvPr/>
        </p:nvSpPr>
        <p:spPr>
          <a:xfrm>
            <a:off x="4425652" y="2670175"/>
            <a:ext cx="5172373" cy="341312"/>
          </a:xfrm>
          <a:prstGeom prst="rect">
            <a:avLst/>
          </a:prstGeom>
          <a:solidFill>
            <a:srgbClr val="FFFFFF"/>
          </a:solidFill>
          <a:ln>
            <a:noFill/>
          </a:ln>
          <a:effectLst/>
        </p:spPr>
        <p:txBody>
          <a:bodyPr rtlCol="0" anchor="ctr"/>
          <a:lstStyle/>
          <a:p>
            <a:pPr algn="ctr"/>
          </a:p>
        </p:txBody>
      </p:sp>
      <p:sp>
        <p:nvSpPr>
          <p:cNvPr id="30" name="Text"/>
          <p:cNvSpPr txBox="1"/>
          <p:nvPr/>
        </p:nvSpPr>
        <p:spPr>
          <a:xfrm>
            <a:off x="4539952" y="2748756"/>
            <a:ext cx="5092086" cy="174625"/>
          </a:xfrm>
          <a:prstGeom prst="rect">
            <a:avLst/>
          </a:prstGeom>
          <a:noFill/>
        </p:spPr>
        <p:txBody>
          <a:bodyPr wrap="square" lIns="0" rIns="0" tIns="0" bIns="0" anchor="t">
            <a:noAutofit/>
          </a:bodyPr>
          <a:lstStyle/>
          <a:p>
            <a:pPr algn="l">
              <a:lnSpc>
                <a:spcPts val="1375"/>
              </a:lnSpc>
              <a:spcBef>
                <a:spcPts val="0"/>
              </a:spcBef>
              <a:spcAft>
                <a:spcPts val="0"/>
              </a:spcAft>
            </a:pPr>
            <a:r>
              <a:rPr sz="1100" b="0" i="0">
                <a:solidFill>
                  <a:srgbClr val="4A5163"/>
                </a:solidFill>
                <a:latin typeface="Noto Sans"/>
              </a:rPr>
              <a:t>A reminder and a cup of tea</a:t>
            </a:r>
          </a:p>
        </p:txBody>
      </p:sp>
      <p:sp>
        <p:nvSpPr>
          <p:cNvPr id="31" name="Box"/>
          <p:cNvSpPr/>
          <p:nvPr/>
        </p:nvSpPr>
        <p:spPr>
          <a:xfrm>
            <a:off x="9598025" y="2670175"/>
            <a:ext cx="1831975" cy="341312"/>
          </a:xfrm>
          <a:prstGeom prst="rect">
            <a:avLst/>
          </a:prstGeom>
          <a:solidFill>
            <a:srgbClr val="FFFFFF"/>
          </a:solidFill>
          <a:ln>
            <a:noFill/>
          </a:ln>
          <a:effectLst/>
        </p:spPr>
        <p:txBody>
          <a:bodyPr rtlCol="0" anchor="ctr"/>
          <a:lstStyle/>
          <a:p>
            <a:pPr algn="ctr"/>
          </a:p>
        </p:txBody>
      </p:sp>
      <p:sp>
        <p:nvSpPr>
          <p:cNvPr id="32" name="Box"/>
          <p:cNvSpPr/>
          <p:nvPr/>
        </p:nvSpPr>
        <p:spPr>
          <a:xfrm>
            <a:off x="9712325" y="2733675"/>
            <a:ext cx="876300" cy="214312"/>
          </a:xfrm>
          <a:prstGeom prst="roundRect">
            <a:avLst>
              <a:gd name="adj" fmla="val 50000"/>
            </a:avLst>
          </a:prstGeom>
          <a:solidFill>
            <a:srgbClr val="4A5163"/>
          </a:solidFill>
          <a:ln>
            <a:noFill/>
          </a:ln>
          <a:effectLst/>
        </p:spPr>
        <p:txBody>
          <a:bodyPr rtlCol="0" anchor="ctr"/>
          <a:lstStyle/>
          <a:p>
            <a:pPr algn="ctr"/>
          </a:p>
        </p:txBody>
      </p:sp>
      <p:sp>
        <p:nvSpPr>
          <p:cNvPr id="33" name="Text"/>
          <p:cNvSpPr txBox="1"/>
          <p:nvPr/>
        </p:nvSpPr>
        <p:spPr>
          <a:xfrm>
            <a:off x="9801225" y="2759869"/>
            <a:ext cx="698500" cy="150812"/>
          </a:xfrm>
          <a:prstGeom prst="rect">
            <a:avLst/>
          </a:prstGeom>
          <a:noFill/>
        </p:spPr>
        <p:txBody>
          <a:bodyPr wrap="none" lIns="0" rIns="0" tIns="0" bIns="0" anchor="t">
            <a:noAutofit/>
          </a:bodyPr>
          <a:lstStyle/>
          <a:p>
            <a:pPr algn="l">
              <a:lnSpc>
                <a:spcPts val="1187"/>
              </a:lnSpc>
              <a:spcBef>
                <a:spcPts val="0"/>
              </a:spcBef>
              <a:spcAft>
                <a:spcPts val="0"/>
              </a:spcAft>
            </a:pPr>
            <a:r>
              <a:rPr sz="950" b="1" i="0">
                <a:solidFill>
                  <a:srgbClr val="FFFFFF"/>
                </a:solidFill>
                <a:latin typeface="Noto Sans"/>
              </a:rPr>
              <a:t>kinder here</a:t>
            </a:r>
          </a:p>
        </p:txBody>
      </p:sp>
      <p:sp>
        <p:nvSpPr>
          <p:cNvPr id="34" name="Box"/>
          <p:cNvSpPr/>
          <p:nvPr/>
        </p:nvSpPr>
        <p:spPr>
          <a:xfrm>
            <a:off x="762000" y="3055938"/>
            <a:ext cx="3340497" cy="341312"/>
          </a:xfrm>
          <a:prstGeom prst="rect">
            <a:avLst/>
          </a:prstGeom>
          <a:solidFill>
            <a:srgbClr val="FFFFFF"/>
          </a:solidFill>
          <a:ln>
            <a:noFill/>
          </a:ln>
          <a:effectLst/>
        </p:spPr>
        <p:txBody>
          <a:bodyPr rtlCol="0" anchor="ctr"/>
          <a:lstStyle/>
          <a:p>
            <a:pPr algn="ctr"/>
          </a:p>
        </p:txBody>
      </p:sp>
      <p:sp>
        <p:nvSpPr>
          <p:cNvPr id="35" name="Text"/>
          <p:cNvSpPr txBox="1"/>
          <p:nvPr/>
        </p:nvSpPr>
        <p:spPr>
          <a:xfrm>
            <a:off x="876300" y="3134519"/>
            <a:ext cx="3205254" cy="174625"/>
          </a:xfrm>
          <a:prstGeom prst="rect">
            <a:avLst/>
          </a:prstGeom>
          <a:noFill/>
        </p:spPr>
        <p:txBody>
          <a:bodyPr wrap="square" lIns="0" rIns="0" tIns="0" bIns="0" anchor="t">
            <a:noAutofit/>
          </a:bodyPr>
          <a:lstStyle/>
          <a:p>
            <a:pPr algn="l">
              <a:lnSpc>
                <a:spcPts val="1375"/>
              </a:lnSpc>
              <a:spcBef>
                <a:spcPts val="0"/>
              </a:spcBef>
              <a:spcAft>
                <a:spcPts val="0"/>
              </a:spcAft>
            </a:pPr>
            <a:r>
              <a:rPr sz="1100" b="1" i="0">
                <a:solidFill>
                  <a:srgbClr val="1D2433"/>
                </a:solidFill>
                <a:latin typeface="Noto Sans"/>
              </a:rPr>
              <a:t>Damaged books are mended</a:t>
            </a:r>
          </a:p>
        </p:txBody>
      </p:sp>
      <p:sp>
        <p:nvSpPr>
          <p:cNvPr id="36" name="Box"/>
          <p:cNvSpPr/>
          <p:nvPr/>
        </p:nvSpPr>
        <p:spPr>
          <a:xfrm>
            <a:off x="4102497" y="3055938"/>
            <a:ext cx="323155" cy="341312"/>
          </a:xfrm>
          <a:prstGeom prst="rect">
            <a:avLst/>
          </a:prstGeom>
          <a:solidFill>
            <a:srgbClr val="FFFFFF"/>
          </a:solidFill>
          <a:ln>
            <a:noFill/>
          </a:ln>
          <a:effectLst/>
        </p:spPr>
        <p:txBody>
          <a:bodyPr rtlCol="0" anchor="ctr"/>
          <a:lstStyle/>
          <a:p>
            <a:pPr algn="ctr"/>
          </a:p>
        </p:txBody>
      </p:sp>
      <p:sp>
        <p:nvSpPr>
          <p:cNvPr id="37" name="Text"/>
          <p:cNvSpPr txBox="1"/>
          <p:nvPr/>
        </p:nvSpPr>
        <p:spPr>
          <a:xfrm>
            <a:off x="4097650" y="3134519"/>
            <a:ext cx="332850" cy="174625"/>
          </a:xfrm>
          <a:prstGeom prst="rect">
            <a:avLst/>
          </a:prstGeom>
          <a:noFill/>
        </p:spPr>
        <p:txBody>
          <a:bodyPr wrap="square" lIns="0" rIns="0" tIns="0" bIns="0" anchor="t">
            <a:noAutofit/>
          </a:bodyPr>
          <a:lstStyle/>
          <a:p>
            <a:pPr algn="ctr">
              <a:lnSpc>
                <a:spcPts val="1375"/>
              </a:lnSpc>
              <a:spcBef>
                <a:spcPts val="0"/>
              </a:spcBef>
              <a:spcAft>
                <a:spcPts val="0"/>
              </a:spcAft>
            </a:pPr>
            <a:r>
              <a:rPr sz="1100" b="1" i="0">
                <a:solidFill>
                  <a:srgbClr val="5B4BD6"/>
                </a:solidFill>
                <a:latin typeface="Noto Sans"/>
              </a:rPr>
              <a:t>→</a:t>
            </a:r>
          </a:p>
        </p:txBody>
      </p:sp>
      <p:sp>
        <p:nvSpPr>
          <p:cNvPr id="38" name="Box"/>
          <p:cNvSpPr/>
          <p:nvPr/>
        </p:nvSpPr>
        <p:spPr>
          <a:xfrm>
            <a:off x="4425652" y="3055938"/>
            <a:ext cx="5172373" cy="341312"/>
          </a:xfrm>
          <a:prstGeom prst="rect">
            <a:avLst/>
          </a:prstGeom>
          <a:solidFill>
            <a:srgbClr val="FFFFFF"/>
          </a:solidFill>
          <a:ln>
            <a:noFill/>
          </a:ln>
          <a:effectLst/>
        </p:spPr>
        <p:txBody>
          <a:bodyPr rtlCol="0" anchor="ctr"/>
          <a:lstStyle/>
          <a:p>
            <a:pPr algn="ctr"/>
          </a:p>
        </p:txBody>
      </p:sp>
      <p:sp>
        <p:nvSpPr>
          <p:cNvPr id="39" name="Text"/>
          <p:cNvSpPr txBox="1"/>
          <p:nvPr/>
        </p:nvSpPr>
        <p:spPr>
          <a:xfrm>
            <a:off x="4539952" y="3134519"/>
            <a:ext cx="5092086" cy="174625"/>
          </a:xfrm>
          <a:prstGeom prst="rect">
            <a:avLst/>
          </a:prstGeom>
          <a:noFill/>
        </p:spPr>
        <p:txBody>
          <a:bodyPr wrap="square" lIns="0" rIns="0" tIns="0" bIns="0" anchor="t">
            <a:noAutofit/>
          </a:bodyPr>
          <a:lstStyle/>
          <a:p>
            <a:pPr algn="l">
              <a:lnSpc>
                <a:spcPts val="1375"/>
              </a:lnSpc>
              <a:spcBef>
                <a:spcPts val="0"/>
              </a:spcBef>
              <a:spcAft>
                <a:spcPts val="0"/>
              </a:spcAft>
            </a:pPr>
            <a:r>
              <a:rPr sz="1100" b="0" i="0">
                <a:solidFill>
                  <a:srgbClr val="4A5163"/>
                </a:solidFill>
                <a:latin typeface="Noto Sans"/>
              </a:rPr>
              <a:t>Damaged tools go to the bench</a:t>
            </a:r>
          </a:p>
        </p:txBody>
      </p:sp>
      <p:sp>
        <p:nvSpPr>
          <p:cNvPr id="40" name="Box"/>
          <p:cNvSpPr/>
          <p:nvPr/>
        </p:nvSpPr>
        <p:spPr>
          <a:xfrm>
            <a:off x="9598025" y="3055938"/>
            <a:ext cx="1831975" cy="341312"/>
          </a:xfrm>
          <a:prstGeom prst="rect">
            <a:avLst/>
          </a:prstGeom>
          <a:solidFill>
            <a:srgbClr val="FFFFFF"/>
          </a:solidFill>
          <a:ln>
            <a:noFill/>
          </a:ln>
          <a:effectLst/>
        </p:spPr>
        <p:txBody>
          <a:bodyPr rtlCol="0" anchor="ctr"/>
          <a:lstStyle/>
          <a:p>
            <a:pPr algn="ctr"/>
          </a:p>
        </p:txBody>
      </p:sp>
      <p:sp>
        <p:nvSpPr>
          <p:cNvPr id="41" name="Box"/>
          <p:cNvSpPr/>
          <p:nvPr/>
        </p:nvSpPr>
        <p:spPr>
          <a:xfrm>
            <a:off x="9712325" y="3119438"/>
            <a:ext cx="787400" cy="214312"/>
          </a:xfrm>
          <a:prstGeom prst="roundRect">
            <a:avLst>
              <a:gd name="adj" fmla="val 50000"/>
            </a:avLst>
          </a:prstGeom>
          <a:solidFill>
            <a:srgbClr val="3F9FA6"/>
          </a:solidFill>
          <a:ln>
            <a:noFill/>
          </a:ln>
          <a:effectLst/>
        </p:spPr>
        <p:txBody>
          <a:bodyPr rtlCol="0" anchor="ctr"/>
          <a:lstStyle/>
          <a:p>
            <a:pPr algn="ctr"/>
          </a:p>
        </p:txBody>
      </p:sp>
      <p:sp>
        <p:nvSpPr>
          <p:cNvPr id="42" name="Text"/>
          <p:cNvSpPr txBox="1"/>
          <p:nvPr/>
        </p:nvSpPr>
        <p:spPr>
          <a:xfrm>
            <a:off x="9801225" y="3145631"/>
            <a:ext cx="609600" cy="150812"/>
          </a:xfrm>
          <a:prstGeom prst="rect">
            <a:avLst/>
          </a:prstGeom>
          <a:noFill/>
        </p:spPr>
        <p:txBody>
          <a:bodyPr wrap="none" lIns="0" rIns="0" tIns="0" bIns="0" anchor="t">
            <a:noAutofit/>
          </a:bodyPr>
          <a:lstStyle/>
          <a:p>
            <a:pPr algn="l">
              <a:lnSpc>
                <a:spcPts val="1187"/>
              </a:lnSpc>
              <a:spcBef>
                <a:spcPts val="0"/>
              </a:spcBef>
              <a:spcAft>
                <a:spcPts val="0"/>
              </a:spcAft>
            </a:pPr>
            <a:r>
              <a:rPr sz="950" b="1" i="0">
                <a:solidFill>
                  <a:srgbClr val="FFFFFF"/>
                </a:solidFill>
                <a:latin typeface="Noto Sans"/>
              </a:rPr>
              <a:t>same idea</a:t>
            </a:r>
          </a:p>
        </p:txBody>
      </p:sp>
      <p:sp>
        <p:nvSpPr>
          <p:cNvPr id="43" name="Box"/>
          <p:cNvSpPr/>
          <p:nvPr/>
        </p:nvSpPr>
        <p:spPr>
          <a:xfrm>
            <a:off x="762000" y="3441700"/>
            <a:ext cx="3340497" cy="341312"/>
          </a:xfrm>
          <a:prstGeom prst="rect">
            <a:avLst/>
          </a:prstGeom>
          <a:solidFill>
            <a:srgbClr val="FFFFFF"/>
          </a:solidFill>
          <a:ln>
            <a:noFill/>
          </a:ln>
          <a:effectLst/>
        </p:spPr>
        <p:txBody>
          <a:bodyPr rtlCol="0" anchor="ctr"/>
          <a:lstStyle/>
          <a:p>
            <a:pPr algn="ctr"/>
          </a:p>
        </p:txBody>
      </p:sp>
      <p:sp>
        <p:nvSpPr>
          <p:cNvPr id="44" name="Text"/>
          <p:cNvSpPr txBox="1"/>
          <p:nvPr/>
        </p:nvSpPr>
        <p:spPr>
          <a:xfrm>
            <a:off x="876300" y="3520281"/>
            <a:ext cx="3205254" cy="174625"/>
          </a:xfrm>
          <a:prstGeom prst="rect">
            <a:avLst/>
          </a:prstGeom>
          <a:noFill/>
        </p:spPr>
        <p:txBody>
          <a:bodyPr wrap="square" lIns="0" rIns="0" tIns="0" bIns="0" anchor="t">
            <a:noAutofit/>
          </a:bodyPr>
          <a:lstStyle/>
          <a:p>
            <a:pPr algn="l">
              <a:lnSpc>
                <a:spcPts val="1375"/>
              </a:lnSpc>
              <a:spcBef>
                <a:spcPts val="0"/>
              </a:spcBef>
              <a:spcAft>
                <a:spcPts val="0"/>
              </a:spcAft>
            </a:pPr>
            <a:r>
              <a:rPr sz="1100" b="1" i="0">
                <a:solidFill>
                  <a:srgbClr val="1D2433"/>
                </a:solidFill>
                <a:latin typeface="Noto Sans"/>
              </a:rPr>
              <a:t>A card to join</a:t>
            </a:r>
          </a:p>
        </p:txBody>
      </p:sp>
      <p:sp>
        <p:nvSpPr>
          <p:cNvPr id="45" name="Box"/>
          <p:cNvSpPr/>
          <p:nvPr/>
        </p:nvSpPr>
        <p:spPr>
          <a:xfrm>
            <a:off x="4102497" y="3441700"/>
            <a:ext cx="323155" cy="341312"/>
          </a:xfrm>
          <a:prstGeom prst="rect">
            <a:avLst/>
          </a:prstGeom>
          <a:solidFill>
            <a:srgbClr val="FFFFFF"/>
          </a:solidFill>
          <a:ln>
            <a:noFill/>
          </a:ln>
          <a:effectLst/>
        </p:spPr>
        <p:txBody>
          <a:bodyPr rtlCol="0" anchor="ctr"/>
          <a:lstStyle/>
          <a:p>
            <a:pPr algn="ctr"/>
          </a:p>
        </p:txBody>
      </p:sp>
      <p:sp>
        <p:nvSpPr>
          <p:cNvPr id="46" name="Text"/>
          <p:cNvSpPr txBox="1"/>
          <p:nvPr/>
        </p:nvSpPr>
        <p:spPr>
          <a:xfrm>
            <a:off x="4097650" y="3520281"/>
            <a:ext cx="332850" cy="174625"/>
          </a:xfrm>
          <a:prstGeom prst="rect">
            <a:avLst/>
          </a:prstGeom>
          <a:noFill/>
        </p:spPr>
        <p:txBody>
          <a:bodyPr wrap="square" lIns="0" rIns="0" tIns="0" bIns="0" anchor="t">
            <a:noAutofit/>
          </a:bodyPr>
          <a:lstStyle/>
          <a:p>
            <a:pPr algn="ctr">
              <a:lnSpc>
                <a:spcPts val="1375"/>
              </a:lnSpc>
              <a:spcBef>
                <a:spcPts val="0"/>
              </a:spcBef>
              <a:spcAft>
                <a:spcPts val="0"/>
              </a:spcAft>
            </a:pPr>
            <a:r>
              <a:rPr sz="1100" b="1" i="0">
                <a:solidFill>
                  <a:srgbClr val="5B4BD6"/>
                </a:solidFill>
                <a:latin typeface="Noto Sans"/>
              </a:rPr>
              <a:t>→</a:t>
            </a:r>
          </a:p>
        </p:txBody>
      </p:sp>
      <p:sp>
        <p:nvSpPr>
          <p:cNvPr id="47" name="Box"/>
          <p:cNvSpPr/>
          <p:nvPr/>
        </p:nvSpPr>
        <p:spPr>
          <a:xfrm>
            <a:off x="4425652" y="3441700"/>
            <a:ext cx="5172373" cy="341312"/>
          </a:xfrm>
          <a:prstGeom prst="rect">
            <a:avLst/>
          </a:prstGeom>
          <a:solidFill>
            <a:srgbClr val="FFFFFF"/>
          </a:solidFill>
          <a:ln>
            <a:noFill/>
          </a:ln>
          <a:effectLst/>
        </p:spPr>
        <p:txBody>
          <a:bodyPr rtlCol="0" anchor="ctr"/>
          <a:lstStyle/>
          <a:p>
            <a:pPr algn="ctr"/>
          </a:p>
        </p:txBody>
      </p:sp>
      <p:sp>
        <p:nvSpPr>
          <p:cNvPr id="48" name="Text"/>
          <p:cNvSpPr txBox="1"/>
          <p:nvPr/>
        </p:nvSpPr>
        <p:spPr>
          <a:xfrm>
            <a:off x="4539952" y="3520281"/>
            <a:ext cx="5092086" cy="174625"/>
          </a:xfrm>
          <a:prstGeom prst="rect">
            <a:avLst/>
          </a:prstGeom>
          <a:noFill/>
        </p:spPr>
        <p:txBody>
          <a:bodyPr wrap="square" lIns="0" rIns="0" tIns="0" bIns="0" anchor="t">
            <a:noAutofit/>
          </a:bodyPr>
          <a:lstStyle/>
          <a:p>
            <a:pPr algn="l">
              <a:lnSpc>
                <a:spcPts val="1375"/>
              </a:lnSpc>
              <a:spcBef>
                <a:spcPts val="0"/>
              </a:spcBef>
              <a:spcAft>
                <a:spcPts val="0"/>
              </a:spcAft>
            </a:pPr>
            <a:r>
              <a:rPr sz="1100" b="0" i="0">
                <a:solidFill>
                  <a:srgbClr val="4A5163"/>
                </a:solidFill>
                <a:latin typeface="Noto Sans"/>
              </a:rPr>
              <a:t>A name in the ledger</a:t>
            </a:r>
          </a:p>
        </p:txBody>
      </p:sp>
      <p:sp>
        <p:nvSpPr>
          <p:cNvPr id="49" name="Box"/>
          <p:cNvSpPr/>
          <p:nvPr/>
        </p:nvSpPr>
        <p:spPr>
          <a:xfrm>
            <a:off x="9598025" y="3441700"/>
            <a:ext cx="1831975" cy="341312"/>
          </a:xfrm>
          <a:prstGeom prst="rect">
            <a:avLst/>
          </a:prstGeom>
          <a:solidFill>
            <a:srgbClr val="FFFFFF"/>
          </a:solidFill>
          <a:ln>
            <a:noFill/>
          </a:ln>
          <a:effectLst/>
        </p:spPr>
        <p:txBody>
          <a:bodyPr rtlCol="0" anchor="ctr"/>
          <a:lstStyle/>
          <a:p>
            <a:pPr algn="ctr"/>
          </a:p>
        </p:txBody>
      </p:sp>
      <p:sp>
        <p:nvSpPr>
          <p:cNvPr id="50" name="Box"/>
          <p:cNvSpPr/>
          <p:nvPr/>
        </p:nvSpPr>
        <p:spPr>
          <a:xfrm>
            <a:off x="9712325" y="3505200"/>
            <a:ext cx="946150" cy="214312"/>
          </a:xfrm>
          <a:prstGeom prst="roundRect">
            <a:avLst>
              <a:gd name="adj" fmla="val 50000"/>
            </a:avLst>
          </a:prstGeom>
          <a:solidFill>
            <a:srgbClr val="2E9E6B"/>
          </a:solidFill>
          <a:ln>
            <a:noFill/>
          </a:ln>
          <a:effectLst/>
        </p:spPr>
        <p:txBody>
          <a:bodyPr rtlCol="0" anchor="ctr"/>
          <a:lstStyle/>
          <a:p>
            <a:pPr algn="ctr"/>
          </a:p>
        </p:txBody>
      </p:sp>
      <p:sp>
        <p:nvSpPr>
          <p:cNvPr id="51" name="Text"/>
          <p:cNvSpPr txBox="1"/>
          <p:nvPr/>
        </p:nvSpPr>
        <p:spPr>
          <a:xfrm>
            <a:off x="9801225" y="3531394"/>
            <a:ext cx="768350" cy="150812"/>
          </a:xfrm>
          <a:prstGeom prst="rect">
            <a:avLst/>
          </a:prstGeom>
          <a:noFill/>
        </p:spPr>
        <p:txBody>
          <a:bodyPr wrap="none" lIns="0" rIns="0" tIns="0" bIns="0" anchor="t">
            <a:noAutofit/>
          </a:bodyPr>
          <a:lstStyle/>
          <a:p>
            <a:pPr algn="l">
              <a:lnSpc>
                <a:spcPts val="1187"/>
              </a:lnSpc>
              <a:spcBef>
                <a:spcPts val="0"/>
              </a:spcBef>
              <a:spcAft>
                <a:spcPts val="0"/>
              </a:spcAft>
            </a:pPr>
            <a:r>
              <a:rPr sz="950" b="1" i="0">
                <a:solidFill>
                  <a:srgbClr val="FFFFFF"/>
                </a:solidFill>
                <a:latin typeface="Noto Sans"/>
              </a:rPr>
              <a:t>simpler here</a:t>
            </a:r>
          </a:p>
        </p:txBody>
      </p:sp>
      <p:sp>
        <p:nvSpPr>
          <p:cNvPr id="52" name="Box"/>
          <p:cNvSpPr/>
          <p:nvPr/>
        </p:nvSpPr>
        <p:spPr>
          <a:xfrm>
            <a:off x="762000" y="3827462"/>
            <a:ext cx="3340497" cy="341312"/>
          </a:xfrm>
          <a:prstGeom prst="rect">
            <a:avLst/>
          </a:prstGeom>
          <a:solidFill>
            <a:srgbClr val="FFFFFF"/>
          </a:solidFill>
          <a:ln>
            <a:noFill/>
          </a:ln>
          <a:effectLst/>
        </p:spPr>
        <p:txBody>
          <a:bodyPr rtlCol="0" anchor="ctr"/>
          <a:lstStyle/>
          <a:p>
            <a:pPr algn="ctr"/>
          </a:p>
        </p:txBody>
      </p:sp>
      <p:sp>
        <p:nvSpPr>
          <p:cNvPr id="53" name="Text"/>
          <p:cNvSpPr txBox="1"/>
          <p:nvPr/>
        </p:nvSpPr>
        <p:spPr>
          <a:xfrm>
            <a:off x="876300" y="3906044"/>
            <a:ext cx="3205254" cy="174625"/>
          </a:xfrm>
          <a:prstGeom prst="rect">
            <a:avLst/>
          </a:prstGeom>
          <a:noFill/>
        </p:spPr>
        <p:txBody>
          <a:bodyPr wrap="square" lIns="0" rIns="0" tIns="0" bIns="0" anchor="t">
            <a:noAutofit/>
          </a:bodyPr>
          <a:lstStyle/>
          <a:p>
            <a:pPr algn="l">
              <a:lnSpc>
                <a:spcPts val="1375"/>
              </a:lnSpc>
              <a:spcBef>
                <a:spcPts val="0"/>
              </a:spcBef>
              <a:spcAft>
                <a:spcPts val="0"/>
              </a:spcAft>
            </a:pPr>
            <a:r>
              <a:rPr sz="1100" b="1" i="0">
                <a:solidFill>
                  <a:srgbClr val="1D2433"/>
                </a:solidFill>
                <a:latin typeface="Noto Sans"/>
              </a:rPr>
              <a:t>Opening hours all week</a:t>
            </a:r>
          </a:p>
        </p:txBody>
      </p:sp>
      <p:sp>
        <p:nvSpPr>
          <p:cNvPr id="54" name="Box"/>
          <p:cNvSpPr/>
          <p:nvPr/>
        </p:nvSpPr>
        <p:spPr>
          <a:xfrm>
            <a:off x="4102497" y="3827462"/>
            <a:ext cx="323155" cy="341312"/>
          </a:xfrm>
          <a:prstGeom prst="rect">
            <a:avLst/>
          </a:prstGeom>
          <a:solidFill>
            <a:srgbClr val="FFFFFF"/>
          </a:solidFill>
          <a:ln>
            <a:noFill/>
          </a:ln>
          <a:effectLst/>
        </p:spPr>
        <p:txBody>
          <a:bodyPr rtlCol="0" anchor="ctr"/>
          <a:lstStyle/>
          <a:p>
            <a:pPr algn="ctr"/>
          </a:p>
        </p:txBody>
      </p:sp>
      <p:sp>
        <p:nvSpPr>
          <p:cNvPr id="55" name="Text"/>
          <p:cNvSpPr txBox="1"/>
          <p:nvPr/>
        </p:nvSpPr>
        <p:spPr>
          <a:xfrm>
            <a:off x="4097650" y="3906044"/>
            <a:ext cx="332850" cy="174625"/>
          </a:xfrm>
          <a:prstGeom prst="rect">
            <a:avLst/>
          </a:prstGeom>
          <a:noFill/>
        </p:spPr>
        <p:txBody>
          <a:bodyPr wrap="square" lIns="0" rIns="0" tIns="0" bIns="0" anchor="t">
            <a:noAutofit/>
          </a:bodyPr>
          <a:lstStyle/>
          <a:p>
            <a:pPr algn="ctr">
              <a:lnSpc>
                <a:spcPts val="1375"/>
              </a:lnSpc>
              <a:spcBef>
                <a:spcPts val="0"/>
              </a:spcBef>
              <a:spcAft>
                <a:spcPts val="0"/>
              </a:spcAft>
            </a:pPr>
            <a:r>
              <a:rPr sz="1100" b="1" i="0">
                <a:solidFill>
                  <a:srgbClr val="5B4BD6"/>
                </a:solidFill>
                <a:latin typeface="Noto Sans"/>
              </a:rPr>
              <a:t>→</a:t>
            </a:r>
          </a:p>
        </p:txBody>
      </p:sp>
      <p:sp>
        <p:nvSpPr>
          <p:cNvPr id="56" name="Box"/>
          <p:cNvSpPr/>
          <p:nvPr/>
        </p:nvSpPr>
        <p:spPr>
          <a:xfrm>
            <a:off x="4425652" y="3827462"/>
            <a:ext cx="5172373" cy="341312"/>
          </a:xfrm>
          <a:prstGeom prst="rect">
            <a:avLst/>
          </a:prstGeom>
          <a:solidFill>
            <a:srgbClr val="FFFFFF"/>
          </a:solidFill>
          <a:ln>
            <a:noFill/>
          </a:ln>
          <a:effectLst/>
        </p:spPr>
        <p:txBody>
          <a:bodyPr rtlCol="0" anchor="ctr"/>
          <a:lstStyle/>
          <a:p>
            <a:pPr algn="ctr"/>
          </a:p>
        </p:txBody>
      </p:sp>
      <p:sp>
        <p:nvSpPr>
          <p:cNvPr id="57" name="Text"/>
          <p:cNvSpPr txBox="1"/>
          <p:nvPr/>
        </p:nvSpPr>
        <p:spPr>
          <a:xfrm>
            <a:off x="4539952" y="3906044"/>
            <a:ext cx="5092086" cy="174625"/>
          </a:xfrm>
          <a:prstGeom prst="rect">
            <a:avLst/>
          </a:prstGeom>
          <a:noFill/>
        </p:spPr>
        <p:txBody>
          <a:bodyPr wrap="square" lIns="0" rIns="0" tIns="0" bIns="0" anchor="t">
            <a:noAutofit/>
          </a:bodyPr>
          <a:lstStyle/>
          <a:p>
            <a:pPr algn="l">
              <a:lnSpc>
                <a:spcPts val="1375"/>
              </a:lnSpc>
              <a:spcBef>
                <a:spcPts val="0"/>
              </a:spcBef>
              <a:spcAft>
                <a:spcPts val="0"/>
              </a:spcAft>
            </a:pPr>
            <a:r>
              <a:rPr sz="1100" b="0" i="0">
                <a:solidFill>
                  <a:srgbClr val="4A5163"/>
                </a:solidFill>
                <a:latin typeface="Noto Sans"/>
              </a:rPr>
              <a:t>Saturday mornings only</a:t>
            </a:r>
          </a:p>
        </p:txBody>
      </p:sp>
      <p:sp>
        <p:nvSpPr>
          <p:cNvPr id="58" name="Box"/>
          <p:cNvSpPr/>
          <p:nvPr/>
        </p:nvSpPr>
        <p:spPr>
          <a:xfrm>
            <a:off x="9598025" y="3827462"/>
            <a:ext cx="1831975" cy="341312"/>
          </a:xfrm>
          <a:prstGeom prst="rect">
            <a:avLst/>
          </a:prstGeom>
          <a:solidFill>
            <a:srgbClr val="FFFFFF"/>
          </a:solidFill>
          <a:ln>
            <a:noFill/>
          </a:ln>
          <a:effectLst/>
        </p:spPr>
        <p:txBody>
          <a:bodyPr rtlCol="0" anchor="ctr"/>
          <a:lstStyle/>
          <a:p>
            <a:pPr algn="ctr"/>
          </a:p>
        </p:txBody>
      </p:sp>
      <p:sp>
        <p:nvSpPr>
          <p:cNvPr id="59" name="Box"/>
          <p:cNvSpPr/>
          <p:nvPr/>
        </p:nvSpPr>
        <p:spPr>
          <a:xfrm>
            <a:off x="9712325" y="3890962"/>
            <a:ext cx="901700" cy="214312"/>
          </a:xfrm>
          <a:prstGeom prst="roundRect">
            <a:avLst>
              <a:gd name="adj" fmla="val 50000"/>
            </a:avLst>
          </a:prstGeom>
          <a:solidFill>
            <a:srgbClr val="E3A33B"/>
          </a:solidFill>
          <a:ln>
            <a:noFill/>
          </a:ln>
          <a:effectLst/>
        </p:spPr>
        <p:txBody>
          <a:bodyPr rtlCol="0" anchor="ctr"/>
          <a:lstStyle/>
          <a:p>
            <a:pPr algn="ctr"/>
          </a:p>
        </p:txBody>
      </p:sp>
      <p:sp>
        <p:nvSpPr>
          <p:cNvPr id="60" name="Text"/>
          <p:cNvSpPr txBox="1"/>
          <p:nvPr/>
        </p:nvSpPr>
        <p:spPr>
          <a:xfrm>
            <a:off x="9801225" y="3917156"/>
            <a:ext cx="723900" cy="150812"/>
          </a:xfrm>
          <a:prstGeom prst="rect">
            <a:avLst/>
          </a:prstGeom>
          <a:noFill/>
        </p:spPr>
        <p:txBody>
          <a:bodyPr wrap="none" lIns="0" rIns="0" tIns="0" bIns="0" anchor="t">
            <a:noAutofit/>
          </a:bodyPr>
          <a:lstStyle/>
          <a:p>
            <a:pPr algn="l">
              <a:lnSpc>
                <a:spcPts val="1187"/>
              </a:lnSpc>
              <a:spcBef>
                <a:spcPts val="0"/>
              </a:spcBef>
              <a:spcAft>
                <a:spcPts val="0"/>
              </a:spcAft>
            </a:pPr>
            <a:r>
              <a:rPr sz="950" b="1" i="0">
                <a:solidFill>
                  <a:srgbClr val="FFFFFF"/>
                </a:solidFill>
                <a:latin typeface="Noto Sans"/>
              </a:rPr>
              <a:t>fewer hours</a:t>
            </a:r>
          </a:p>
        </p:txBody>
      </p:sp>
      <p:sp>
        <p:nvSpPr>
          <p:cNvPr id="61" name="Box"/>
          <p:cNvSpPr/>
          <p:nvPr/>
        </p:nvSpPr>
        <p:spPr>
          <a:xfrm>
            <a:off x="762000" y="6369050"/>
            <a:ext cx="10668000" cy="6350"/>
          </a:xfrm>
          <a:prstGeom prst="rect">
            <a:avLst/>
          </a:prstGeom>
          <a:solidFill>
            <a:srgbClr val="DCD9D0"/>
          </a:solidFill>
          <a:ln>
            <a:noFill/>
          </a:ln>
          <a:effectLst/>
        </p:spPr>
        <p:txBody>
          <a:bodyPr rtlCol="0" anchor="ctr"/>
          <a:lstStyle/>
          <a:p>
            <a:pPr algn="ctr"/>
          </a:p>
        </p:txBody>
      </p:sp>
      <p:sp>
        <p:nvSpPr>
          <p:cNvPr id="62" name="Text"/>
          <p:cNvSpPr txBox="1"/>
          <p:nvPr/>
        </p:nvSpPr>
        <p:spPr>
          <a:xfrm>
            <a:off x="762000" y="6495561"/>
            <a:ext cx="1339850" cy="147028"/>
          </a:xfrm>
          <a:prstGeom prst="rect">
            <a:avLst/>
          </a:prstGeom>
          <a:noFill/>
        </p:spPr>
        <p:txBody>
          <a:bodyPr wrap="none" lIns="0" rIns="0" tIns="0" bIns="0" anchor="t">
            <a:noAutofit/>
          </a:bodyPr>
          <a:lstStyle/>
          <a:p>
            <a:pPr algn="l">
              <a:lnSpc>
                <a:spcPts val="1157"/>
              </a:lnSpc>
              <a:spcBef>
                <a:spcPts val="0"/>
              </a:spcBef>
              <a:spcAft>
                <a:spcPts val="0"/>
              </a:spcAft>
            </a:pPr>
            <a:r>
              <a:rPr sz="850" b="1" i="0">
                <a:solidFill>
                  <a:srgbClr val="4A5163"/>
                </a:solidFill>
                <a:latin typeface="Noto Sans"/>
              </a:rPr>
              <a:t>Source:</a:t>
            </a:r>
            <a:r>
              <a:rPr sz="850" b="0" i="0">
                <a:solidFill>
                  <a:srgbClr val="8A8F9C"/>
                </a:solidFill>
                <a:latin typeface="Noto Sans"/>
              </a:rPr>
              <a:t> Invented example</a:t>
            </a:r>
          </a:p>
        </p:txBody>
      </p:sp>
      <p:sp>
        <p:nvSpPr>
          <p:cNvPr id="63" name="Text"/>
          <p:cNvSpPr txBox="1"/>
          <p:nvPr/>
        </p:nvSpPr>
        <p:spPr>
          <a:xfrm>
            <a:off x="11150600" y="6495561"/>
            <a:ext cx="287782" cy="147028"/>
          </a:xfrm>
          <a:prstGeom prst="rect">
            <a:avLst/>
          </a:prstGeom>
          <a:noFill/>
        </p:spPr>
        <p:txBody>
          <a:bodyPr wrap="square" lIns="0" rIns="0" tIns="0" bIns="0" anchor="t">
            <a:noAutofit/>
          </a:bodyPr>
          <a:lstStyle/>
          <a:p>
            <a:pPr algn="l">
              <a:lnSpc>
                <a:spcPts val="1157"/>
              </a:lnSpc>
              <a:spcBef>
                <a:spcPts val="0"/>
              </a:spcBef>
              <a:spcAft>
                <a:spcPts val="0"/>
              </a:spcAft>
            </a:pPr>
            <a:r>
              <a:rPr sz="850" b="0" i="0">
                <a:solidFill>
                  <a:srgbClr val="8A8F9C"/>
                </a:solidFill>
                <a:latin typeface="Noto Sans"/>
              </a:rPr>
              <a:t>6 / 11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itle 1"/>
          <p:cNvSpPr>
            <a:spLocks noGrp="1"/>
          </p:cNvSpPr>
          <p:nvPr>
            <p:ph type="title"/>
          </p:nvPr>
        </p:nvSpPr>
        <p:spPr>
          <a:xfrm>
            <a:off x="762000" y="837819"/>
            <a:ext cx="10988040" cy="438912"/>
          </a:xfrm>
        </p:spPr>
        <p:txBody>
          <a:bodyPr wrap="square" lIns="0" rIns="0" tIns="0" bIns="0" anchor="t">
            <a:noAutofit/>
          </a:bodyPr>
          <a:lstStyle/>
          <a:p>
            <a:pPr algn="l">
              <a:lnSpc>
                <a:spcPts val="3456"/>
              </a:lnSpc>
              <a:spcBef>
                <a:spcPts val="0"/>
              </a:spcBef>
              <a:spcAft>
                <a:spcPts val="0"/>
              </a:spcAft>
            </a:pPr>
            <a:r>
              <a:rPr sz="3200" b="1" i="0" spc="-32">
                <a:solidFill>
                  <a:srgbClr val="1D2433"/>
                </a:solidFill>
                <a:latin typeface="Noto Sans"/>
              </a:rPr>
              <a:t>From a shared garage to a labelled shed</a:t>
            </a:r>
          </a:p>
        </p:txBody>
      </p:sp>
      <p:sp>
        <p:nvSpPr>
          <p:cNvPr id="3" name="Text"/>
          <p:cNvSpPr txBox="1"/>
          <p:nvPr/>
        </p:nvSpPr>
        <p:spPr>
          <a:xfrm>
            <a:off x="762000" y="558914"/>
            <a:ext cx="10988040" cy="190271"/>
          </a:xfrm>
          <a:prstGeom prst="rect">
            <a:avLst/>
          </a:prstGeom>
          <a:noFill/>
        </p:spPr>
        <p:txBody>
          <a:bodyPr wrap="square" lIns="0" rIns="0" tIns="0" bIns="0" anchor="t">
            <a:noAutofit/>
          </a:bodyPr>
          <a:lstStyle/>
          <a:p>
            <a:pPr algn="l">
              <a:lnSpc>
                <a:spcPts val="1498"/>
              </a:lnSpc>
              <a:spcBef>
                <a:spcPts val="0"/>
              </a:spcBef>
              <a:spcAft>
                <a:spcPts val="0"/>
              </a:spcAft>
            </a:pPr>
            <a:r>
              <a:rPr sz="1100" b="1" i="0" spc="154">
                <a:solidFill>
                  <a:srgbClr val="5B4BD6"/>
                </a:solidFill>
                <a:latin typeface="Noto Sans"/>
              </a:rPr>
              <a:t>BEFORE AND AFTER</a:t>
            </a:r>
          </a:p>
        </p:txBody>
      </p:sp>
      <p:sp>
        <p:nvSpPr>
          <p:cNvPr id="4" name="Box"/>
          <p:cNvSpPr/>
          <p:nvPr/>
        </p:nvSpPr>
        <p:spPr>
          <a:xfrm>
            <a:off x="762000" y="1905000"/>
            <a:ext cx="4662289" cy="2159000"/>
          </a:xfrm>
          <a:prstGeom prst="roundRect">
            <a:avLst>
              <a:gd name="adj" fmla="val 4705"/>
            </a:avLst>
          </a:prstGeom>
          <a:solidFill>
            <a:srgbClr val="FFFFFF"/>
          </a:solidFill>
          <a:ln w="6350">
            <a:solidFill>
              <a:srgbClr val="DCD9D0"/>
            </a:solidFill>
          </a:ln>
          <a:effectLst/>
        </p:spPr>
        <p:txBody>
          <a:bodyPr rtlCol="0" anchor="ctr"/>
          <a:lstStyle/>
          <a:p>
            <a:pPr algn="ctr"/>
          </a:p>
        </p:txBody>
      </p:sp>
      <p:sp>
        <p:nvSpPr>
          <p:cNvPr id="5" name="Text"/>
          <p:cNvSpPr txBox="1"/>
          <p:nvPr/>
        </p:nvSpPr>
        <p:spPr>
          <a:xfrm>
            <a:off x="965200" y="2093862"/>
            <a:ext cx="4383566" cy="155677"/>
          </a:xfrm>
          <a:prstGeom prst="rect">
            <a:avLst/>
          </a:prstGeom>
          <a:noFill/>
        </p:spPr>
        <p:txBody>
          <a:bodyPr wrap="square" lIns="0" rIns="0" tIns="0" bIns="0" anchor="t">
            <a:noAutofit/>
          </a:bodyPr>
          <a:lstStyle/>
          <a:p>
            <a:pPr algn="l">
              <a:lnSpc>
                <a:spcPts val="1225"/>
              </a:lnSpc>
              <a:spcBef>
                <a:spcPts val="0"/>
              </a:spcBef>
              <a:spcAft>
                <a:spcPts val="0"/>
              </a:spcAft>
            </a:pPr>
            <a:r>
              <a:rPr sz="900" b="1" i="0" spc="108">
                <a:solidFill>
                  <a:srgbClr val="8A8F9C"/>
                </a:solidFill>
                <a:latin typeface="Noto Sans"/>
              </a:rPr>
              <a:t>BEFORE</a:t>
            </a:r>
          </a:p>
        </p:txBody>
      </p:sp>
      <p:sp>
        <p:nvSpPr>
          <p:cNvPr id="6" name="Text"/>
          <p:cNvSpPr txBox="1"/>
          <p:nvPr/>
        </p:nvSpPr>
        <p:spPr>
          <a:xfrm>
            <a:off x="965200" y="2321560"/>
            <a:ext cx="4383566" cy="720050"/>
          </a:xfrm>
          <a:prstGeom prst="rect">
            <a:avLst/>
          </a:prstGeom>
          <a:noFill/>
        </p:spPr>
        <p:txBody>
          <a:bodyPr wrap="square" lIns="0" rIns="0" tIns="0" bIns="0" anchor="t">
            <a:noAutofit/>
          </a:bodyPr>
          <a:lstStyle/>
          <a:p>
            <a:pPr algn="l">
              <a:lnSpc>
                <a:spcPts val="1889"/>
              </a:lnSpc>
              <a:spcBef>
                <a:spcPts val="0"/>
              </a:spcBef>
              <a:spcAft>
                <a:spcPts val="0"/>
              </a:spcAft>
            </a:pPr>
            <a:r>
              <a:rPr sz="1350" b="0" i="0">
                <a:solidFill>
                  <a:srgbClr val="4A5163"/>
                </a:solidFill>
                <a:latin typeface="Noto Sans"/>
              </a:rPr>
              <a:t>Tools lived in one garage. Nobody knew what was there, so people bought a second drill and the first went missing.</a:t>
            </a:r>
          </a:p>
        </p:txBody>
      </p:sp>
      <p:sp>
        <p:nvSpPr>
          <p:cNvPr id="7" name="Box"/>
          <p:cNvSpPr/>
          <p:nvPr/>
        </p:nvSpPr>
        <p:spPr>
          <a:xfrm>
            <a:off x="5602089" y="1905000"/>
            <a:ext cx="5827911" cy="2159000"/>
          </a:xfrm>
          <a:prstGeom prst="roundRect">
            <a:avLst>
              <a:gd name="adj" fmla="val 4705"/>
            </a:avLst>
          </a:prstGeom>
          <a:solidFill>
            <a:srgbClr val="5B4BD6"/>
          </a:solidFill>
          <a:ln>
            <a:noFill/>
          </a:ln>
          <a:effectLst/>
        </p:spPr>
        <p:txBody>
          <a:bodyPr rtlCol="0" anchor="ctr"/>
          <a:lstStyle/>
          <a:p>
            <a:pPr algn="ctr"/>
          </a:p>
        </p:txBody>
      </p:sp>
      <p:sp>
        <p:nvSpPr>
          <p:cNvPr id="8" name="Box"/>
          <p:cNvSpPr/>
          <p:nvPr/>
        </p:nvSpPr>
        <p:spPr>
          <a:xfrm>
            <a:off x="5665589" y="1905000"/>
            <a:ext cx="5764411" cy="2159000"/>
          </a:xfrm>
          <a:prstGeom prst="roundRect">
            <a:avLst>
              <a:gd name="adj" fmla="val 1764"/>
            </a:avLst>
          </a:prstGeom>
          <a:solidFill>
            <a:srgbClr val="FFFFFF"/>
          </a:solidFill>
          <a:ln>
            <a:noFill/>
          </a:ln>
          <a:effectLst/>
        </p:spPr>
        <p:txBody>
          <a:bodyPr rtlCol="0" anchor="ctr"/>
          <a:lstStyle/>
          <a:p>
            <a:pPr algn="ctr"/>
          </a:p>
        </p:txBody>
      </p:sp>
      <p:sp>
        <p:nvSpPr>
          <p:cNvPr id="9" name="Text"/>
          <p:cNvSpPr txBox="1"/>
          <p:nvPr/>
        </p:nvSpPr>
        <p:spPr>
          <a:xfrm>
            <a:off x="5868789" y="2093862"/>
            <a:ext cx="5518751" cy="155677"/>
          </a:xfrm>
          <a:prstGeom prst="rect">
            <a:avLst/>
          </a:prstGeom>
          <a:noFill/>
        </p:spPr>
        <p:txBody>
          <a:bodyPr wrap="square" lIns="0" rIns="0" tIns="0" bIns="0" anchor="t">
            <a:noAutofit/>
          </a:bodyPr>
          <a:lstStyle/>
          <a:p>
            <a:pPr algn="l">
              <a:lnSpc>
                <a:spcPts val="1225"/>
              </a:lnSpc>
              <a:spcBef>
                <a:spcPts val="0"/>
              </a:spcBef>
              <a:spcAft>
                <a:spcPts val="0"/>
              </a:spcAft>
            </a:pPr>
            <a:r>
              <a:rPr sz="900" b="1" i="0" spc="108">
                <a:solidFill>
                  <a:srgbClr val="5B4BD6"/>
                </a:solidFill>
                <a:latin typeface="Noto Sans"/>
              </a:rPr>
              <a:t>NOW</a:t>
            </a:r>
          </a:p>
        </p:txBody>
      </p:sp>
      <p:sp>
        <p:nvSpPr>
          <p:cNvPr id="10" name="Text"/>
          <p:cNvSpPr txBox="1"/>
          <p:nvPr/>
        </p:nvSpPr>
        <p:spPr>
          <a:xfrm>
            <a:off x="5868789" y="2321560"/>
            <a:ext cx="5518751" cy="480040"/>
          </a:xfrm>
          <a:prstGeom prst="rect">
            <a:avLst/>
          </a:prstGeom>
          <a:noFill/>
        </p:spPr>
        <p:txBody>
          <a:bodyPr wrap="square" lIns="0" rIns="0" tIns="0" bIns="0" anchor="t">
            <a:noAutofit/>
          </a:bodyPr>
          <a:lstStyle/>
          <a:p>
            <a:pPr algn="l">
              <a:lnSpc>
                <a:spcPts val="1889"/>
              </a:lnSpc>
              <a:spcBef>
                <a:spcPts val="0"/>
              </a:spcBef>
              <a:spcAft>
                <a:spcPts val="0"/>
              </a:spcAft>
            </a:pPr>
            <a:r>
              <a:rPr sz="1350" b="0" i="0">
                <a:solidFill>
                  <a:srgbClr val="1D2433"/>
                </a:solidFill>
                <a:latin typeface="Noto Sans"/>
              </a:rPr>
              <a:t>Every tool has a hook, a ledger line and a Friday deadline, so anyone can see what is in and what is out.</a:t>
            </a:r>
          </a:p>
        </p:txBody>
      </p:sp>
      <p:sp>
        <p:nvSpPr>
          <p:cNvPr id="11" name="Box"/>
          <p:cNvSpPr/>
          <p:nvPr/>
        </p:nvSpPr>
        <p:spPr>
          <a:xfrm>
            <a:off x="762000" y="4241800"/>
            <a:ext cx="3462834" cy="1460500"/>
          </a:xfrm>
          <a:prstGeom prst="roundRect">
            <a:avLst>
              <a:gd name="adj" fmla="val 6086"/>
            </a:avLst>
          </a:prstGeom>
          <a:solidFill>
            <a:srgbClr val="ECE9FB"/>
          </a:solidFill>
          <a:ln>
            <a:noFill/>
          </a:ln>
          <a:effectLst/>
        </p:spPr>
        <p:txBody>
          <a:bodyPr rtlCol="0" anchor="ctr"/>
          <a:lstStyle/>
          <a:p>
            <a:pPr algn="ctr"/>
          </a:p>
        </p:txBody>
      </p:sp>
      <p:sp>
        <p:nvSpPr>
          <p:cNvPr id="12" name="Text"/>
          <p:cNvSpPr txBox="1"/>
          <p:nvPr/>
        </p:nvSpPr>
        <p:spPr>
          <a:xfrm>
            <a:off x="914400" y="4379862"/>
            <a:ext cx="3252775" cy="155677"/>
          </a:xfrm>
          <a:prstGeom prst="rect">
            <a:avLst/>
          </a:prstGeom>
          <a:noFill/>
        </p:spPr>
        <p:txBody>
          <a:bodyPr wrap="square" lIns="0" rIns="0" tIns="0" bIns="0" anchor="t">
            <a:noAutofit/>
          </a:bodyPr>
          <a:lstStyle/>
          <a:p>
            <a:pPr algn="l">
              <a:lnSpc>
                <a:spcPts val="1225"/>
              </a:lnSpc>
              <a:spcBef>
                <a:spcPts val="0"/>
              </a:spcBef>
              <a:spcAft>
                <a:spcPts val="0"/>
              </a:spcAft>
            </a:pPr>
            <a:r>
              <a:rPr sz="900" b="1" i="0" spc="90">
                <a:solidFill>
                  <a:srgbClr val="5B4BD6"/>
                </a:solidFill>
                <a:latin typeface="Noto Sans"/>
              </a:rPr>
              <a:t>FINDING</a:t>
            </a:r>
          </a:p>
        </p:txBody>
      </p:sp>
      <p:sp>
        <p:nvSpPr>
          <p:cNvPr id="13" name="Text"/>
          <p:cNvSpPr txBox="1"/>
          <p:nvPr/>
        </p:nvSpPr>
        <p:spPr>
          <a:xfrm>
            <a:off x="914400" y="4583112"/>
            <a:ext cx="3252775" cy="438150"/>
          </a:xfrm>
          <a:prstGeom prst="rect">
            <a:avLst/>
          </a:prstGeom>
          <a:noFill/>
        </p:spPr>
        <p:txBody>
          <a:bodyPr wrap="square" lIns="0" rIns="0" tIns="0" bIns="0" anchor="t">
            <a:noAutofit/>
          </a:bodyPr>
          <a:lstStyle/>
          <a:p>
            <a:pPr algn="l">
              <a:lnSpc>
                <a:spcPts val="1725"/>
              </a:lnSpc>
              <a:spcBef>
                <a:spcPts val="0"/>
              </a:spcBef>
              <a:spcAft>
                <a:spcPts val="0"/>
              </a:spcAft>
            </a:pPr>
            <a:r>
              <a:rPr sz="1250" b="0" i="0">
                <a:solidFill>
                  <a:srgbClr val="1D2433"/>
                </a:solidFill>
                <a:latin typeface="Noto Sans"/>
              </a:rPr>
              <a:t>A shelf of hooks, each labelled with the tool's name.</a:t>
            </a:r>
          </a:p>
        </p:txBody>
      </p:sp>
      <p:sp>
        <p:nvSpPr>
          <p:cNvPr id="14" name="Box"/>
          <p:cNvSpPr/>
          <p:nvPr/>
        </p:nvSpPr>
        <p:spPr>
          <a:xfrm>
            <a:off x="4364534" y="4241800"/>
            <a:ext cx="3462834" cy="1460500"/>
          </a:xfrm>
          <a:prstGeom prst="roundRect">
            <a:avLst>
              <a:gd name="adj" fmla="val 6086"/>
            </a:avLst>
          </a:prstGeom>
          <a:solidFill>
            <a:srgbClr val="ECE9FB"/>
          </a:solidFill>
          <a:ln>
            <a:noFill/>
          </a:ln>
          <a:effectLst/>
        </p:spPr>
        <p:txBody>
          <a:bodyPr rtlCol="0" anchor="ctr"/>
          <a:lstStyle/>
          <a:p>
            <a:pPr algn="ctr"/>
          </a:p>
        </p:txBody>
      </p:sp>
      <p:sp>
        <p:nvSpPr>
          <p:cNvPr id="15" name="Text"/>
          <p:cNvSpPr txBox="1"/>
          <p:nvPr/>
        </p:nvSpPr>
        <p:spPr>
          <a:xfrm>
            <a:off x="4516934" y="4379862"/>
            <a:ext cx="3252775" cy="155677"/>
          </a:xfrm>
          <a:prstGeom prst="rect">
            <a:avLst/>
          </a:prstGeom>
          <a:noFill/>
        </p:spPr>
        <p:txBody>
          <a:bodyPr wrap="square" lIns="0" rIns="0" tIns="0" bIns="0" anchor="t">
            <a:noAutofit/>
          </a:bodyPr>
          <a:lstStyle/>
          <a:p>
            <a:pPr algn="l">
              <a:lnSpc>
                <a:spcPts val="1225"/>
              </a:lnSpc>
              <a:spcBef>
                <a:spcPts val="0"/>
              </a:spcBef>
              <a:spcAft>
                <a:spcPts val="0"/>
              </a:spcAft>
            </a:pPr>
            <a:r>
              <a:rPr sz="900" b="1" i="0" spc="90">
                <a:solidFill>
                  <a:srgbClr val="5B4BD6"/>
                </a:solidFill>
                <a:latin typeface="Noto Sans"/>
              </a:rPr>
              <a:t>TRUSTING</a:t>
            </a:r>
          </a:p>
        </p:txBody>
      </p:sp>
      <p:sp>
        <p:nvSpPr>
          <p:cNvPr id="16" name="Text"/>
          <p:cNvSpPr txBox="1"/>
          <p:nvPr/>
        </p:nvSpPr>
        <p:spPr>
          <a:xfrm>
            <a:off x="4516934" y="4583112"/>
            <a:ext cx="3252775" cy="438150"/>
          </a:xfrm>
          <a:prstGeom prst="rect">
            <a:avLst/>
          </a:prstGeom>
          <a:noFill/>
        </p:spPr>
        <p:txBody>
          <a:bodyPr wrap="square" lIns="0" rIns="0" tIns="0" bIns="0" anchor="t">
            <a:noAutofit/>
          </a:bodyPr>
          <a:lstStyle/>
          <a:p>
            <a:pPr algn="l">
              <a:lnSpc>
                <a:spcPts val="1725"/>
              </a:lnSpc>
              <a:spcBef>
                <a:spcPts val="0"/>
              </a:spcBef>
              <a:spcAft>
                <a:spcPts val="0"/>
              </a:spcAft>
            </a:pPr>
            <a:r>
              <a:rPr sz="1250" b="0" i="0">
                <a:solidFill>
                  <a:srgbClr val="1D2433"/>
                </a:solidFill>
                <a:latin typeface="Noto Sans"/>
              </a:rPr>
              <a:t>A ledger line says its condition and who checked it last.</a:t>
            </a:r>
          </a:p>
        </p:txBody>
      </p:sp>
      <p:sp>
        <p:nvSpPr>
          <p:cNvPr id="17" name="Box"/>
          <p:cNvSpPr/>
          <p:nvPr/>
        </p:nvSpPr>
        <p:spPr>
          <a:xfrm>
            <a:off x="7967067" y="4241800"/>
            <a:ext cx="3462834" cy="1460500"/>
          </a:xfrm>
          <a:prstGeom prst="roundRect">
            <a:avLst>
              <a:gd name="adj" fmla="val 6086"/>
            </a:avLst>
          </a:prstGeom>
          <a:solidFill>
            <a:srgbClr val="ECE9FB"/>
          </a:solidFill>
          <a:ln>
            <a:noFill/>
          </a:ln>
          <a:effectLst/>
        </p:spPr>
        <p:txBody>
          <a:bodyPr rtlCol="0" anchor="ctr"/>
          <a:lstStyle/>
          <a:p>
            <a:pPr algn="ctr"/>
          </a:p>
        </p:txBody>
      </p:sp>
      <p:sp>
        <p:nvSpPr>
          <p:cNvPr id="18" name="Text"/>
          <p:cNvSpPr txBox="1"/>
          <p:nvPr/>
        </p:nvSpPr>
        <p:spPr>
          <a:xfrm>
            <a:off x="8119467" y="4379862"/>
            <a:ext cx="3252775" cy="155677"/>
          </a:xfrm>
          <a:prstGeom prst="rect">
            <a:avLst/>
          </a:prstGeom>
          <a:noFill/>
        </p:spPr>
        <p:txBody>
          <a:bodyPr wrap="square" lIns="0" rIns="0" tIns="0" bIns="0" anchor="t">
            <a:noAutofit/>
          </a:bodyPr>
          <a:lstStyle/>
          <a:p>
            <a:pPr algn="l">
              <a:lnSpc>
                <a:spcPts val="1225"/>
              </a:lnSpc>
              <a:spcBef>
                <a:spcPts val="0"/>
              </a:spcBef>
              <a:spcAft>
                <a:spcPts val="0"/>
              </a:spcAft>
            </a:pPr>
            <a:r>
              <a:rPr sz="900" b="1" i="0" spc="90">
                <a:solidFill>
                  <a:srgbClr val="5B4BD6"/>
                </a:solidFill>
                <a:latin typeface="Noto Sans"/>
              </a:rPr>
              <a:t>RETURNING</a:t>
            </a:r>
          </a:p>
        </p:txBody>
      </p:sp>
      <p:sp>
        <p:nvSpPr>
          <p:cNvPr id="19" name="Text"/>
          <p:cNvSpPr txBox="1"/>
          <p:nvPr/>
        </p:nvSpPr>
        <p:spPr>
          <a:xfrm>
            <a:off x="8119467" y="4583112"/>
            <a:ext cx="3252775" cy="438150"/>
          </a:xfrm>
          <a:prstGeom prst="rect">
            <a:avLst/>
          </a:prstGeom>
          <a:noFill/>
        </p:spPr>
        <p:txBody>
          <a:bodyPr wrap="square" lIns="0" rIns="0" tIns="0" bIns="0" anchor="t">
            <a:noAutofit/>
          </a:bodyPr>
          <a:lstStyle/>
          <a:p>
            <a:pPr algn="l">
              <a:lnSpc>
                <a:spcPts val="1725"/>
              </a:lnSpc>
              <a:spcBef>
                <a:spcPts val="0"/>
              </a:spcBef>
              <a:spcAft>
                <a:spcPts val="0"/>
              </a:spcAft>
            </a:pPr>
            <a:r>
              <a:rPr sz="1250" b="0" i="0">
                <a:solidFill>
                  <a:srgbClr val="1D2433"/>
                </a:solidFill>
                <a:latin typeface="Noto Sans"/>
              </a:rPr>
              <a:t>A tool hung back clean is the only sign-off it needs.</a:t>
            </a:r>
          </a:p>
        </p:txBody>
      </p:sp>
      <p:sp>
        <p:nvSpPr>
          <p:cNvPr id="20" name="Box"/>
          <p:cNvSpPr/>
          <p:nvPr/>
        </p:nvSpPr>
        <p:spPr>
          <a:xfrm>
            <a:off x="762000" y="6369050"/>
            <a:ext cx="10668000" cy="6350"/>
          </a:xfrm>
          <a:prstGeom prst="rect">
            <a:avLst/>
          </a:prstGeom>
          <a:solidFill>
            <a:srgbClr val="DCD9D0"/>
          </a:solidFill>
          <a:ln>
            <a:noFill/>
          </a:ln>
          <a:effectLst/>
        </p:spPr>
        <p:txBody>
          <a:bodyPr rtlCol="0" anchor="ctr"/>
          <a:lstStyle/>
          <a:p>
            <a:pPr algn="ctr"/>
          </a:p>
        </p:txBody>
      </p:sp>
      <p:sp>
        <p:nvSpPr>
          <p:cNvPr id="21" name="Text"/>
          <p:cNvSpPr txBox="1"/>
          <p:nvPr/>
        </p:nvSpPr>
        <p:spPr>
          <a:xfrm>
            <a:off x="762000" y="6495561"/>
            <a:ext cx="1339850" cy="147028"/>
          </a:xfrm>
          <a:prstGeom prst="rect">
            <a:avLst/>
          </a:prstGeom>
          <a:noFill/>
        </p:spPr>
        <p:txBody>
          <a:bodyPr wrap="none" lIns="0" rIns="0" tIns="0" bIns="0" anchor="t">
            <a:noAutofit/>
          </a:bodyPr>
          <a:lstStyle/>
          <a:p>
            <a:pPr algn="l">
              <a:lnSpc>
                <a:spcPts val="1157"/>
              </a:lnSpc>
              <a:spcBef>
                <a:spcPts val="0"/>
              </a:spcBef>
              <a:spcAft>
                <a:spcPts val="0"/>
              </a:spcAft>
            </a:pPr>
            <a:r>
              <a:rPr sz="850" b="1" i="0">
                <a:solidFill>
                  <a:srgbClr val="4A5163"/>
                </a:solidFill>
                <a:latin typeface="Noto Sans"/>
              </a:rPr>
              <a:t>Source:</a:t>
            </a:r>
            <a:r>
              <a:rPr sz="850" b="0" i="0">
                <a:solidFill>
                  <a:srgbClr val="8A8F9C"/>
                </a:solidFill>
                <a:latin typeface="Noto Sans"/>
              </a:rPr>
              <a:t> Invented example</a:t>
            </a:r>
          </a:p>
        </p:txBody>
      </p:sp>
      <p:sp>
        <p:nvSpPr>
          <p:cNvPr id="22" name="Text"/>
          <p:cNvSpPr txBox="1"/>
          <p:nvPr/>
        </p:nvSpPr>
        <p:spPr>
          <a:xfrm>
            <a:off x="11150600" y="6495561"/>
            <a:ext cx="287782" cy="147028"/>
          </a:xfrm>
          <a:prstGeom prst="rect">
            <a:avLst/>
          </a:prstGeom>
          <a:noFill/>
        </p:spPr>
        <p:txBody>
          <a:bodyPr wrap="square" lIns="0" rIns="0" tIns="0" bIns="0" anchor="t">
            <a:noAutofit/>
          </a:bodyPr>
          <a:lstStyle/>
          <a:p>
            <a:pPr algn="l">
              <a:lnSpc>
                <a:spcPts val="1157"/>
              </a:lnSpc>
              <a:spcBef>
                <a:spcPts val="0"/>
              </a:spcBef>
              <a:spcAft>
                <a:spcPts val="0"/>
              </a:spcAft>
            </a:pPr>
            <a:r>
              <a:rPr sz="850" b="0" i="0">
                <a:solidFill>
                  <a:srgbClr val="8A8F9C"/>
                </a:solidFill>
                <a:latin typeface="Noto Sans"/>
              </a:rPr>
              <a:t>7 / 11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itle 1"/>
          <p:cNvSpPr>
            <a:spLocks noGrp="1"/>
          </p:cNvSpPr>
          <p:nvPr>
            <p:ph type="title"/>
          </p:nvPr>
        </p:nvSpPr>
        <p:spPr>
          <a:xfrm>
            <a:off x="762000" y="837819"/>
            <a:ext cx="10988040" cy="438912"/>
          </a:xfrm>
        </p:spPr>
        <p:txBody>
          <a:bodyPr wrap="square" lIns="0" rIns="0" tIns="0" bIns="0" anchor="t">
            <a:noAutofit/>
          </a:bodyPr>
          <a:lstStyle/>
          <a:p>
            <a:pPr algn="l">
              <a:lnSpc>
                <a:spcPts val="3456"/>
              </a:lnSpc>
              <a:spcBef>
                <a:spcPts val="0"/>
              </a:spcBef>
              <a:spcAft>
                <a:spcPts val="0"/>
              </a:spcAft>
            </a:pPr>
            <a:r>
              <a:rPr sz="3200" b="1" i="0" spc="-32">
                <a:solidFill>
                  <a:srgbClr val="1D2433"/>
                </a:solidFill>
                <a:latin typeface="Noto Sans"/>
              </a:rPr>
              <a:t>Keep the rules few and the hooks labelled</a:t>
            </a:r>
          </a:p>
        </p:txBody>
      </p:sp>
      <p:sp>
        <p:nvSpPr>
          <p:cNvPr id="3" name="Text"/>
          <p:cNvSpPr txBox="1"/>
          <p:nvPr/>
        </p:nvSpPr>
        <p:spPr>
          <a:xfrm>
            <a:off x="762000" y="558914"/>
            <a:ext cx="10988040" cy="190271"/>
          </a:xfrm>
          <a:prstGeom prst="rect">
            <a:avLst/>
          </a:prstGeom>
          <a:noFill/>
        </p:spPr>
        <p:txBody>
          <a:bodyPr wrap="square" lIns="0" rIns="0" tIns="0" bIns="0" anchor="t">
            <a:noAutofit/>
          </a:bodyPr>
          <a:lstStyle/>
          <a:p>
            <a:pPr algn="l">
              <a:lnSpc>
                <a:spcPts val="1498"/>
              </a:lnSpc>
              <a:spcBef>
                <a:spcPts val="0"/>
              </a:spcBef>
              <a:spcAft>
                <a:spcPts val="0"/>
              </a:spcAft>
            </a:pPr>
            <a:r>
              <a:rPr sz="1100" b="1" i="0" spc="154">
                <a:solidFill>
                  <a:srgbClr val="5B4BD6"/>
                </a:solidFill>
                <a:latin typeface="Noto Sans"/>
              </a:rPr>
              <a:t>WHAT WORKS, WHAT DOES NOT</a:t>
            </a:r>
          </a:p>
        </p:txBody>
      </p:sp>
      <p:sp>
        <p:nvSpPr>
          <p:cNvPr id="4" name="Box"/>
          <p:cNvSpPr/>
          <p:nvPr/>
        </p:nvSpPr>
        <p:spPr>
          <a:xfrm>
            <a:off x="762000" y="1905000"/>
            <a:ext cx="5245100" cy="4191000"/>
          </a:xfrm>
          <a:prstGeom prst="roundRect">
            <a:avLst>
              <a:gd name="adj" fmla="val 2424"/>
            </a:avLst>
          </a:prstGeom>
          <a:solidFill>
            <a:srgbClr val="2E9E6B"/>
          </a:solidFill>
          <a:ln>
            <a:noFill/>
          </a:ln>
          <a:effectLst/>
        </p:spPr>
        <p:txBody>
          <a:bodyPr rtlCol="0" anchor="ctr"/>
          <a:lstStyle/>
          <a:p>
            <a:pPr algn="ctr"/>
          </a:p>
        </p:txBody>
      </p:sp>
      <p:sp>
        <p:nvSpPr>
          <p:cNvPr id="5" name="Box"/>
          <p:cNvSpPr/>
          <p:nvPr/>
        </p:nvSpPr>
        <p:spPr>
          <a:xfrm>
            <a:off x="762000" y="1968500"/>
            <a:ext cx="5245100" cy="4127500"/>
          </a:xfrm>
          <a:prstGeom prst="roundRect">
            <a:avLst>
              <a:gd name="adj" fmla="val 923"/>
            </a:avLst>
          </a:prstGeom>
          <a:solidFill>
            <a:srgbClr val="FFFFFF"/>
          </a:solidFill>
          <a:ln>
            <a:noFill/>
          </a:ln>
          <a:effectLst/>
        </p:spPr>
        <p:txBody>
          <a:bodyPr rtlCol="0" anchor="ctr"/>
          <a:lstStyle/>
          <a:p>
            <a:pPr algn="ctr"/>
          </a:p>
        </p:txBody>
      </p:sp>
      <p:sp>
        <p:nvSpPr>
          <p:cNvPr id="6" name="Text"/>
          <p:cNvSpPr txBox="1"/>
          <p:nvPr/>
        </p:nvSpPr>
        <p:spPr>
          <a:xfrm>
            <a:off x="965200" y="2158022"/>
            <a:ext cx="4983861" cy="294056"/>
          </a:xfrm>
          <a:prstGeom prst="rect">
            <a:avLst/>
          </a:prstGeom>
          <a:noFill/>
        </p:spPr>
        <p:txBody>
          <a:bodyPr wrap="square" lIns="0" rIns="0" tIns="0" bIns="0" anchor="t">
            <a:noAutofit/>
          </a:bodyPr>
          <a:lstStyle/>
          <a:p>
            <a:pPr algn="l">
              <a:lnSpc>
                <a:spcPts val="2315"/>
              </a:lnSpc>
              <a:spcBef>
                <a:spcPts val="0"/>
              </a:spcBef>
              <a:spcAft>
                <a:spcPts val="0"/>
              </a:spcAft>
            </a:pPr>
            <a:r>
              <a:rPr sz="1700" b="1" i="0">
                <a:solidFill>
                  <a:srgbClr val="2E9E6B"/>
                </a:solidFill>
                <a:latin typeface="Noto Sans"/>
              </a:rPr>
              <a:t>What works</a:t>
            </a:r>
          </a:p>
        </p:txBody>
      </p:sp>
      <p:sp>
        <p:nvSpPr>
          <p:cNvPr id="7" name="Box"/>
          <p:cNvSpPr/>
          <p:nvPr/>
        </p:nvSpPr>
        <p:spPr>
          <a:xfrm>
            <a:off x="990600" y="2616200"/>
            <a:ext cx="101600" cy="101600"/>
          </a:xfrm>
          <a:prstGeom prst="roundRect">
            <a:avLst>
              <a:gd name="adj" fmla="val 25000"/>
            </a:avLst>
          </a:prstGeom>
          <a:solidFill>
            <a:srgbClr val="5B4BD6"/>
          </a:solidFill>
          <a:ln>
            <a:noFill/>
          </a:ln>
          <a:effectLst/>
        </p:spPr>
        <p:txBody>
          <a:bodyPr rtlCol="0" anchor="ctr"/>
          <a:lstStyle/>
          <a:p>
            <a:pPr algn="ctr"/>
          </a:p>
        </p:txBody>
      </p:sp>
      <p:sp>
        <p:nvSpPr>
          <p:cNvPr id="8" name="Text"/>
          <p:cNvSpPr txBox="1"/>
          <p:nvPr/>
        </p:nvSpPr>
        <p:spPr>
          <a:xfrm>
            <a:off x="1257300" y="2521268"/>
            <a:ext cx="4682998" cy="291465"/>
          </a:xfrm>
          <a:prstGeom prst="rect">
            <a:avLst/>
          </a:prstGeom>
          <a:noFill/>
        </p:spPr>
        <p:txBody>
          <a:bodyPr wrap="square" lIns="0" rIns="0" tIns="0" bIns="0" anchor="t">
            <a:noAutofit/>
          </a:bodyPr>
          <a:lstStyle/>
          <a:p>
            <a:pPr algn="l">
              <a:lnSpc>
                <a:spcPts val="2295"/>
              </a:lnSpc>
              <a:spcBef>
                <a:spcPts val="0"/>
              </a:spcBef>
              <a:spcAft>
                <a:spcPts val="0"/>
              </a:spcAft>
            </a:pPr>
            <a:r>
              <a:rPr sz="1700" b="0" i="0">
                <a:solidFill>
                  <a:srgbClr val="1D2433"/>
                </a:solidFill>
                <a:latin typeface="Noto Sans"/>
              </a:rPr>
              <a:t>A hook for every tool</a:t>
            </a:r>
          </a:p>
        </p:txBody>
      </p:sp>
      <p:sp>
        <p:nvSpPr>
          <p:cNvPr id="9" name="Box"/>
          <p:cNvSpPr/>
          <p:nvPr/>
        </p:nvSpPr>
        <p:spPr>
          <a:xfrm>
            <a:off x="990600" y="3009205"/>
            <a:ext cx="101600" cy="101600"/>
          </a:xfrm>
          <a:prstGeom prst="roundRect">
            <a:avLst>
              <a:gd name="adj" fmla="val 25000"/>
            </a:avLst>
          </a:prstGeom>
          <a:solidFill>
            <a:srgbClr val="5B4BD6"/>
          </a:solidFill>
          <a:ln>
            <a:noFill/>
          </a:ln>
          <a:effectLst/>
        </p:spPr>
        <p:txBody>
          <a:bodyPr rtlCol="0" anchor="ctr"/>
          <a:lstStyle/>
          <a:p>
            <a:pPr algn="ctr"/>
          </a:p>
        </p:txBody>
      </p:sp>
      <p:sp>
        <p:nvSpPr>
          <p:cNvPr id="10" name="Text"/>
          <p:cNvSpPr txBox="1"/>
          <p:nvPr/>
        </p:nvSpPr>
        <p:spPr>
          <a:xfrm>
            <a:off x="1257300" y="2914273"/>
            <a:ext cx="4682998" cy="291465"/>
          </a:xfrm>
          <a:prstGeom prst="rect">
            <a:avLst/>
          </a:prstGeom>
          <a:noFill/>
        </p:spPr>
        <p:txBody>
          <a:bodyPr wrap="square" lIns="0" rIns="0" tIns="0" bIns="0" anchor="t">
            <a:noAutofit/>
          </a:bodyPr>
          <a:lstStyle/>
          <a:p>
            <a:pPr algn="l">
              <a:lnSpc>
                <a:spcPts val="2295"/>
              </a:lnSpc>
              <a:spcBef>
                <a:spcPts val="0"/>
              </a:spcBef>
              <a:spcAft>
                <a:spcPts val="0"/>
              </a:spcAft>
            </a:pPr>
            <a:r>
              <a:rPr sz="1700" b="0" i="0">
                <a:solidFill>
                  <a:srgbClr val="1D2433"/>
                </a:solidFill>
                <a:latin typeface="Noto Sans"/>
              </a:rPr>
              <a:t>A ledger line for every hook</a:t>
            </a:r>
          </a:p>
        </p:txBody>
      </p:sp>
      <p:sp>
        <p:nvSpPr>
          <p:cNvPr id="11" name="Box"/>
          <p:cNvSpPr/>
          <p:nvPr/>
        </p:nvSpPr>
        <p:spPr>
          <a:xfrm>
            <a:off x="990600" y="3402211"/>
            <a:ext cx="101600" cy="101600"/>
          </a:xfrm>
          <a:prstGeom prst="roundRect">
            <a:avLst>
              <a:gd name="adj" fmla="val 25000"/>
            </a:avLst>
          </a:prstGeom>
          <a:solidFill>
            <a:srgbClr val="5B4BD6"/>
          </a:solidFill>
          <a:ln>
            <a:noFill/>
          </a:ln>
          <a:effectLst/>
        </p:spPr>
        <p:txBody>
          <a:bodyPr rtlCol="0" anchor="ctr"/>
          <a:lstStyle/>
          <a:p>
            <a:pPr algn="ctr"/>
          </a:p>
        </p:txBody>
      </p:sp>
      <p:sp>
        <p:nvSpPr>
          <p:cNvPr id="12" name="Text"/>
          <p:cNvSpPr txBox="1"/>
          <p:nvPr/>
        </p:nvSpPr>
        <p:spPr>
          <a:xfrm>
            <a:off x="1257300" y="3307278"/>
            <a:ext cx="4682998" cy="291465"/>
          </a:xfrm>
          <a:prstGeom prst="rect">
            <a:avLst/>
          </a:prstGeom>
          <a:noFill/>
        </p:spPr>
        <p:txBody>
          <a:bodyPr wrap="square" lIns="0" rIns="0" tIns="0" bIns="0" anchor="t">
            <a:noAutofit/>
          </a:bodyPr>
          <a:lstStyle/>
          <a:p>
            <a:pPr algn="l">
              <a:lnSpc>
                <a:spcPts val="2295"/>
              </a:lnSpc>
              <a:spcBef>
                <a:spcPts val="0"/>
              </a:spcBef>
              <a:spcAft>
                <a:spcPts val="0"/>
              </a:spcAft>
            </a:pPr>
            <a:r>
              <a:rPr sz="1700" b="0" i="0">
                <a:solidFill>
                  <a:srgbClr val="1D2433"/>
                </a:solidFill>
                <a:latin typeface="Noto Sans"/>
              </a:rPr>
              <a:t>One rule said out loud</a:t>
            </a:r>
          </a:p>
        </p:txBody>
      </p:sp>
      <p:sp>
        <p:nvSpPr>
          <p:cNvPr id="13" name="Box"/>
          <p:cNvSpPr/>
          <p:nvPr/>
        </p:nvSpPr>
        <p:spPr>
          <a:xfrm>
            <a:off x="990600" y="3795216"/>
            <a:ext cx="101600" cy="101600"/>
          </a:xfrm>
          <a:prstGeom prst="roundRect">
            <a:avLst>
              <a:gd name="adj" fmla="val 25000"/>
            </a:avLst>
          </a:prstGeom>
          <a:solidFill>
            <a:srgbClr val="5B4BD6"/>
          </a:solidFill>
          <a:ln>
            <a:noFill/>
          </a:ln>
          <a:effectLst/>
        </p:spPr>
        <p:txBody>
          <a:bodyPr rtlCol="0" anchor="ctr"/>
          <a:lstStyle/>
          <a:p>
            <a:pPr algn="ctr"/>
          </a:p>
        </p:txBody>
      </p:sp>
      <p:sp>
        <p:nvSpPr>
          <p:cNvPr id="14" name="Text"/>
          <p:cNvSpPr txBox="1"/>
          <p:nvPr/>
        </p:nvSpPr>
        <p:spPr>
          <a:xfrm>
            <a:off x="1257300" y="3700284"/>
            <a:ext cx="4682998" cy="291465"/>
          </a:xfrm>
          <a:prstGeom prst="rect">
            <a:avLst/>
          </a:prstGeom>
          <a:noFill/>
        </p:spPr>
        <p:txBody>
          <a:bodyPr wrap="square" lIns="0" rIns="0" tIns="0" bIns="0" anchor="t">
            <a:noAutofit/>
          </a:bodyPr>
          <a:lstStyle/>
          <a:p>
            <a:pPr algn="l">
              <a:lnSpc>
                <a:spcPts val="2295"/>
              </a:lnSpc>
              <a:spcBef>
                <a:spcPts val="0"/>
              </a:spcBef>
              <a:spcAft>
                <a:spcPts val="0"/>
              </a:spcAft>
            </a:pPr>
            <a:r>
              <a:rPr sz="1700" b="0" i="0">
                <a:solidFill>
                  <a:srgbClr val="1D2433"/>
                </a:solidFill>
                <a:latin typeface="Noto Sans"/>
              </a:rPr>
              <a:t>Saturday mornings, always</a:t>
            </a:r>
          </a:p>
        </p:txBody>
      </p:sp>
      <p:sp>
        <p:nvSpPr>
          <p:cNvPr id="15" name="Box"/>
          <p:cNvSpPr/>
          <p:nvPr/>
        </p:nvSpPr>
        <p:spPr>
          <a:xfrm>
            <a:off x="6184900" y="1905000"/>
            <a:ext cx="5245100" cy="4191000"/>
          </a:xfrm>
          <a:prstGeom prst="roundRect">
            <a:avLst>
              <a:gd name="adj" fmla="val 2424"/>
            </a:avLst>
          </a:prstGeom>
          <a:solidFill>
            <a:srgbClr val="D0453D"/>
          </a:solidFill>
          <a:ln>
            <a:noFill/>
          </a:ln>
          <a:effectLst/>
        </p:spPr>
        <p:txBody>
          <a:bodyPr rtlCol="0" anchor="ctr"/>
          <a:lstStyle/>
          <a:p>
            <a:pPr algn="ctr"/>
          </a:p>
        </p:txBody>
      </p:sp>
      <p:sp>
        <p:nvSpPr>
          <p:cNvPr id="16" name="Box"/>
          <p:cNvSpPr/>
          <p:nvPr/>
        </p:nvSpPr>
        <p:spPr>
          <a:xfrm>
            <a:off x="6184900" y="1968500"/>
            <a:ext cx="5245100" cy="4127500"/>
          </a:xfrm>
          <a:prstGeom prst="roundRect">
            <a:avLst>
              <a:gd name="adj" fmla="val 923"/>
            </a:avLst>
          </a:prstGeom>
          <a:solidFill>
            <a:srgbClr val="FFFFFF"/>
          </a:solidFill>
          <a:ln>
            <a:noFill/>
          </a:ln>
          <a:effectLst/>
        </p:spPr>
        <p:txBody>
          <a:bodyPr rtlCol="0" anchor="ctr"/>
          <a:lstStyle/>
          <a:p>
            <a:pPr algn="ctr"/>
          </a:p>
        </p:txBody>
      </p:sp>
      <p:sp>
        <p:nvSpPr>
          <p:cNvPr id="17" name="Text"/>
          <p:cNvSpPr txBox="1"/>
          <p:nvPr/>
        </p:nvSpPr>
        <p:spPr>
          <a:xfrm>
            <a:off x="6388100" y="2158022"/>
            <a:ext cx="4983861" cy="294056"/>
          </a:xfrm>
          <a:prstGeom prst="rect">
            <a:avLst/>
          </a:prstGeom>
          <a:noFill/>
        </p:spPr>
        <p:txBody>
          <a:bodyPr wrap="square" lIns="0" rIns="0" tIns="0" bIns="0" anchor="t">
            <a:noAutofit/>
          </a:bodyPr>
          <a:lstStyle/>
          <a:p>
            <a:pPr algn="l">
              <a:lnSpc>
                <a:spcPts val="2315"/>
              </a:lnSpc>
              <a:spcBef>
                <a:spcPts val="0"/>
              </a:spcBef>
              <a:spcAft>
                <a:spcPts val="0"/>
              </a:spcAft>
            </a:pPr>
            <a:r>
              <a:rPr sz="1700" b="1" i="0">
                <a:solidFill>
                  <a:srgbClr val="D0453D"/>
                </a:solidFill>
                <a:latin typeface="Noto Sans"/>
              </a:rPr>
              <a:t>What does not</a:t>
            </a:r>
          </a:p>
        </p:txBody>
      </p:sp>
      <p:sp>
        <p:nvSpPr>
          <p:cNvPr id="18" name="Box"/>
          <p:cNvSpPr/>
          <p:nvPr/>
        </p:nvSpPr>
        <p:spPr>
          <a:xfrm>
            <a:off x="6413500" y="2616200"/>
            <a:ext cx="101600" cy="101600"/>
          </a:xfrm>
          <a:prstGeom prst="roundRect">
            <a:avLst>
              <a:gd name="adj" fmla="val 25000"/>
            </a:avLst>
          </a:prstGeom>
          <a:solidFill>
            <a:srgbClr val="5B4BD6"/>
          </a:solidFill>
          <a:ln>
            <a:noFill/>
          </a:ln>
          <a:effectLst/>
        </p:spPr>
        <p:txBody>
          <a:bodyPr rtlCol="0" anchor="ctr"/>
          <a:lstStyle/>
          <a:p>
            <a:pPr algn="ctr"/>
          </a:p>
        </p:txBody>
      </p:sp>
      <p:sp>
        <p:nvSpPr>
          <p:cNvPr id="19" name="Text"/>
          <p:cNvSpPr txBox="1"/>
          <p:nvPr/>
        </p:nvSpPr>
        <p:spPr>
          <a:xfrm>
            <a:off x="6680200" y="2521268"/>
            <a:ext cx="4682998" cy="291465"/>
          </a:xfrm>
          <a:prstGeom prst="rect">
            <a:avLst/>
          </a:prstGeom>
          <a:noFill/>
        </p:spPr>
        <p:txBody>
          <a:bodyPr wrap="square" lIns="0" rIns="0" tIns="0" bIns="0" anchor="t">
            <a:noAutofit/>
          </a:bodyPr>
          <a:lstStyle/>
          <a:p>
            <a:pPr algn="l">
              <a:lnSpc>
                <a:spcPts val="2295"/>
              </a:lnSpc>
              <a:spcBef>
                <a:spcPts val="0"/>
              </a:spcBef>
              <a:spcAft>
                <a:spcPts val="0"/>
              </a:spcAft>
            </a:pPr>
            <a:r>
              <a:rPr sz="1700" b="0" i="0">
                <a:solidFill>
                  <a:srgbClr val="1D2433"/>
                </a:solidFill>
                <a:latin typeface="Noto Sans"/>
              </a:rPr>
              <a:t>Tools with no home</a:t>
            </a:r>
          </a:p>
        </p:txBody>
      </p:sp>
      <p:sp>
        <p:nvSpPr>
          <p:cNvPr id="20" name="Box"/>
          <p:cNvSpPr/>
          <p:nvPr/>
        </p:nvSpPr>
        <p:spPr>
          <a:xfrm>
            <a:off x="6413500" y="3009205"/>
            <a:ext cx="101600" cy="101600"/>
          </a:xfrm>
          <a:prstGeom prst="roundRect">
            <a:avLst>
              <a:gd name="adj" fmla="val 25000"/>
            </a:avLst>
          </a:prstGeom>
          <a:solidFill>
            <a:srgbClr val="5B4BD6"/>
          </a:solidFill>
          <a:ln>
            <a:noFill/>
          </a:ln>
          <a:effectLst/>
        </p:spPr>
        <p:txBody>
          <a:bodyPr rtlCol="0" anchor="ctr"/>
          <a:lstStyle/>
          <a:p>
            <a:pPr algn="ctr"/>
          </a:p>
        </p:txBody>
      </p:sp>
      <p:sp>
        <p:nvSpPr>
          <p:cNvPr id="21" name="Text"/>
          <p:cNvSpPr txBox="1"/>
          <p:nvPr/>
        </p:nvSpPr>
        <p:spPr>
          <a:xfrm>
            <a:off x="6680200" y="2914273"/>
            <a:ext cx="4682998" cy="291465"/>
          </a:xfrm>
          <a:prstGeom prst="rect">
            <a:avLst/>
          </a:prstGeom>
          <a:noFill/>
        </p:spPr>
        <p:txBody>
          <a:bodyPr wrap="square" lIns="0" rIns="0" tIns="0" bIns="0" anchor="t">
            <a:noAutofit/>
          </a:bodyPr>
          <a:lstStyle/>
          <a:p>
            <a:pPr algn="l">
              <a:lnSpc>
                <a:spcPts val="2295"/>
              </a:lnSpc>
              <a:spcBef>
                <a:spcPts val="0"/>
              </a:spcBef>
              <a:spcAft>
                <a:spcPts val="0"/>
              </a:spcAft>
            </a:pPr>
            <a:r>
              <a:rPr sz="1700" b="0" i="0">
                <a:solidFill>
                  <a:srgbClr val="1D2433"/>
                </a:solidFill>
                <a:latin typeface="Noto Sans"/>
              </a:rPr>
              <a:t>Rules on a long notice board</a:t>
            </a:r>
          </a:p>
        </p:txBody>
      </p:sp>
      <p:sp>
        <p:nvSpPr>
          <p:cNvPr id="22" name="Box"/>
          <p:cNvSpPr/>
          <p:nvPr/>
        </p:nvSpPr>
        <p:spPr>
          <a:xfrm>
            <a:off x="6413500" y="3402211"/>
            <a:ext cx="101600" cy="101600"/>
          </a:xfrm>
          <a:prstGeom prst="roundRect">
            <a:avLst>
              <a:gd name="adj" fmla="val 25000"/>
            </a:avLst>
          </a:prstGeom>
          <a:solidFill>
            <a:srgbClr val="5B4BD6"/>
          </a:solidFill>
          <a:ln>
            <a:noFill/>
          </a:ln>
          <a:effectLst/>
        </p:spPr>
        <p:txBody>
          <a:bodyPr rtlCol="0" anchor="ctr"/>
          <a:lstStyle/>
          <a:p>
            <a:pPr algn="ctr"/>
          </a:p>
        </p:txBody>
      </p:sp>
      <p:sp>
        <p:nvSpPr>
          <p:cNvPr id="23" name="Text"/>
          <p:cNvSpPr txBox="1"/>
          <p:nvPr/>
        </p:nvSpPr>
        <p:spPr>
          <a:xfrm>
            <a:off x="6680200" y="3307278"/>
            <a:ext cx="4682998" cy="291465"/>
          </a:xfrm>
          <a:prstGeom prst="rect">
            <a:avLst/>
          </a:prstGeom>
          <a:noFill/>
        </p:spPr>
        <p:txBody>
          <a:bodyPr wrap="square" lIns="0" rIns="0" tIns="0" bIns="0" anchor="t">
            <a:noAutofit/>
          </a:bodyPr>
          <a:lstStyle/>
          <a:p>
            <a:pPr algn="l">
              <a:lnSpc>
                <a:spcPts val="2295"/>
              </a:lnSpc>
              <a:spcBef>
                <a:spcPts val="0"/>
              </a:spcBef>
              <a:spcAft>
                <a:spcPts val="0"/>
              </a:spcAft>
            </a:pPr>
            <a:r>
              <a:rPr sz="1700" b="0" i="0">
                <a:solidFill>
                  <a:srgbClr val="1D2433"/>
                </a:solidFill>
                <a:latin typeface="Noto Sans"/>
              </a:rPr>
              <a:t>Fines nobody collects</a:t>
            </a:r>
          </a:p>
        </p:txBody>
      </p:sp>
      <p:sp>
        <p:nvSpPr>
          <p:cNvPr id="24" name="Box"/>
          <p:cNvSpPr/>
          <p:nvPr/>
        </p:nvSpPr>
        <p:spPr>
          <a:xfrm>
            <a:off x="6413500" y="3795216"/>
            <a:ext cx="101600" cy="101600"/>
          </a:xfrm>
          <a:prstGeom prst="roundRect">
            <a:avLst>
              <a:gd name="adj" fmla="val 25000"/>
            </a:avLst>
          </a:prstGeom>
          <a:solidFill>
            <a:srgbClr val="5B4BD6"/>
          </a:solidFill>
          <a:ln>
            <a:noFill/>
          </a:ln>
          <a:effectLst/>
        </p:spPr>
        <p:txBody>
          <a:bodyPr rtlCol="0" anchor="ctr"/>
          <a:lstStyle/>
          <a:p>
            <a:pPr algn="ctr"/>
          </a:p>
        </p:txBody>
      </p:sp>
      <p:sp>
        <p:nvSpPr>
          <p:cNvPr id="25" name="Text"/>
          <p:cNvSpPr txBox="1"/>
          <p:nvPr/>
        </p:nvSpPr>
        <p:spPr>
          <a:xfrm>
            <a:off x="6680200" y="3700284"/>
            <a:ext cx="4682998" cy="291465"/>
          </a:xfrm>
          <a:prstGeom prst="rect">
            <a:avLst/>
          </a:prstGeom>
          <a:noFill/>
        </p:spPr>
        <p:txBody>
          <a:bodyPr wrap="square" lIns="0" rIns="0" tIns="0" bIns="0" anchor="t">
            <a:noAutofit/>
          </a:bodyPr>
          <a:lstStyle/>
          <a:p>
            <a:pPr algn="l">
              <a:lnSpc>
                <a:spcPts val="2295"/>
              </a:lnSpc>
              <a:spcBef>
                <a:spcPts val="0"/>
              </a:spcBef>
              <a:spcAft>
                <a:spcPts val="0"/>
              </a:spcAft>
            </a:pPr>
            <a:r>
              <a:rPr sz="1700" b="0" i="0">
                <a:solidFill>
                  <a:srgbClr val="1D2433"/>
                </a:solidFill>
                <a:latin typeface="Noto Sans"/>
              </a:rPr>
              <a:t>Opening whenever someone is free</a:t>
            </a:r>
          </a:p>
        </p:txBody>
      </p:sp>
      <p:sp>
        <p:nvSpPr>
          <p:cNvPr id="26" name="Box"/>
          <p:cNvSpPr/>
          <p:nvPr/>
        </p:nvSpPr>
        <p:spPr>
          <a:xfrm>
            <a:off x="762000" y="6369050"/>
            <a:ext cx="10668000" cy="6350"/>
          </a:xfrm>
          <a:prstGeom prst="rect">
            <a:avLst/>
          </a:prstGeom>
          <a:solidFill>
            <a:srgbClr val="DCD9D0"/>
          </a:solidFill>
          <a:ln>
            <a:noFill/>
          </a:ln>
          <a:effectLst/>
        </p:spPr>
        <p:txBody>
          <a:bodyPr rtlCol="0" anchor="ctr"/>
          <a:lstStyle/>
          <a:p>
            <a:pPr algn="ctr"/>
          </a:p>
        </p:txBody>
      </p:sp>
      <p:sp>
        <p:nvSpPr>
          <p:cNvPr id="27" name="Text"/>
          <p:cNvSpPr txBox="1"/>
          <p:nvPr/>
        </p:nvSpPr>
        <p:spPr>
          <a:xfrm>
            <a:off x="762000" y="6495561"/>
            <a:ext cx="1339850" cy="147028"/>
          </a:xfrm>
          <a:prstGeom prst="rect">
            <a:avLst/>
          </a:prstGeom>
          <a:noFill/>
        </p:spPr>
        <p:txBody>
          <a:bodyPr wrap="none" lIns="0" rIns="0" tIns="0" bIns="0" anchor="t">
            <a:noAutofit/>
          </a:bodyPr>
          <a:lstStyle/>
          <a:p>
            <a:pPr algn="l">
              <a:lnSpc>
                <a:spcPts val="1157"/>
              </a:lnSpc>
              <a:spcBef>
                <a:spcPts val="0"/>
              </a:spcBef>
              <a:spcAft>
                <a:spcPts val="0"/>
              </a:spcAft>
            </a:pPr>
            <a:r>
              <a:rPr sz="850" b="1" i="0">
                <a:solidFill>
                  <a:srgbClr val="4A5163"/>
                </a:solidFill>
                <a:latin typeface="Noto Sans"/>
              </a:rPr>
              <a:t>Source:</a:t>
            </a:r>
            <a:r>
              <a:rPr sz="850" b="0" i="0">
                <a:solidFill>
                  <a:srgbClr val="8A8F9C"/>
                </a:solidFill>
                <a:latin typeface="Noto Sans"/>
              </a:rPr>
              <a:t> Invented example</a:t>
            </a:r>
          </a:p>
        </p:txBody>
      </p:sp>
      <p:sp>
        <p:nvSpPr>
          <p:cNvPr id="28" name="Text"/>
          <p:cNvSpPr txBox="1"/>
          <p:nvPr/>
        </p:nvSpPr>
        <p:spPr>
          <a:xfrm>
            <a:off x="11150600" y="6495561"/>
            <a:ext cx="287782" cy="147028"/>
          </a:xfrm>
          <a:prstGeom prst="rect">
            <a:avLst/>
          </a:prstGeom>
          <a:noFill/>
        </p:spPr>
        <p:txBody>
          <a:bodyPr wrap="square" lIns="0" rIns="0" tIns="0" bIns="0" anchor="t">
            <a:noAutofit/>
          </a:bodyPr>
          <a:lstStyle/>
          <a:p>
            <a:pPr algn="l">
              <a:lnSpc>
                <a:spcPts val="1157"/>
              </a:lnSpc>
              <a:spcBef>
                <a:spcPts val="0"/>
              </a:spcBef>
              <a:spcAft>
                <a:spcPts val="0"/>
              </a:spcAft>
            </a:pPr>
            <a:r>
              <a:rPr sz="850" b="0" i="0">
                <a:solidFill>
                  <a:srgbClr val="8A8F9C"/>
                </a:solidFill>
                <a:latin typeface="Noto Sans"/>
              </a:rPr>
              <a:t>8 / 11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5B4BD6"/>
        </a:solidFill>
        <a:effectLst/>
      </p:bgPr>
    </p:bg>
    <p:spTree>
      <p:nvGrpSpPr>
        <p:cNvPr id="1" name=""/>
        <p:cNvGrpSpPr/>
        <p:nvPr/>
      </p:nvGrpSpPr>
      <p:grpSpPr/>
      <p:sp>
        <p:nvSpPr>
          <p:cNvPr id="2" name="Title 1"/>
          <p:cNvSpPr>
            <a:spLocks noGrp="1"/>
          </p:cNvSpPr>
          <p:nvPr>
            <p:ph type="title"/>
          </p:nvPr>
        </p:nvSpPr>
        <p:spPr>
          <a:xfrm>
            <a:off x="1016000" y="1675257"/>
            <a:ext cx="8829675" cy="630936"/>
          </a:xfrm>
        </p:spPr>
        <p:txBody>
          <a:bodyPr wrap="square" lIns="0" rIns="0" tIns="0" bIns="0" anchor="t">
            <a:noAutofit/>
          </a:bodyPr>
          <a:lstStyle/>
          <a:p>
            <a:pPr algn="l">
              <a:lnSpc>
                <a:spcPts val="4968"/>
              </a:lnSpc>
              <a:spcBef>
                <a:spcPts val="0"/>
              </a:spcBef>
              <a:spcAft>
                <a:spcPts val="0"/>
              </a:spcAft>
            </a:pPr>
            <a:r>
              <a:rPr sz="4600" b="1" i="0" spc="-46">
                <a:solidFill>
                  <a:srgbClr val="FFFFFF"/>
                </a:solidFill>
                <a:latin typeface="Noto Sans"/>
              </a:rPr>
              <a:t>Starting your own</a:t>
            </a:r>
          </a:p>
        </p:txBody>
      </p:sp>
      <p:sp>
        <p:nvSpPr>
          <p:cNvPr id="3" name="Text"/>
          <p:cNvSpPr txBox="1"/>
          <p:nvPr/>
        </p:nvSpPr>
        <p:spPr>
          <a:xfrm>
            <a:off x="10356850" y="762000"/>
            <a:ext cx="974534" cy="1651000"/>
          </a:xfrm>
          <a:prstGeom prst="rect">
            <a:avLst/>
          </a:prstGeom>
          <a:noFill/>
        </p:spPr>
        <p:txBody>
          <a:bodyPr wrap="square" lIns="0" rIns="0" tIns="0" bIns="0" anchor="t">
            <a:noAutofit/>
          </a:bodyPr>
          <a:lstStyle/>
          <a:p>
            <a:pPr algn="l">
              <a:lnSpc>
                <a:spcPts val="13000"/>
              </a:lnSpc>
              <a:spcBef>
                <a:spcPts val="0"/>
              </a:spcBef>
              <a:spcAft>
                <a:spcPts val="0"/>
              </a:spcAft>
            </a:pPr>
            <a:r>
              <a:rPr sz="13000" b="1" i="0">
                <a:solidFill>
                  <a:srgbClr val="8478E0"/>
                </a:solidFill>
                <a:latin typeface="Noto Sans"/>
              </a:rPr>
              <a:t>2</a:t>
            </a:r>
          </a:p>
        </p:txBody>
      </p:sp>
      <p:sp>
        <p:nvSpPr>
          <p:cNvPr id="4" name="Text"/>
          <p:cNvSpPr txBox="1"/>
          <p:nvPr/>
        </p:nvSpPr>
        <p:spPr>
          <a:xfrm>
            <a:off x="1016000" y="1397114"/>
            <a:ext cx="10464800" cy="190271"/>
          </a:xfrm>
          <a:prstGeom prst="rect">
            <a:avLst/>
          </a:prstGeom>
          <a:noFill/>
        </p:spPr>
        <p:txBody>
          <a:bodyPr wrap="square" lIns="0" rIns="0" tIns="0" bIns="0" anchor="t">
            <a:noAutofit/>
          </a:bodyPr>
          <a:lstStyle/>
          <a:p>
            <a:pPr algn="l">
              <a:lnSpc>
                <a:spcPts val="1498"/>
              </a:lnSpc>
              <a:spcBef>
                <a:spcPts val="0"/>
              </a:spcBef>
              <a:spcAft>
                <a:spcPts val="0"/>
              </a:spcAft>
            </a:pPr>
            <a:r>
              <a:rPr sz="1100" b="1" i="0" spc="154">
                <a:solidFill>
                  <a:srgbClr val="DEDBF7"/>
                </a:solidFill>
                <a:latin typeface="Noto Sans"/>
              </a:rPr>
              <a:t>PART TWO</a:t>
            </a:r>
          </a:p>
        </p:txBody>
      </p:sp>
      <p:sp>
        <p:nvSpPr>
          <p:cNvPr id="5" name="Text"/>
          <p:cNvSpPr txBox="1"/>
          <p:nvPr/>
        </p:nvSpPr>
        <p:spPr>
          <a:xfrm>
            <a:off x="1016000" y="2418457"/>
            <a:ext cx="8502650" cy="317500"/>
          </a:xfrm>
          <a:prstGeom prst="rect">
            <a:avLst/>
          </a:prstGeom>
          <a:noFill/>
        </p:spPr>
        <p:txBody>
          <a:bodyPr wrap="square" lIns="0" rIns="0" tIns="0" bIns="0" anchor="t">
            <a:noAutofit/>
          </a:bodyPr>
          <a:lstStyle/>
          <a:p>
            <a:pPr algn="l">
              <a:lnSpc>
                <a:spcPts val="2500"/>
              </a:lnSpc>
              <a:spcBef>
                <a:spcPts val="0"/>
              </a:spcBef>
              <a:spcAft>
                <a:spcPts val="0"/>
              </a:spcAft>
            </a:pPr>
            <a:r>
              <a:rPr sz="2000" b="0" i="0">
                <a:solidFill>
                  <a:srgbClr val="E4E0FF"/>
                </a:solidFill>
                <a:latin typeface="Noto Sans"/>
              </a:rPr>
              <a:t>Three weeks from an empty garage to an open shed.</a:t>
            </a:r>
          </a:p>
        </p:txBody>
      </p:sp>
      <p:sp>
        <p:nvSpPr>
          <p:cNvPr id="6" name="Box"/>
          <p:cNvSpPr/>
          <p:nvPr/>
        </p:nvSpPr>
        <p:spPr>
          <a:xfrm>
            <a:off x="762000" y="6369050"/>
            <a:ext cx="10668000" cy="6350"/>
          </a:xfrm>
          <a:prstGeom prst="rect">
            <a:avLst/>
          </a:prstGeom>
          <a:solidFill>
            <a:srgbClr val="7D70E3"/>
          </a:solidFill>
          <a:ln>
            <a:noFill/>
          </a:ln>
          <a:effectLst/>
        </p:spPr>
        <p:txBody>
          <a:bodyPr rtlCol="0" anchor="ctr"/>
          <a:lstStyle/>
          <a:p>
            <a:pPr algn="ctr"/>
          </a:p>
        </p:txBody>
      </p:sp>
      <p:sp>
        <p:nvSpPr>
          <p:cNvPr id="7" name="Text"/>
          <p:cNvSpPr txBox="1"/>
          <p:nvPr/>
        </p:nvSpPr>
        <p:spPr>
          <a:xfrm>
            <a:off x="11150600" y="6495561"/>
            <a:ext cx="287782" cy="147028"/>
          </a:xfrm>
          <a:prstGeom prst="rect">
            <a:avLst/>
          </a:prstGeom>
          <a:noFill/>
        </p:spPr>
        <p:txBody>
          <a:bodyPr wrap="square" lIns="0" rIns="0" tIns="0" bIns="0" anchor="t">
            <a:noAutofit/>
          </a:bodyPr>
          <a:lstStyle/>
          <a:p>
            <a:pPr algn="l">
              <a:lnSpc>
                <a:spcPts val="1157"/>
              </a:lnSpc>
              <a:spcBef>
                <a:spcPts val="0"/>
              </a:spcBef>
              <a:spcAft>
                <a:spcPts val="0"/>
              </a:spcAft>
            </a:pPr>
            <a:r>
              <a:rPr sz="850" b="0" i="0">
                <a:solidFill>
                  <a:srgbClr val="D6D1FF"/>
                </a:solidFill>
                <a:latin typeface="Noto Sans"/>
              </a:rPr>
              <a:t>9 / 11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itle 1"/>
          <p:cNvSpPr>
            <a:spLocks noGrp="1"/>
          </p:cNvSpPr>
          <p:nvPr>
            <p:ph type="title"/>
          </p:nvPr>
        </p:nvSpPr>
        <p:spPr>
          <a:xfrm>
            <a:off x="762000" y="837819"/>
            <a:ext cx="10988040" cy="438912"/>
          </a:xfrm>
        </p:spPr>
        <p:txBody>
          <a:bodyPr wrap="square" lIns="0" rIns="0" tIns="0" bIns="0" anchor="t">
            <a:noAutofit/>
          </a:bodyPr>
          <a:lstStyle/>
          <a:p>
            <a:pPr algn="l">
              <a:lnSpc>
                <a:spcPts val="3456"/>
              </a:lnSpc>
              <a:spcBef>
                <a:spcPts val="0"/>
              </a:spcBef>
              <a:spcAft>
                <a:spcPts val="0"/>
              </a:spcAft>
            </a:pPr>
            <a:r>
              <a:rPr sz="3200" b="1" i="0" spc="-32">
                <a:solidFill>
                  <a:srgbClr val="1D2433"/>
                </a:solidFill>
                <a:latin typeface="Noto Sans"/>
              </a:rPr>
              <a:t>What a first-time borrower said</a:t>
            </a:r>
          </a:p>
        </p:txBody>
      </p:sp>
      <p:sp>
        <p:nvSpPr>
          <p:cNvPr id="3" name="Text"/>
          <p:cNvSpPr txBox="1"/>
          <p:nvPr/>
        </p:nvSpPr>
        <p:spPr>
          <a:xfrm>
            <a:off x="762000" y="558914"/>
            <a:ext cx="10988040" cy="190271"/>
          </a:xfrm>
          <a:prstGeom prst="rect">
            <a:avLst/>
          </a:prstGeom>
          <a:noFill/>
        </p:spPr>
        <p:txBody>
          <a:bodyPr wrap="square" lIns="0" rIns="0" tIns="0" bIns="0" anchor="t">
            <a:noAutofit/>
          </a:bodyPr>
          <a:lstStyle/>
          <a:p>
            <a:pPr algn="l">
              <a:lnSpc>
                <a:spcPts val="1498"/>
              </a:lnSpc>
              <a:spcBef>
                <a:spcPts val="0"/>
              </a:spcBef>
              <a:spcAft>
                <a:spcPts val="0"/>
              </a:spcAft>
            </a:pPr>
            <a:r>
              <a:rPr sz="1100" b="1" i="0" spc="154">
                <a:solidFill>
                  <a:srgbClr val="5B4BD6"/>
                </a:solidFill>
                <a:latin typeface="Noto Sans"/>
              </a:rPr>
              <a:t>IN THEIR WORDS</a:t>
            </a:r>
          </a:p>
        </p:txBody>
      </p:sp>
      <p:sp>
        <p:nvSpPr>
          <p:cNvPr id="4" name="Text"/>
          <p:cNvSpPr txBox="1"/>
          <p:nvPr/>
        </p:nvSpPr>
        <p:spPr>
          <a:xfrm>
            <a:off x="482600" y="1625600"/>
            <a:ext cx="1524000" cy="1651000"/>
          </a:xfrm>
          <a:prstGeom prst="rect">
            <a:avLst/>
          </a:prstGeom>
          <a:noFill/>
        </p:spPr>
        <p:txBody>
          <a:bodyPr wrap="none" lIns="0" rIns="0" tIns="0" bIns="0" anchor="t">
            <a:noAutofit/>
          </a:bodyPr>
          <a:lstStyle/>
          <a:p>
            <a:pPr algn="l">
              <a:lnSpc>
                <a:spcPts val="13000"/>
              </a:lnSpc>
              <a:spcBef>
                <a:spcPts val="0"/>
              </a:spcBef>
              <a:spcAft>
                <a:spcPts val="0"/>
              </a:spcAft>
            </a:pPr>
            <a:r>
              <a:rPr sz="10000" b="0" i="0">
                <a:solidFill>
                  <a:srgbClr val="C0BAE8"/>
                </a:solidFill>
                <a:latin typeface="Noto Serif"/>
              </a:rPr>
              <a:t>“</a:t>
            </a:r>
          </a:p>
        </p:txBody>
      </p:sp>
      <p:sp>
        <p:nvSpPr>
          <p:cNvPr id="5" name="Text"/>
          <p:cNvSpPr txBox="1"/>
          <p:nvPr/>
        </p:nvSpPr>
        <p:spPr>
          <a:xfrm>
            <a:off x="1168400" y="1900936"/>
            <a:ext cx="9784588" cy="905165"/>
          </a:xfrm>
          <a:prstGeom prst="rect">
            <a:avLst/>
          </a:prstGeom>
          <a:noFill/>
        </p:spPr>
        <p:txBody>
          <a:bodyPr wrap="square" lIns="0" rIns="0" tIns="0" bIns="0" anchor="t">
            <a:noAutofit/>
          </a:bodyPr>
          <a:lstStyle/>
          <a:p>
            <a:pPr algn="l">
              <a:lnSpc>
                <a:spcPts val="3564"/>
              </a:lnSpc>
              <a:spcBef>
                <a:spcPts val="0"/>
              </a:spcBef>
              <a:spcAft>
                <a:spcPts val="0"/>
              </a:spcAft>
            </a:pPr>
            <a:r>
              <a:rPr sz="2700" b="0" i="0">
                <a:solidFill>
                  <a:srgbClr val="1D2433"/>
                </a:solidFill>
                <a:latin typeface="Noto Sans"/>
              </a:rPr>
              <a:t>I came for a ladder and left with </a:t>
            </a:r>
            <a:r>
              <a:rPr sz="2700" b="1" i="0">
                <a:solidFill>
                  <a:srgbClr val="5B4BD6"/>
                </a:solidFill>
                <a:latin typeface="Noto Sans"/>
              </a:rPr>
              <a:t>the confidence</a:t>
            </a:r>
            <a:r>
              <a:rPr sz="2700" b="0" i="0">
                <a:solidFill>
                  <a:srgbClr val="1D2433"/>
                </a:solidFill>
                <a:latin typeface="Noto Sans"/>
              </a:rPr>
              <a:t> to ask for a second tool next week.</a:t>
            </a:r>
          </a:p>
        </p:txBody>
      </p:sp>
      <p:sp>
        <p:nvSpPr>
          <p:cNvPr id="6" name="Text"/>
          <p:cNvSpPr txBox="1"/>
          <p:nvPr/>
        </p:nvSpPr>
        <p:spPr>
          <a:xfrm>
            <a:off x="1168400" y="3038242"/>
            <a:ext cx="10569448" cy="242164"/>
          </a:xfrm>
          <a:prstGeom prst="rect">
            <a:avLst/>
          </a:prstGeom>
          <a:noFill/>
        </p:spPr>
        <p:txBody>
          <a:bodyPr wrap="square" lIns="0" rIns="0" tIns="0" bIns="0" anchor="t">
            <a:noAutofit/>
          </a:bodyPr>
          <a:lstStyle/>
          <a:p>
            <a:pPr algn="l">
              <a:lnSpc>
                <a:spcPts val="1906"/>
              </a:lnSpc>
              <a:spcBef>
                <a:spcPts val="0"/>
              </a:spcBef>
              <a:spcAft>
                <a:spcPts val="0"/>
              </a:spcAft>
            </a:pPr>
            <a:r>
              <a:rPr sz="1400" b="0" i="0">
                <a:solidFill>
                  <a:srgbClr val="4A5163"/>
                </a:solidFill>
                <a:latin typeface="Noto Sans"/>
              </a:rPr>
              <a:t>An invented borrower</a:t>
            </a:r>
          </a:p>
        </p:txBody>
      </p:sp>
      <p:sp>
        <p:nvSpPr>
          <p:cNvPr id="7" name="Box"/>
          <p:cNvSpPr/>
          <p:nvPr/>
        </p:nvSpPr>
        <p:spPr>
          <a:xfrm>
            <a:off x="762000" y="6369050"/>
            <a:ext cx="10668000" cy="6350"/>
          </a:xfrm>
          <a:prstGeom prst="rect">
            <a:avLst/>
          </a:prstGeom>
          <a:solidFill>
            <a:srgbClr val="DCD9D0"/>
          </a:solidFill>
          <a:ln>
            <a:noFill/>
          </a:ln>
          <a:effectLst/>
        </p:spPr>
        <p:txBody>
          <a:bodyPr rtlCol="0" anchor="ctr"/>
          <a:lstStyle/>
          <a:p>
            <a:pPr algn="ctr"/>
          </a:p>
        </p:txBody>
      </p:sp>
      <p:sp>
        <p:nvSpPr>
          <p:cNvPr id="8" name="Text"/>
          <p:cNvSpPr txBox="1"/>
          <p:nvPr/>
        </p:nvSpPr>
        <p:spPr>
          <a:xfrm>
            <a:off x="762000" y="6495561"/>
            <a:ext cx="2133600" cy="147028"/>
          </a:xfrm>
          <a:prstGeom prst="rect">
            <a:avLst/>
          </a:prstGeom>
          <a:noFill/>
        </p:spPr>
        <p:txBody>
          <a:bodyPr wrap="none" lIns="0" rIns="0" tIns="0" bIns="0" anchor="t">
            <a:noAutofit/>
          </a:bodyPr>
          <a:lstStyle/>
          <a:p>
            <a:pPr algn="l">
              <a:lnSpc>
                <a:spcPts val="1157"/>
              </a:lnSpc>
              <a:spcBef>
                <a:spcPts val="0"/>
              </a:spcBef>
              <a:spcAft>
                <a:spcPts val="0"/>
              </a:spcAft>
            </a:pPr>
            <a:r>
              <a:rPr sz="850" b="1" i="0">
                <a:solidFill>
                  <a:srgbClr val="4A5163"/>
                </a:solidFill>
                <a:latin typeface="Noto Sans"/>
              </a:rPr>
              <a:t>Source:</a:t>
            </a:r>
            <a:r>
              <a:rPr sz="850" b="0" i="0">
                <a:solidFill>
                  <a:srgbClr val="8A8F9C"/>
                </a:solidFill>
                <a:latin typeface="Noto Sans"/>
              </a:rPr>
              <a:t> Invented example; no real person</a:t>
            </a:r>
          </a:p>
        </p:txBody>
      </p:sp>
      <p:sp>
        <p:nvSpPr>
          <p:cNvPr id="9" name="Text"/>
          <p:cNvSpPr txBox="1"/>
          <p:nvPr/>
        </p:nvSpPr>
        <p:spPr>
          <a:xfrm>
            <a:off x="11087100" y="6495561"/>
            <a:ext cx="353187" cy="147028"/>
          </a:xfrm>
          <a:prstGeom prst="rect">
            <a:avLst/>
          </a:prstGeom>
          <a:noFill/>
        </p:spPr>
        <p:txBody>
          <a:bodyPr wrap="square" lIns="0" rIns="0" tIns="0" bIns="0" anchor="t">
            <a:noAutofit/>
          </a:bodyPr>
          <a:lstStyle/>
          <a:p>
            <a:pPr algn="l">
              <a:lnSpc>
                <a:spcPts val="1157"/>
              </a:lnSpc>
              <a:spcBef>
                <a:spcPts val="0"/>
              </a:spcBef>
              <a:spcAft>
                <a:spcPts val="0"/>
              </a:spcAft>
            </a:pPr>
            <a:r>
              <a:rPr sz="850" b="0" i="0">
                <a:solidFill>
                  <a:srgbClr val="8A8F9C"/>
                </a:solidFill>
                <a:latin typeface="Noto Sans"/>
              </a:rPr>
              <a:t>10 / 11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D2433"/>
        </a:solidFill>
        <a:effectLst/>
      </p:bgPr>
    </p:bg>
    <p:spTree>
      <p:nvGrpSpPr>
        <p:cNvPr id="1" name=""/>
        <p:cNvGrpSpPr/>
        <p:nvPr/>
      </p:nvGrpSpPr>
      <p:grpSpPr/>
      <p:sp>
        <p:nvSpPr>
          <p:cNvPr id="2" name="Title 1"/>
          <p:cNvSpPr>
            <a:spLocks noGrp="1"/>
          </p:cNvSpPr>
          <p:nvPr>
            <p:ph type="title"/>
          </p:nvPr>
        </p:nvSpPr>
        <p:spPr>
          <a:xfrm>
            <a:off x="1016000" y="1331341"/>
            <a:ext cx="9810750" cy="658368"/>
          </a:xfrm>
        </p:spPr>
        <p:txBody>
          <a:bodyPr wrap="square" lIns="0" rIns="0" tIns="0" bIns="0" anchor="t">
            <a:noAutofit/>
          </a:bodyPr>
          <a:lstStyle/>
          <a:p>
            <a:pPr algn="l">
              <a:lnSpc>
                <a:spcPts val="5184"/>
              </a:lnSpc>
              <a:spcBef>
                <a:spcPts val="0"/>
              </a:spcBef>
              <a:spcAft>
                <a:spcPts val="0"/>
              </a:spcAft>
            </a:pPr>
            <a:r>
              <a:rPr sz="4800" b="1" i="0" spc="-48">
                <a:solidFill>
                  <a:srgbClr val="FFFFFF"/>
                </a:solidFill>
                <a:latin typeface="Noto Sans"/>
              </a:rPr>
              <a:t>A shed runs on returns</a:t>
            </a:r>
          </a:p>
        </p:txBody>
      </p:sp>
      <p:sp>
        <p:nvSpPr>
          <p:cNvPr id="3" name="Text"/>
          <p:cNvSpPr txBox="1"/>
          <p:nvPr/>
        </p:nvSpPr>
        <p:spPr>
          <a:xfrm>
            <a:off x="1016000" y="889114"/>
            <a:ext cx="10464800" cy="190271"/>
          </a:xfrm>
          <a:prstGeom prst="rect">
            <a:avLst/>
          </a:prstGeom>
          <a:noFill/>
        </p:spPr>
        <p:txBody>
          <a:bodyPr wrap="square" lIns="0" rIns="0" tIns="0" bIns="0" anchor="t">
            <a:noAutofit/>
          </a:bodyPr>
          <a:lstStyle/>
          <a:p>
            <a:pPr algn="l">
              <a:lnSpc>
                <a:spcPts val="1498"/>
              </a:lnSpc>
              <a:spcBef>
                <a:spcPts val="0"/>
              </a:spcBef>
              <a:spcAft>
                <a:spcPts val="0"/>
              </a:spcAft>
            </a:pPr>
            <a:r>
              <a:rPr sz="1100" b="1" i="0" spc="154">
                <a:solidFill>
                  <a:srgbClr val="B3A9FF"/>
                </a:solidFill>
                <a:latin typeface="Noto Sans"/>
              </a:rPr>
              <a:t>TO REMEMBER</a:t>
            </a:r>
          </a:p>
        </p:txBody>
      </p:sp>
      <p:sp>
        <p:nvSpPr>
          <p:cNvPr id="4" name="Text"/>
          <p:cNvSpPr txBox="1"/>
          <p:nvPr/>
        </p:nvSpPr>
        <p:spPr>
          <a:xfrm>
            <a:off x="1016000" y="2102941"/>
            <a:ext cx="9156700" cy="317500"/>
          </a:xfrm>
          <a:prstGeom prst="rect">
            <a:avLst/>
          </a:prstGeom>
          <a:noFill/>
        </p:spPr>
        <p:txBody>
          <a:bodyPr wrap="square" lIns="0" rIns="0" tIns="0" bIns="0" anchor="t">
            <a:noAutofit/>
          </a:bodyPr>
          <a:lstStyle/>
          <a:p>
            <a:pPr algn="l">
              <a:lnSpc>
                <a:spcPts val="2500"/>
              </a:lnSpc>
              <a:spcBef>
                <a:spcPts val="0"/>
              </a:spcBef>
              <a:spcAft>
                <a:spcPts val="0"/>
              </a:spcAft>
            </a:pPr>
            <a:r>
              <a:rPr sz="2000" b="0" i="0">
                <a:solidFill>
                  <a:srgbClr val="C9CBE0"/>
                </a:solidFill>
                <a:latin typeface="Noto Sans"/>
              </a:rPr>
              <a:t>Three numbers from an invented shed in its first year.</a:t>
            </a:r>
          </a:p>
        </p:txBody>
      </p:sp>
      <p:sp>
        <p:nvSpPr>
          <p:cNvPr id="5" name="Box"/>
          <p:cNvSpPr/>
          <p:nvPr/>
        </p:nvSpPr>
        <p:spPr>
          <a:xfrm>
            <a:off x="1016000" y="3683000"/>
            <a:ext cx="3234234" cy="1346200"/>
          </a:xfrm>
          <a:prstGeom prst="roundRect">
            <a:avLst>
              <a:gd name="adj" fmla="val 8490"/>
            </a:avLst>
          </a:prstGeom>
          <a:solidFill>
            <a:srgbClr val="273049"/>
          </a:solidFill>
          <a:ln>
            <a:noFill/>
          </a:ln>
          <a:effectLst/>
        </p:spPr>
        <p:txBody>
          <a:bodyPr rtlCol="0" anchor="ctr"/>
          <a:lstStyle/>
          <a:p>
            <a:pPr algn="ctr"/>
          </a:p>
        </p:txBody>
      </p:sp>
      <p:sp>
        <p:nvSpPr>
          <p:cNvPr id="6" name="Text"/>
          <p:cNvSpPr txBox="1"/>
          <p:nvPr/>
        </p:nvSpPr>
        <p:spPr>
          <a:xfrm>
            <a:off x="1219200" y="3870325"/>
            <a:ext cx="2912669" cy="406400"/>
          </a:xfrm>
          <a:prstGeom prst="rect">
            <a:avLst/>
          </a:prstGeom>
          <a:noFill/>
        </p:spPr>
        <p:txBody>
          <a:bodyPr wrap="square" lIns="0" rIns="0" tIns="0" bIns="0" anchor="t">
            <a:noAutofit/>
          </a:bodyPr>
          <a:lstStyle/>
          <a:p>
            <a:pPr algn="l">
              <a:lnSpc>
                <a:spcPts val="3200"/>
              </a:lnSpc>
              <a:spcBef>
                <a:spcPts val="0"/>
              </a:spcBef>
              <a:spcAft>
                <a:spcPts val="0"/>
              </a:spcAft>
            </a:pPr>
            <a:r>
              <a:rPr sz="3200" b="1" i="0">
                <a:solidFill>
                  <a:srgbClr val="B3A9FF"/>
                </a:solidFill>
                <a:latin typeface="Noto Sans"/>
              </a:rPr>
              <a:t>40</a:t>
            </a:r>
          </a:p>
        </p:txBody>
      </p:sp>
      <p:sp>
        <p:nvSpPr>
          <p:cNvPr id="7" name="Text"/>
          <p:cNvSpPr txBox="1"/>
          <p:nvPr/>
        </p:nvSpPr>
        <p:spPr>
          <a:xfrm>
            <a:off x="1219200" y="4391025"/>
            <a:ext cx="2912669" cy="444500"/>
          </a:xfrm>
          <a:prstGeom prst="rect">
            <a:avLst/>
          </a:prstGeom>
          <a:noFill/>
        </p:spPr>
        <p:txBody>
          <a:bodyPr wrap="square" lIns="0" rIns="0" tIns="0" bIns="0" anchor="t">
            <a:noAutofit/>
          </a:bodyPr>
          <a:lstStyle/>
          <a:p>
            <a:pPr algn="l">
              <a:lnSpc>
                <a:spcPts val="1750"/>
              </a:lnSpc>
              <a:spcBef>
                <a:spcPts val="0"/>
              </a:spcBef>
              <a:spcAft>
                <a:spcPts val="0"/>
              </a:spcAft>
            </a:pPr>
            <a:r>
              <a:rPr sz="1250" b="0" i="0">
                <a:solidFill>
                  <a:srgbClr val="E6E7F2"/>
                </a:solidFill>
                <a:latin typeface="Noto Sans"/>
              </a:rPr>
              <a:t>tools given by neighbours in the first month</a:t>
            </a:r>
          </a:p>
        </p:txBody>
      </p:sp>
      <p:sp>
        <p:nvSpPr>
          <p:cNvPr id="8" name="Box"/>
          <p:cNvSpPr/>
          <p:nvPr/>
        </p:nvSpPr>
        <p:spPr>
          <a:xfrm>
            <a:off x="4478834" y="3683000"/>
            <a:ext cx="3234234" cy="1346200"/>
          </a:xfrm>
          <a:prstGeom prst="roundRect">
            <a:avLst>
              <a:gd name="adj" fmla="val 8490"/>
            </a:avLst>
          </a:prstGeom>
          <a:solidFill>
            <a:srgbClr val="273049"/>
          </a:solidFill>
          <a:ln>
            <a:noFill/>
          </a:ln>
          <a:effectLst/>
        </p:spPr>
        <p:txBody>
          <a:bodyPr rtlCol="0" anchor="ctr"/>
          <a:lstStyle/>
          <a:p>
            <a:pPr algn="ctr"/>
          </a:p>
        </p:txBody>
      </p:sp>
      <p:sp>
        <p:nvSpPr>
          <p:cNvPr id="9" name="Text"/>
          <p:cNvSpPr txBox="1"/>
          <p:nvPr/>
        </p:nvSpPr>
        <p:spPr>
          <a:xfrm>
            <a:off x="4682034" y="3870325"/>
            <a:ext cx="2912669" cy="406400"/>
          </a:xfrm>
          <a:prstGeom prst="rect">
            <a:avLst/>
          </a:prstGeom>
          <a:noFill/>
        </p:spPr>
        <p:txBody>
          <a:bodyPr wrap="square" lIns="0" rIns="0" tIns="0" bIns="0" anchor="t">
            <a:noAutofit/>
          </a:bodyPr>
          <a:lstStyle/>
          <a:p>
            <a:pPr algn="l">
              <a:lnSpc>
                <a:spcPts val="3200"/>
              </a:lnSpc>
              <a:spcBef>
                <a:spcPts val="0"/>
              </a:spcBef>
              <a:spcAft>
                <a:spcPts val="0"/>
              </a:spcAft>
            </a:pPr>
            <a:r>
              <a:rPr sz="3200" b="1" i="0">
                <a:solidFill>
                  <a:srgbClr val="B3A9FF"/>
                </a:solidFill>
                <a:latin typeface="Noto Sans"/>
              </a:rPr>
              <a:t>312</a:t>
            </a:r>
          </a:p>
        </p:txBody>
      </p:sp>
      <p:sp>
        <p:nvSpPr>
          <p:cNvPr id="10" name="Text"/>
          <p:cNvSpPr txBox="1"/>
          <p:nvPr/>
        </p:nvSpPr>
        <p:spPr>
          <a:xfrm>
            <a:off x="4682034" y="4391025"/>
            <a:ext cx="2912669" cy="222250"/>
          </a:xfrm>
          <a:prstGeom prst="rect">
            <a:avLst/>
          </a:prstGeom>
          <a:noFill/>
        </p:spPr>
        <p:txBody>
          <a:bodyPr wrap="square" lIns="0" rIns="0" tIns="0" bIns="0" anchor="t">
            <a:noAutofit/>
          </a:bodyPr>
          <a:lstStyle/>
          <a:p>
            <a:pPr algn="l">
              <a:lnSpc>
                <a:spcPts val="1750"/>
              </a:lnSpc>
              <a:spcBef>
                <a:spcPts val="0"/>
              </a:spcBef>
              <a:spcAft>
                <a:spcPts val="0"/>
              </a:spcAft>
            </a:pPr>
            <a:r>
              <a:rPr sz="1250" b="0" i="0">
                <a:solidFill>
                  <a:srgbClr val="E6E7F2"/>
                </a:solidFill>
                <a:latin typeface="Noto Sans"/>
              </a:rPr>
              <a:t>loans in the year, all of them returned</a:t>
            </a:r>
          </a:p>
        </p:txBody>
      </p:sp>
      <p:sp>
        <p:nvSpPr>
          <p:cNvPr id="11" name="Box"/>
          <p:cNvSpPr/>
          <p:nvPr/>
        </p:nvSpPr>
        <p:spPr>
          <a:xfrm>
            <a:off x="7941667" y="3683000"/>
            <a:ext cx="3234333" cy="1346200"/>
          </a:xfrm>
          <a:prstGeom prst="roundRect">
            <a:avLst>
              <a:gd name="adj" fmla="val 8490"/>
            </a:avLst>
          </a:prstGeom>
          <a:solidFill>
            <a:srgbClr val="273049"/>
          </a:solidFill>
          <a:ln>
            <a:noFill/>
          </a:ln>
          <a:effectLst/>
        </p:spPr>
        <p:txBody>
          <a:bodyPr rtlCol="0" anchor="ctr"/>
          <a:lstStyle/>
          <a:p>
            <a:pPr algn="ctr"/>
          </a:p>
        </p:txBody>
      </p:sp>
      <p:sp>
        <p:nvSpPr>
          <p:cNvPr id="12" name="Text"/>
          <p:cNvSpPr txBox="1"/>
          <p:nvPr/>
        </p:nvSpPr>
        <p:spPr>
          <a:xfrm>
            <a:off x="8144867" y="3870325"/>
            <a:ext cx="2912771" cy="406400"/>
          </a:xfrm>
          <a:prstGeom prst="rect">
            <a:avLst/>
          </a:prstGeom>
          <a:noFill/>
        </p:spPr>
        <p:txBody>
          <a:bodyPr wrap="square" lIns="0" rIns="0" tIns="0" bIns="0" anchor="t">
            <a:noAutofit/>
          </a:bodyPr>
          <a:lstStyle/>
          <a:p>
            <a:pPr algn="l">
              <a:lnSpc>
                <a:spcPts val="3200"/>
              </a:lnSpc>
              <a:spcBef>
                <a:spcPts val="0"/>
              </a:spcBef>
              <a:spcAft>
                <a:spcPts val="0"/>
              </a:spcAft>
            </a:pPr>
            <a:r>
              <a:rPr sz="3200" b="1" i="0">
                <a:solidFill>
                  <a:srgbClr val="B3A9FF"/>
                </a:solidFill>
                <a:latin typeface="Noto Sans"/>
              </a:rPr>
              <a:t>1</a:t>
            </a:r>
          </a:p>
        </p:txBody>
      </p:sp>
      <p:sp>
        <p:nvSpPr>
          <p:cNvPr id="13" name="Text"/>
          <p:cNvSpPr txBox="1"/>
          <p:nvPr/>
        </p:nvSpPr>
        <p:spPr>
          <a:xfrm>
            <a:off x="8144867" y="4391025"/>
            <a:ext cx="2912771" cy="444500"/>
          </a:xfrm>
          <a:prstGeom prst="rect">
            <a:avLst/>
          </a:prstGeom>
          <a:noFill/>
        </p:spPr>
        <p:txBody>
          <a:bodyPr wrap="square" lIns="0" rIns="0" tIns="0" bIns="0" anchor="t">
            <a:noAutofit/>
          </a:bodyPr>
          <a:lstStyle/>
          <a:p>
            <a:pPr algn="l">
              <a:lnSpc>
                <a:spcPts val="1750"/>
              </a:lnSpc>
              <a:spcBef>
                <a:spcPts val="0"/>
              </a:spcBef>
              <a:spcAft>
                <a:spcPts val="0"/>
              </a:spcAft>
            </a:pPr>
            <a:r>
              <a:rPr sz="1250" b="0" i="0">
                <a:solidFill>
                  <a:srgbClr val="E6E7F2"/>
                </a:solidFill>
                <a:latin typeface="Noto Sans"/>
              </a:rPr>
              <a:t>volunteer hour to learn any of the three jobs</a:t>
            </a:r>
          </a:p>
        </p:txBody>
      </p:sp>
      <p:sp>
        <p:nvSpPr>
          <p:cNvPr id="14" name="Box"/>
          <p:cNvSpPr/>
          <p:nvPr/>
        </p:nvSpPr>
        <p:spPr>
          <a:xfrm>
            <a:off x="762000" y="6369050"/>
            <a:ext cx="10668000" cy="6350"/>
          </a:xfrm>
          <a:prstGeom prst="rect">
            <a:avLst/>
          </a:prstGeom>
          <a:solidFill>
            <a:srgbClr val="3A4256"/>
          </a:solidFill>
          <a:ln>
            <a:noFill/>
          </a:ln>
          <a:effectLst/>
        </p:spPr>
        <p:txBody>
          <a:bodyPr rtlCol="0" anchor="ctr"/>
          <a:lstStyle/>
          <a:p>
            <a:pPr algn="ctr"/>
          </a:p>
        </p:txBody>
      </p:sp>
      <p:sp>
        <p:nvSpPr>
          <p:cNvPr id="15" name="Text"/>
          <p:cNvSpPr txBox="1"/>
          <p:nvPr/>
        </p:nvSpPr>
        <p:spPr>
          <a:xfrm>
            <a:off x="762000" y="6495561"/>
            <a:ext cx="2590800" cy="147028"/>
          </a:xfrm>
          <a:prstGeom prst="rect">
            <a:avLst/>
          </a:prstGeom>
          <a:noFill/>
        </p:spPr>
        <p:txBody>
          <a:bodyPr wrap="none" lIns="0" rIns="0" tIns="0" bIns="0" anchor="t">
            <a:noAutofit/>
          </a:bodyPr>
          <a:lstStyle/>
          <a:p>
            <a:pPr algn="l">
              <a:lnSpc>
                <a:spcPts val="1157"/>
              </a:lnSpc>
              <a:spcBef>
                <a:spcPts val="0"/>
              </a:spcBef>
              <a:spcAft>
                <a:spcPts val="0"/>
              </a:spcAft>
            </a:pPr>
            <a:r>
              <a:rPr sz="850" b="1" i="0">
                <a:solidFill>
                  <a:srgbClr val="4A5163"/>
                </a:solidFill>
                <a:latin typeface="Noto Sans"/>
              </a:rPr>
              <a:t>Source:</a:t>
            </a:r>
            <a:r>
              <a:rPr sz="850" b="0" i="0">
                <a:solidFill>
                  <a:srgbClr val="8F93AD"/>
                </a:solidFill>
                <a:latin typeface="Noto Sans"/>
              </a:rPr>
              <a:t> Invented example; every figure is made up</a:t>
            </a:r>
          </a:p>
        </p:txBody>
      </p:sp>
      <p:sp>
        <p:nvSpPr>
          <p:cNvPr id="16" name="Text"/>
          <p:cNvSpPr txBox="1"/>
          <p:nvPr/>
        </p:nvSpPr>
        <p:spPr>
          <a:xfrm>
            <a:off x="11087100" y="6495561"/>
            <a:ext cx="353187" cy="147028"/>
          </a:xfrm>
          <a:prstGeom prst="rect">
            <a:avLst/>
          </a:prstGeom>
          <a:noFill/>
        </p:spPr>
        <p:txBody>
          <a:bodyPr wrap="square" lIns="0" rIns="0" tIns="0" bIns="0" anchor="t">
            <a:noAutofit/>
          </a:bodyPr>
          <a:lstStyle/>
          <a:p>
            <a:pPr algn="l">
              <a:lnSpc>
                <a:spcPts val="1157"/>
              </a:lnSpc>
              <a:spcBef>
                <a:spcPts val="0"/>
              </a:spcBef>
              <a:spcAft>
                <a:spcPts val="0"/>
              </a:spcAft>
            </a:pPr>
            <a:r>
              <a:rPr sz="850" b="0" i="0">
                <a:solidFill>
                  <a:srgbClr val="8F93AD"/>
                </a:solidFill>
                <a:latin typeface="Noto Sans"/>
              </a:rPr>
              <a:t>11 / 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a community tool shed runs</dc:title>
  <dc:subject/>
  <dc:creator>Example Author</dc:creator>
  <cp:keywords/>
  <dc:description>generated using python-pptx</dc:description>
  <cp:lastModifiedBy>Example Author</cp:lastModifiedBy>
  <cp:revision>1</cp:revision>
  <dcterms:created xsi:type="dcterms:W3CDTF">2000-01-01T00:00:00Z</dcterms:created>
  <dcterms:modified xsi:type="dcterms:W3CDTF">2000-01-01T00:00:00Z</dcterms:modified>
  <cp:category/>
</cp:coreProperties>
</file>